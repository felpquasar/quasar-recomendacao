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74920"/>
            <a:ext cx="12191695" cy="109728"/>
          </a:xfrm>
          <a:prstGeom prst="rect">
            <a:avLst/>
          </a:prstGeom>
          <a:solidFill>
            <a:srgbClr val="C8A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[UNIVERSIDADE / INSTITUIÇÃO]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C9CFD6"/>
                </a:solidFill>
                <a:latin typeface="Calibri"/>
              </a:rPr>
              <a:t>Curso de Ciência da Computação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51560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Calibri"/>
              </a:rPr>
              <a:t>Sistema de Recomendação de Produtos para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Calibri"/>
              </a:rPr>
              <a:t>Distribuição B2B Utilizando Regras de Associação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C8A04B"/>
                </a:solidFill>
                <a:latin typeface="Calibri"/>
              </a:rPr>
              <a:t>Estudo de Caso na Quasar Barber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34924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Felipe Pereira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C9CFD6"/>
                </a:solidFill>
                <a:latin typeface="Calibri"/>
              </a:rPr>
              <a:t>Trabalho de Conclusão de Curso  —  Ciência da Computação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5A6672"/>
                </a:solidFill>
                <a:latin typeface="Calibri"/>
              </a:rPr>
              <a:t>Orientador(a): [Nome]   |   Codó-MA,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A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0F1B2D"/>
                </a:solidFill>
                <a:latin typeface="Calibri"/>
              </a:rPr>
              <a:t>Roteiro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6459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C8A04B"/>
                </a:solidFill>
                <a:latin typeface="Calibri"/>
              </a:rPr>
              <a:t>APRESENTAÇÃO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07008"/>
            <a:ext cx="2194560" cy="38100"/>
          </a:xfrm>
          <a:prstGeom prst="rect">
            <a:avLst/>
          </a:prstGeom>
          <a:solidFill>
            <a:srgbClr val="C8A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A6672"/>
                </a:solidFill>
                <a:latin typeface="Calibri"/>
              </a:rPr>
              <a:t>Felipe Pereira  •  Sistema de Recomendação B2B com Regras de Associação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46520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C8A04B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45920"/>
            <a:ext cx="1097280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200" b="1">
                <a:solidFill>
                  <a:srgbClr val="C8A04B"/>
                </a:solidFill>
                <a:latin typeface="Calibri"/>
              </a:rPr>
              <a:t>•  </a:t>
            </a:r>
            <a:r>
              <a:rPr sz="2200" b="0">
                <a:solidFill>
                  <a:srgbClr val="1A232E"/>
                </a:solidFill>
                <a:latin typeface="Calibri"/>
              </a:rPr>
              <a:t>Contexto e problema de pesquisa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200" b="1">
                <a:solidFill>
                  <a:srgbClr val="C8A04B"/>
                </a:solidFill>
                <a:latin typeface="Calibri"/>
              </a:rPr>
              <a:t>•  </a:t>
            </a:r>
            <a:r>
              <a:rPr sz="2200" b="0">
                <a:solidFill>
                  <a:srgbClr val="1A232E"/>
                </a:solidFill>
                <a:latin typeface="Calibri"/>
              </a:rPr>
              <a:t>Pergunta, hipótese e objetivos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200" b="1">
                <a:solidFill>
                  <a:srgbClr val="C8A04B"/>
                </a:solidFill>
                <a:latin typeface="Calibri"/>
              </a:rPr>
              <a:t>•  </a:t>
            </a:r>
            <a:r>
              <a:rPr sz="2200" b="0">
                <a:solidFill>
                  <a:srgbClr val="1A232E"/>
                </a:solidFill>
                <a:latin typeface="Calibri"/>
              </a:rPr>
              <a:t>Fundamentação: regras de associação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200" b="1">
                <a:solidFill>
                  <a:srgbClr val="C8A04B"/>
                </a:solidFill>
                <a:latin typeface="Calibri"/>
              </a:rPr>
              <a:t>•  </a:t>
            </a:r>
            <a:r>
              <a:rPr sz="2200" b="0">
                <a:solidFill>
                  <a:srgbClr val="1A232E"/>
                </a:solidFill>
                <a:latin typeface="Calibri"/>
              </a:rPr>
              <a:t>Metodologia e dados reais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200" b="1">
                <a:solidFill>
                  <a:srgbClr val="C8A04B"/>
                </a:solidFill>
                <a:latin typeface="Calibri"/>
              </a:rPr>
              <a:t>•  </a:t>
            </a:r>
            <a:r>
              <a:rPr sz="2200" b="0">
                <a:solidFill>
                  <a:srgbClr val="1A232E"/>
                </a:solidFill>
                <a:latin typeface="Calibri"/>
              </a:rPr>
              <a:t>Arquitetura do sistema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200" b="1">
                <a:solidFill>
                  <a:srgbClr val="C8A04B"/>
                </a:solidFill>
                <a:latin typeface="Calibri"/>
              </a:rPr>
              <a:t>•  </a:t>
            </a:r>
            <a:r>
              <a:rPr sz="2200" b="0">
                <a:solidFill>
                  <a:srgbClr val="1A232E"/>
                </a:solidFill>
                <a:latin typeface="Calibri"/>
              </a:rPr>
              <a:t>Protocolo de validação (LOOCV)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200" b="1">
                <a:solidFill>
                  <a:srgbClr val="C8A04B"/>
                </a:solidFill>
                <a:latin typeface="Calibri"/>
              </a:rPr>
              <a:t>•  </a:t>
            </a:r>
            <a:r>
              <a:rPr sz="2200" b="0">
                <a:solidFill>
                  <a:srgbClr val="1A232E"/>
                </a:solidFill>
                <a:latin typeface="Calibri"/>
              </a:rPr>
              <a:t>Resultados e discussão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200" b="1">
                <a:solidFill>
                  <a:srgbClr val="C8A04B"/>
                </a:solidFill>
                <a:latin typeface="Calibri"/>
              </a:rPr>
              <a:t>•  </a:t>
            </a:r>
            <a:r>
              <a:rPr sz="2200" b="0">
                <a:solidFill>
                  <a:srgbClr val="1A232E"/>
                </a:solidFill>
                <a:latin typeface="Calibri"/>
              </a:rPr>
              <a:t>Conclusão e trabalhos futuros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A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0F1B2D"/>
                </a:solidFill>
                <a:latin typeface="Calibri"/>
              </a:rPr>
              <a:t>Contexto e problema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6459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C8A04B"/>
                </a:solidFill>
                <a:latin typeface="Calibri"/>
              </a:rPr>
              <a:t>CAPÍTULO 1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07008"/>
            <a:ext cx="2194560" cy="38100"/>
          </a:xfrm>
          <a:prstGeom prst="rect">
            <a:avLst/>
          </a:prstGeom>
          <a:solidFill>
            <a:srgbClr val="C8A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A6672"/>
                </a:solidFill>
                <a:latin typeface="Calibri"/>
              </a:rPr>
              <a:t>Felipe Pereira  •  Sistema de Recomendação B2B com Regras de Associação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46520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C8A04B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45920"/>
            <a:ext cx="1097280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100" b="1">
                <a:solidFill>
                  <a:srgbClr val="C8A04B"/>
                </a:solidFill>
                <a:latin typeface="Calibri"/>
              </a:rPr>
              <a:t>•  </a:t>
            </a:r>
            <a:r>
              <a:rPr sz="2100" b="0">
                <a:solidFill>
                  <a:srgbClr val="1A232E"/>
                </a:solidFill>
                <a:latin typeface="Calibri"/>
              </a:rPr>
              <a:t>Distribuidora B2B de </a:t>
            </a:r>
            <a:r>
              <a:rPr sz="2100" b="1">
                <a:solidFill>
                  <a:srgbClr val="0F1B2D"/>
                </a:solidFill>
                <a:latin typeface="Calibri"/>
              </a:rPr>
              <a:t>pequeno porte</a:t>
            </a:r>
            <a:r>
              <a:rPr sz="2100" b="0">
                <a:solidFill>
                  <a:srgbClr val="1A232E"/>
                </a:solidFill>
                <a:latin typeface="Calibri"/>
              </a:rPr>
              <a:t>: catálogo amplo, poucos clientes.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100" b="1">
                <a:solidFill>
                  <a:srgbClr val="C8A04B"/>
                </a:solidFill>
                <a:latin typeface="Calibri"/>
              </a:rPr>
              <a:t>•  </a:t>
            </a:r>
            <a:r>
              <a:rPr sz="2100" b="0">
                <a:solidFill>
                  <a:srgbClr val="1A232E"/>
                </a:solidFill>
                <a:latin typeface="Calibri"/>
              </a:rPr>
              <a:t>Decisões de </a:t>
            </a:r>
            <a:r>
              <a:rPr sz="2100" b="1">
                <a:solidFill>
                  <a:srgbClr val="0F1B2D"/>
                </a:solidFill>
                <a:latin typeface="Calibri"/>
              </a:rPr>
              <a:t>cross-sell</a:t>
            </a:r>
            <a:r>
              <a:rPr sz="2100" b="0">
                <a:solidFill>
                  <a:srgbClr val="1A232E"/>
                </a:solidFill>
                <a:latin typeface="Calibri"/>
              </a:rPr>
              <a:t> (venda casada) tomadas por </a:t>
            </a:r>
            <a:r>
              <a:rPr sz="2100" b="1">
                <a:solidFill>
                  <a:srgbClr val="0F1B2D"/>
                </a:solidFill>
                <a:latin typeface="Calibri"/>
              </a:rPr>
              <a:t>intuição</a:t>
            </a:r>
            <a:r>
              <a:rPr sz="2100" b="0">
                <a:solidFill>
                  <a:srgbClr val="1A232E"/>
                </a:solidFill>
                <a:latin typeface="Calibri"/>
              </a:rPr>
              <a:t> do vendedor.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100" b="1">
                <a:solidFill>
                  <a:srgbClr val="C8A04B"/>
                </a:solidFill>
                <a:latin typeface="Calibri"/>
              </a:rPr>
              <a:t>•  </a:t>
            </a:r>
            <a:r>
              <a:rPr sz="2100" b="0">
                <a:solidFill>
                  <a:srgbClr val="1A232E"/>
                </a:solidFill>
                <a:latin typeface="Calibri"/>
              </a:rPr>
              <a:t>Cenário B2B difere do varejo B2C: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800" b="1">
                <a:solidFill>
                  <a:srgbClr val="C8A04B"/>
                </a:solidFill>
                <a:latin typeface="Calibri"/>
              </a:rPr>
              <a:t>–  </a:t>
            </a:r>
            <a:r>
              <a:rPr sz="1800" b="0">
                <a:solidFill>
                  <a:srgbClr val="5A6672"/>
                </a:solidFill>
                <a:latin typeface="Calibri"/>
              </a:rPr>
              <a:t>Poucos clientes e baixo volume transacional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800" b="1">
                <a:solidFill>
                  <a:srgbClr val="C8A04B"/>
                </a:solidFill>
                <a:latin typeface="Calibri"/>
              </a:rPr>
              <a:t>–  </a:t>
            </a:r>
            <a:r>
              <a:rPr sz="1800" b="0">
                <a:solidFill>
                  <a:srgbClr val="5A6672"/>
                </a:solidFill>
                <a:latin typeface="Calibri"/>
              </a:rPr>
              <a:t>Sem avaliações ou notas de produto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800" b="1">
                <a:solidFill>
                  <a:srgbClr val="C8A04B"/>
                </a:solidFill>
                <a:latin typeface="Calibri"/>
              </a:rPr>
              <a:t>–  </a:t>
            </a:r>
            <a:r>
              <a:rPr sz="1800" b="0">
                <a:solidFill>
                  <a:srgbClr val="5A6672"/>
                </a:solidFill>
                <a:latin typeface="Calibri"/>
              </a:rPr>
              <a:t>Matriz usuário-item esparsa → filtragem colaborativa </a:t>
            </a:r>
            <a:r>
              <a:rPr sz="1800" b="1">
                <a:solidFill>
                  <a:srgbClr val="0F1B2D"/>
                </a:solidFill>
                <a:latin typeface="Calibri"/>
              </a:rPr>
              <a:t>inviável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100" b="1">
                <a:solidFill>
                  <a:srgbClr val="C8A04B"/>
                </a:solidFill>
                <a:latin typeface="Calibri"/>
              </a:rPr>
              <a:t>•  </a:t>
            </a:r>
            <a:r>
              <a:rPr sz="2100" b="0">
                <a:solidFill>
                  <a:srgbClr val="1A232E"/>
                </a:solidFill>
                <a:latin typeface="Calibri"/>
              </a:rPr>
              <a:t>Oportunidade: minerar o </a:t>
            </a:r>
            <a:r>
              <a:rPr sz="2100" b="1">
                <a:solidFill>
                  <a:srgbClr val="0F1B2D"/>
                </a:solidFill>
                <a:latin typeface="Calibri"/>
              </a:rPr>
              <a:t>histórico de vendas</a:t>
            </a:r>
            <a:r>
              <a:rPr sz="2100" b="0">
                <a:solidFill>
                  <a:srgbClr val="1A232E"/>
                </a:solidFill>
                <a:latin typeface="Calibri"/>
              </a:rPr>
              <a:t> para sugerir produtos complementares.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A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0F1B2D"/>
                </a:solidFill>
                <a:latin typeface="Calibri"/>
              </a:rPr>
              <a:t>Pergunta de pesquisa e hipótese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6459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C8A04B"/>
                </a:solidFill>
                <a:latin typeface="Calibri"/>
              </a:rPr>
              <a:t>CAPÍTULO 1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07008"/>
            <a:ext cx="2194560" cy="38100"/>
          </a:xfrm>
          <a:prstGeom prst="rect">
            <a:avLst/>
          </a:prstGeom>
          <a:solidFill>
            <a:srgbClr val="C8A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A6672"/>
                </a:solidFill>
                <a:latin typeface="Calibri"/>
              </a:rPr>
              <a:t>Felipe Pereira  •  Sistema de Recomendação B2B com Regras de Associação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46520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C8A04B"/>
                </a:solidFill>
                <a:latin typeface="Calibri"/>
              </a:rPr>
              <a:t>4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600200"/>
            <a:ext cx="10972800" cy="155448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737360"/>
            <a:ext cx="1042416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900" b="1">
                <a:solidFill>
                  <a:srgbClr val="FFFFFF"/>
                </a:solidFill>
                <a:latin typeface="Calibri"/>
              </a:rPr>
              <a:t>É possível gerar recomendações úteis e estatisticamente relevantes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900" b="1">
                <a:solidFill>
                  <a:srgbClr val="FFFFFF"/>
                </a:solidFill>
                <a:latin typeface="Calibri"/>
              </a:rPr>
              <a:t>para uma distribuidora B2B de pequeno porte usando apenas regras de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900" b="1">
                <a:solidFill>
                  <a:srgbClr val="FFFFFF"/>
                </a:solidFill>
                <a:latin typeface="Calibri"/>
              </a:rPr>
              <a:t>associação, mesmo com volume reduzido de transações?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474720"/>
            <a:ext cx="1097280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900" b="1">
                <a:solidFill>
                  <a:srgbClr val="C8A04B"/>
                </a:solidFill>
                <a:latin typeface="Calibri"/>
              </a:rPr>
              <a:t>•  </a:t>
            </a:r>
            <a:r>
              <a:rPr sz="1900" b="1">
                <a:solidFill>
                  <a:srgbClr val="0F1B2D"/>
                </a:solidFill>
                <a:latin typeface="Calibri"/>
              </a:rPr>
              <a:t>H1:</a:t>
            </a:r>
            <a:r>
              <a:rPr sz="1900" b="0">
                <a:solidFill>
                  <a:srgbClr val="1A232E"/>
                </a:solidFill>
                <a:latin typeface="Calibri"/>
              </a:rPr>
              <a:t> regras com confiança ≥ 0,30 e suporte ≥ 0,02, ranqueadas por lift, geram cross-sell coerente com o domínio.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900" b="1">
                <a:solidFill>
                  <a:srgbClr val="C8A04B"/>
                </a:solidFill>
                <a:latin typeface="Calibri"/>
              </a:rPr>
              <a:t>•  </a:t>
            </a:r>
            <a:r>
              <a:rPr sz="1900" b="1">
                <a:solidFill>
                  <a:srgbClr val="0F1B2D"/>
                </a:solidFill>
                <a:latin typeface="Calibri"/>
              </a:rPr>
              <a:t>H0:</a:t>
            </a:r>
            <a:r>
              <a:rPr sz="1900" b="0">
                <a:solidFill>
                  <a:srgbClr val="1A232E"/>
                </a:solidFill>
                <a:latin typeface="Calibri"/>
              </a:rPr>
              <a:t> as regras são indistinguíveis do acaso e não superam um baseline de popularidade.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A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0F1B2D"/>
                </a:solidFill>
                <a:latin typeface="Calibri"/>
              </a:rPr>
              <a:t>Objetivos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6459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C8A04B"/>
                </a:solidFill>
                <a:latin typeface="Calibri"/>
              </a:rPr>
              <a:t>CAPÍTULO 1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07008"/>
            <a:ext cx="2194560" cy="38100"/>
          </a:xfrm>
          <a:prstGeom prst="rect">
            <a:avLst/>
          </a:prstGeom>
          <a:solidFill>
            <a:srgbClr val="C8A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A6672"/>
                </a:solidFill>
                <a:latin typeface="Calibri"/>
              </a:rPr>
              <a:t>Felipe Pereira  •  Sistema de Recomendação B2B com Regras de Associação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46520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C8A04B"/>
                </a:solidFill>
                <a:latin typeface="Calibri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55448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C8A04B"/>
                </a:solidFill>
                <a:latin typeface="Calibri"/>
              </a:rPr>
              <a:t>Geral:  </a:t>
            </a:r>
            <a:r>
              <a:rPr sz="2000" b="0">
                <a:solidFill>
                  <a:srgbClr val="1A232E"/>
                </a:solidFill>
                <a:latin typeface="Calibri"/>
              </a:rPr>
              <a:t>desenvolver e validar um sistema de recomendação B2B baseado em Market Basket Analysis, com relevância estatística mensurável.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51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C8A04B"/>
                </a:solidFill>
                <a:latin typeface="Calibri"/>
              </a:rPr>
              <a:t>Específicos: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108960"/>
            <a:ext cx="1097280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800" b="1">
                <a:solidFill>
                  <a:srgbClr val="C8A04B"/>
                </a:solidFill>
                <a:latin typeface="Calibri"/>
              </a:rPr>
              <a:t>•  </a:t>
            </a:r>
            <a:r>
              <a:rPr sz="1800" b="0">
                <a:solidFill>
                  <a:srgbClr val="1A232E"/>
                </a:solidFill>
                <a:latin typeface="Calibri"/>
              </a:rPr>
              <a:t>Revisar a literatura (recomendação, Apriori, support/confidence/lift).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800" b="1">
                <a:solidFill>
                  <a:srgbClr val="C8A04B"/>
                </a:solidFill>
                <a:latin typeface="Calibri"/>
              </a:rPr>
              <a:t>•  </a:t>
            </a:r>
            <a:r>
              <a:rPr sz="1800" b="0">
                <a:solidFill>
                  <a:srgbClr val="1A232E"/>
                </a:solidFill>
                <a:latin typeface="Calibri"/>
              </a:rPr>
              <a:t>Modelar base transacional (PostgreSQL/Supabase).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800" b="1">
                <a:solidFill>
                  <a:srgbClr val="C8A04B"/>
                </a:solidFill>
                <a:latin typeface="Calibri"/>
              </a:rPr>
              <a:t>•  </a:t>
            </a:r>
            <a:r>
              <a:rPr sz="1800" b="0">
                <a:solidFill>
                  <a:srgbClr val="1A232E"/>
                </a:solidFill>
                <a:latin typeface="Calibri"/>
              </a:rPr>
              <a:t>Implementar extração de regras e recomendação Top-N (API REST).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800" b="1">
                <a:solidFill>
                  <a:srgbClr val="C8A04B"/>
                </a:solidFill>
                <a:latin typeface="Calibri"/>
              </a:rPr>
              <a:t>•  </a:t>
            </a:r>
            <a:r>
              <a:rPr sz="1800" b="0">
                <a:solidFill>
                  <a:srgbClr val="1A232E"/>
                </a:solidFill>
                <a:latin typeface="Calibri"/>
              </a:rPr>
              <a:t>Construir interface web de consulta (React).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800" b="1">
                <a:solidFill>
                  <a:srgbClr val="C8A04B"/>
                </a:solidFill>
                <a:latin typeface="Calibri"/>
              </a:rPr>
              <a:t>•  </a:t>
            </a:r>
            <a:r>
              <a:rPr sz="1800" b="0">
                <a:solidFill>
                  <a:srgbClr val="1A232E"/>
                </a:solidFill>
                <a:latin typeface="Calibri"/>
              </a:rPr>
              <a:t>Validar via LOOCV (Precision, Recall, F1).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800" b="1">
                <a:solidFill>
                  <a:srgbClr val="C8A04B"/>
                </a:solidFill>
                <a:latin typeface="Calibri"/>
              </a:rPr>
              <a:t>•  </a:t>
            </a:r>
            <a:r>
              <a:rPr sz="1800" b="0">
                <a:solidFill>
                  <a:srgbClr val="1A232E"/>
                </a:solidFill>
                <a:latin typeface="Calibri"/>
              </a:rPr>
              <a:t>Analisar as regras de maior lift sob a ótica de negócio.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A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0F1B2D"/>
                </a:solidFill>
                <a:latin typeface="Calibri"/>
              </a:rPr>
              <a:t>Justificativa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6459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C8A04B"/>
                </a:solidFill>
                <a:latin typeface="Calibri"/>
              </a:rPr>
              <a:t>CAPÍTULO 1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07008"/>
            <a:ext cx="2194560" cy="38100"/>
          </a:xfrm>
          <a:prstGeom prst="rect">
            <a:avLst/>
          </a:prstGeom>
          <a:solidFill>
            <a:srgbClr val="C8A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A6672"/>
                </a:solidFill>
                <a:latin typeface="Calibri"/>
              </a:rPr>
              <a:t>Felipe Pereira  •  Sistema de Recomendação B2B com Regras de Associação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46520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C8A04B"/>
                </a:solidFill>
                <a:latin typeface="Calibri"/>
              </a:rPr>
              <a:t>6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737360"/>
            <a:ext cx="10972800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737360"/>
            <a:ext cx="109728" cy="1325880"/>
          </a:xfrm>
          <a:prstGeom prst="rect">
            <a:avLst/>
          </a:prstGeom>
          <a:solidFill>
            <a:srgbClr val="C8A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737360"/>
            <a:ext cx="2468880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100" b="1">
                <a:solidFill>
                  <a:srgbClr val="0F1B2D"/>
                </a:solidFill>
                <a:latin typeface="Calibri"/>
              </a:rPr>
              <a:t>Acadêmica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737360"/>
            <a:ext cx="7772400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>
                <a:solidFill>
                  <a:srgbClr val="1A232E"/>
                </a:solidFill>
                <a:latin typeface="Calibri"/>
              </a:rPr>
              <a:t>Maioria dos estudos foca B2C de grande volume. Lacuna em B2B esparso, onde a filtragem colaborativa falha.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337560"/>
            <a:ext cx="10972800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337560"/>
            <a:ext cx="109728" cy="1325880"/>
          </a:xfrm>
          <a:prstGeom prst="rect">
            <a:avLst/>
          </a:prstGeom>
          <a:solidFill>
            <a:srgbClr val="C8A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337560"/>
            <a:ext cx="2468880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100" b="1">
                <a:solidFill>
                  <a:srgbClr val="0F1B2D"/>
                </a:solidFill>
                <a:latin typeface="Calibri"/>
              </a:rPr>
              <a:t>Prática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3337560"/>
            <a:ext cx="7772400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>
                <a:solidFill>
                  <a:srgbClr val="1A232E"/>
                </a:solidFill>
                <a:latin typeface="Calibri"/>
              </a:rPr>
              <a:t>Empresa real do autor. Apoia a equipe de vendas com sugestões baseadas em dados, não em intuição.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937760"/>
            <a:ext cx="10972800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4937760"/>
            <a:ext cx="109728" cy="1325880"/>
          </a:xfrm>
          <a:prstGeom prst="rect">
            <a:avLst/>
          </a:prstGeom>
          <a:solidFill>
            <a:srgbClr val="C8A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937760"/>
            <a:ext cx="2468880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100" b="1">
                <a:solidFill>
                  <a:srgbClr val="0F1B2D"/>
                </a:solidFill>
                <a:latin typeface="Calibri"/>
              </a:rPr>
              <a:t>Técnica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4937760"/>
            <a:ext cx="7772400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>
                <a:solidFill>
                  <a:srgbClr val="1A232E"/>
                </a:solidFill>
                <a:latin typeface="Calibri"/>
              </a:rPr>
              <a:t>Arquitetura completa, reproduzível e de baixo custo, viável para pequenas empresas sem Big Data.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A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0F1B2D"/>
                </a:solidFill>
                <a:latin typeface="Calibri"/>
              </a:rPr>
              <a:t>Regras de associação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6459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C8A04B"/>
                </a:solidFill>
                <a:latin typeface="Calibri"/>
              </a:rPr>
              <a:t>CAPÍTULO 2  •  MARKET BASKET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07008"/>
            <a:ext cx="2194560" cy="38100"/>
          </a:xfrm>
          <a:prstGeom prst="rect">
            <a:avLst/>
          </a:prstGeom>
          <a:solidFill>
            <a:srgbClr val="C8A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A6672"/>
                </a:solidFill>
                <a:latin typeface="Calibri"/>
              </a:rPr>
              <a:t>Felipe Pereira  •  Sistema de Recomendação B2B com Regras de Associação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46520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C8A04B"/>
                </a:solidFill>
                <a:latin typeface="Calibri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50876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>
                <a:solidFill>
                  <a:srgbClr val="1A232E"/>
                </a:solidFill>
                <a:latin typeface="Calibri"/>
              </a:rPr>
              <a:t>Cada pedido é uma cesta; padrão A ⇒ B. Três métricas: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286000"/>
            <a:ext cx="3611880" cy="2468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286000"/>
            <a:ext cx="3611880" cy="109728"/>
          </a:xfrm>
          <a:prstGeom prst="rect">
            <a:avLst/>
          </a:prstGeom>
          <a:solidFill>
            <a:srgbClr val="C8A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606040"/>
            <a:ext cx="3611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400" b="1">
                <a:solidFill>
                  <a:srgbClr val="0F1B2D"/>
                </a:solidFill>
                <a:latin typeface="Calibri"/>
              </a:rPr>
              <a:t>Support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291840"/>
            <a:ext cx="3246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C8A04B"/>
                </a:solidFill>
                <a:latin typeface="Calibri"/>
              </a:rPr>
              <a:t>freq(A∩B) / total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886200"/>
            <a:ext cx="3154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Calibri"/>
              </a:rPr>
              <a:t>Quão comum é o par. Filtra raros.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16552" y="2286000"/>
            <a:ext cx="3611880" cy="2468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16552" y="2286000"/>
            <a:ext cx="3611880" cy="109728"/>
          </a:xfrm>
          <a:prstGeom prst="rect">
            <a:avLst/>
          </a:prstGeom>
          <a:solidFill>
            <a:srgbClr val="C8A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16552" y="2606040"/>
            <a:ext cx="3611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400" b="1">
                <a:solidFill>
                  <a:srgbClr val="0F1B2D"/>
                </a:solidFill>
                <a:latin typeface="Calibri"/>
              </a:rPr>
              <a:t>Confidence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9432" y="3291840"/>
            <a:ext cx="3246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C8A04B"/>
                </a:solidFill>
                <a:latin typeface="Calibri"/>
              </a:rPr>
              <a:t>freq(A∩B) / freq(A)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45152" y="3886200"/>
            <a:ext cx="3154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Calibri"/>
              </a:rPr>
              <a:t>Dado A, probabilidade de B. Força da regra.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93024" y="2286000"/>
            <a:ext cx="3611880" cy="2468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93024" y="2286000"/>
            <a:ext cx="3611880" cy="109728"/>
          </a:xfrm>
          <a:prstGeom prst="rect">
            <a:avLst/>
          </a:prstGeom>
          <a:solidFill>
            <a:srgbClr val="C8A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93024" y="2606040"/>
            <a:ext cx="3611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400" b="1">
                <a:solidFill>
                  <a:srgbClr val="0F1B2D"/>
                </a:solidFill>
                <a:latin typeface="Calibri"/>
              </a:rPr>
              <a:t>Lift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75904" y="3291840"/>
            <a:ext cx="3246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C8A04B"/>
                </a:solidFill>
                <a:latin typeface="Calibri"/>
              </a:rPr>
              <a:t>confidence / support(B)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21624" y="3886200"/>
            <a:ext cx="3154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Calibri"/>
              </a:rPr>
              <a:t>&gt; 1 = associação real, não acaso.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A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0F1B2D"/>
                </a:solidFill>
                <a:latin typeface="Calibri"/>
              </a:rPr>
              <a:t>Por que regras de associação?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6459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C8A04B"/>
                </a:solidFill>
                <a:latin typeface="Calibri"/>
              </a:rPr>
              <a:t>CAPÍTULO 2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07008"/>
            <a:ext cx="2194560" cy="38100"/>
          </a:xfrm>
          <a:prstGeom prst="rect">
            <a:avLst/>
          </a:prstGeom>
          <a:solidFill>
            <a:srgbClr val="C8A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A6672"/>
                </a:solidFill>
                <a:latin typeface="Calibri"/>
              </a:rPr>
              <a:t>Felipe Pereira  •  Sistema de Recomendação B2B com Regras de Associação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46520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C8A04B"/>
                </a:solidFill>
                <a:latin typeface="Calibri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45920"/>
            <a:ext cx="1097280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2000" b="1">
                <a:solidFill>
                  <a:srgbClr val="C8A04B"/>
                </a:solidFill>
                <a:latin typeface="Calibri"/>
              </a:rPr>
              <a:t>•  </a:t>
            </a:r>
            <a:r>
              <a:rPr sz="2000" b="1">
                <a:solidFill>
                  <a:srgbClr val="0F1B2D"/>
                </a:solidFill>
                <a:latin typeface="Calibri"/>
              </a:rPr>
              <a:t>Filtragem colaborativa</a:t>
            </a:r>
            <a:r>
              <a:rPr sz="2000" b="0">
                <a:solidFill>
                  <a:srgbClr val="1A232E"/>
                </a:solidFill>
                <a:latin typeface="Calibri"/>
              </a:rPr>
              <a:t> exige matriz usuário-item densa → falha em B2B esparso.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2000" b="1">
                <a:solidFill>
                  <a:srgbClr val="C8A04B"/>
                </a:solidFill>
                <a:latin typeface="Calibri"/>
              </a:rPr>
              <a:t>•  </a:t>
            </a:r>
            <a:r>
              <a:rPr sz="2000" b="1">
                <a:solidFill>
                  <a:srgbClr val="0F1B2D"/>
                </a:solidFill>
                <a:latin typeface="Calibri"/>
              </a:rPr>
              <a:t>Cold start</a:t>
            </a:r>
            <a:r>
              <a:rPr sz="2000" b="0">
                <a:solidFill>
                  <a:srgbClr val="1A232E"/>
                </a:solidFill>
                <a:latin typeface="Calibri"/>
              </a:rPr>
              <a:t> e esparsidade são a regra, não a exceção, nesse cenário.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2000" b="1">
                <a:solidFill>
                  <a:srgbClr val="C8A04B"/>
                </a:solidFill>
                <a:latin typeface="Calibri"/>
              </a:rPr>
              <a:t>•  </a:t>
            </a:r>
            <a:r>
              <a:rPr sz="2000" b="0">
                <a:solidFill>
                  <a:srgbClr val="1A232E"/>
                </a:solidFill>
                <a:latin typeface="Calibri"/>
              </a:rPr>
              <a:t>Regras de associação operam direto sobre </a:t>
            </a:r>
            <a:r>
              <a:rPr sz="2000" b="1">
                <a:solidFill>
                  <a:srgbClr val="0F1B2D"/>
                </a:solidFill>
                <a:latin typeface="Calibri"/>
              </a:rPr>
              <a:t>coocorrência em transações</a:t>
            </a:r>
            <a:r>
              <a:rPr sz="2000" b="0">
                <a:solidFill>
                  <a:srgbClr val="1A232E"/>
                </a:solidFill>
                <a:latin typeface="Calibri"/>
              </a:rPr>
              <a:t>: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700" b="1">
                <a:solidFill>
                  <a:srgbClr val="C8A04B"/>
                </a:solidFill>
                <a:latin typeface="Calibri"/>
              </a:rPr>
              <a:t>–  </a:t>
            </a:r>
            <a:r>
              <a:rPr sz="1700" b="0">
                <a:solidFill>
                  <a:srgbClr val="5A6672"/>
                </a:solidFill>
                <a:latin typeface="Calibri"/>
              </a:rPr>
              <a:t>Não precisam de notas nem de muitos clientes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700" b="1">
                <a:solidFill>
                  <a:srgbClr val="C8A04B"/>
                </a:solidFill>
                <a:latin typeface="Calibri"/>
              </a:rPr>
              <a:t>–  </a:t>
            </a:r>
            <a:r>
              <a:rPr sz="1700" b="0">
                <a:solidFill>
                  <a:srgbClr val="5A6672"/>
                </a:solidFill>
                <a:latin typeface="Calibri"/>
              </a:rPr>
              <a:t>Resultado interpretável pela equipe de vendas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700" b="1">
                <a:solidFill>
                  <a:srgbClr val="C8A04B"/>
                </a:solidFill>
                <a:latin typeface="Calibri"/>
              </a:rPr>
              <a:t>–  </a:t>
            </a:r>
            <a:r>
              <a:rPr sz="1700" b="0">
                <a:solidFill>
                  <a:srgbClr val="5A6672"/>
                </a:solidFill>
                <a:latin typeface="Calibri"/>
              </a:rPr>
              <a:t>Baixo custo computacional no volume estudado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2000" b="1">
                <a:solidFill>
                  <a:srgbClr val="C8A04B"/>
                </a:solidFill>
                <a:latin typeface="Calibri"/>
              </a:rPr>
              <a:t>•  </a:t>
            </a:r>
            <a:r>
              <a:rPr sz="2000" b="0">
                <a:solidFill>
                  <a:srgbClr val="1A232E"/>
                </a:solidFill>
                <a:latin typeface="Calibri"/>
              </a:rPr>
              <a:t>Lacuna acadêmica: maioria dos estudos foca B2C de </a:t>
            </a:r>
            <a:r>
              <a:rPr sz="2000" b="1">
                <a:solidFill>
                  <a:srgbClr val="0F1B2D"/>
                </a:solidFill>
                <a:latin typeface="Calibri"/>
              </a:rPr>
              <a:t>grande volume</a:t>
            </a:r>
            <a:r>
              <a:rPr sz="2000" b="0">
                <a:solidFill>
                  <a:srgbClr val="1A232E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A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0F1B2D"/>
                </a:solidFill>
                <a:latin typeface="Calibri"/>
              </a:rPr>
              <a:t>Metodologia e dados reais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6459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C8A04B"/>
                </a:solidFill>
                <a:latin typeface="Calibri"/>
              </a:rPr>
              <a:t>CAPÍTULO 3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07008"/>
            <a:ext cx="2194560" cy="38100"/>
          </a:xfrm>
          <a:prstGeom prst="rect">
            <a:avLst/>
          </a:prstGeom>
          <a:solidFill>
            <a:srgbClr val="C8A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A6672"/>
                </a:solidFill>
                <a:latin typeface="Calibri"/>
              </a:rPr>
              <a:t>Felipe Pereira  •  Sistema de Recomendação B2B com Regras de Associação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46520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C8A04B"/>
                </a:solidFill>
                <a:latin typeface="Calibri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554480"/>
            <a:ext cx="1097280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000" b="1">
                <a:solidFill>
                  <a:srgbClr val="C8A04B"/>
                </a:solidFill>
                <a:latin typeface="Calibri"/>
              </a:rPr>
              <a:t>•  </a:t>
            </a:r>
            <a:r>
              <a:rPr sz="2000" b="0">
                <a:solidFill>
                  <a:srgbClr val="1A232E"/>
                </a:solidFill>
                <a:latin typeface="Calibri"/>
              </a:rPr>
              <a:t>Pesquisa </a:t>
            </a:r>
            <a:r>
              <a:rPr sz="2000" b="1">
                <a:solidFill>
                  <a:srgbClr val="0F1B2D"/>
                </a:solidFill>
                <a:latin typeface="Calibri"/>
              </a:rPr>
              <a:t>aplicada</a:t>
            </a:r>
            <a:r>
              <a:rPr sz="2000" b="0">
                <a:solidFill>
                  <a:srgbClr val="1A232E"/>
                </a:solidFill>
                <a:latin typeface="Calibri"/>
              </a:rPr>
              <a:t>, quantitativa, estudo de caso único.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000" b="1">
                <a:solidFill>
                  <a:srgbClr val="C8A04B"/>
                </a:solidFill>
                <a:latin typeface="Calibri"/>
              </a:rPr>
              <a:t>•  </a:t>
            </a:r>
            <a:r>
              <a:rPr sz="2000" b="0">
                <a:solidFill>
                  <a:srgbClr val="1A232E"/>
                </a:solidFill>
                <a:latin typeface="Calibri"/>
              </a:rPr>
              <a:t>Método: </a:t>
            </a:r>
            <a:r>
              <a:rPr sz="2000" b="1">
                <a:solidFill>
                  <a:srgbClr val="0F1B2D"/>
                </a:solidFill>
                <a:latin typeface="Calibri"/>
              </a:rPr>
              <a:t>Design Science Research</a:t>
            </a:r>
            <a:r>
              <a:rPr sz="2000" b="0">
                <a:solidFill>
                  <a:srgbClr val="1A232E"/>
                </a:solidFill>
                <a:latin typeface="Calibri"/>
              </a:rPr>
              <a:t> (artefato + avaliação).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000" b="1">
                <a:solidFill>
                  <a:srgbClr val="C8A04B"/>
                </a:solidFill>
                <a:latin typeface="Calibri"/>
              </a:rPr>
              <a:t>•  </a:t>
            </a:r>
            <a:r>
              <a:rPr sz="2000" b="0">
                <a:solidFill>
                  <a:srgbClr val="1A232E"/>
                </a:solidFill>
                <a:latin typeface="Calibri"/>
              </a:rPr>
              <a:t>Dados reais de venda da Quasar Barber: 29/04 a 18/06/2026.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023360"/>
            <a:ext cx="2148840" cy="155448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251960"/>
            <a:ext cx="2148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C8A04B"/>
                </a:solidFill>
                <a:latin typeface="Calibri"/>
              </a:rPr>
              <a:t>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074920"/>
            <a:ext cx="2148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transações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98648" y="4023360"/>
            <a:ext cx="2148840" cy="155448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98648" y="4251960"/>
            <a:ext cx="2148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C8A04B"/>
                </a:solidFill>
                <a:latin typeface="Calibri"/>
              </a:rPr>
              <a:t>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98648" y="5074920"/>
            <a:ext cx="2148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clientes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57216" y="4023360"/>
            <a:ext cx="2148840" cy="155448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57216" y="4251960"/>
            <a:ext cx="2148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C8A04B"/>
                </a:solidFill>
                <a:latin typeface="Calibri"/>
              </a:rPr>
              <a:t>29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57216" y="5074920"/>
            <a:ext cx="2148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produtos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15784" y="4023360"/>
            <a:ext cx="2148840" cy="155448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15784" y="4251960"/>
            <a:ext cx="2148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C8A04B"/>
                </a:solidFill>
                <a:latin typeface="Calibri"/>
              </a:rPr>
              <a:t>52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15784" y="5074920"/>
            <a:ext cx="2148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itens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74352" y="4023360"/>
            <a:ext cx="2148840" cy="155448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74352" y="4251960"/>
            <a:ext cx="2148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C8A04B"/>
                </a:solidFill>
                <a:latin typeface="Calibri"/>
              </a:rPr>
              <a:t>14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74352" y="5074920"/>
            <a:ext cx="2148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multi-item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7150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Calibri"/>
              </a:rPr>
              <a:t>Apenas 14 cestas multi-item geram regras — a esparsidade é intrínseca ao B2B.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A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0F1B2D"/>
                </a:solidFill>
                <a:latin typeface="Calibri"/>
              </a:rPr>
              <a:t>Arquitetura do sistema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6459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C8A04B"/>
                </a:solidFill>
                <a:latin typeface="Calibri"/>
              </a:rPr>
              <a:t>CAPÍTULO 4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07008"/>
            <a:ext cx="2194560" cy="38100"/>
          </a:xfrm>
          <a:prstGeom prst="rect">
            <a:avLst/>
          </a:prstGeom>
          <a:solidFill>
            <a:srgbClr val="C8A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A6672"/>
                </a:solidFill>
                <a:latin typeface="Calibri"/>
              </a:rPr>
              <a:t>Felipe Pereira  •  Sistema de Recomendação B2B com Regras de Associação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46520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C8A04B"/>
                </a:solidFill>
                <a:latin typeface="Calibri"/>
              </a:rPr>
              <a:t>10</a:t>
            </a:r>
          </a:p>
        </p:txBody>
      </p:sp>
      <p:pic>
        <p:nvPicPr>
          <p:cNvPr id="9" name="Picture 8" descr="figura1-arquite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5577" y="1508760"/>
            <a:ext cx="6701246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A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0F1B2D"/>
                </a:solidFill>
                <a:latin typeface="Calibri"/>
              </a:rPr>
              <a:t>Protocolo de validação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6459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C8A04B"/>
                </a:solidFill>
                <a:latin typeface="Calibri"/>
              </a:rPr>
              <a:t>CAPÍTULO 3  •  POR QUE LOOCV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07008"/>
            <a:ext cx="2194560" cy="38100"/>
          </a:xfrm>
          <a:prstGeom prst="rect">
            <a:avLst/>
          </a:prstGeom>
          <a:solidFill>
            <a:srgbClr val="C8A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A6672"/>
                </a:solidFill>
                <a:latin typeface="Calibri"/>
              </a:rPr>
              <a:t>Felipe Pereira  •  Sistema de Recomendação B2B com Regras de Associação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46520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C8A04B"/>
                </a:solidFill>
                <a:latin typeface="Calibri"/>
              </a:rP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45920"/>
            <a:ext cx="1097280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900" b="1">
                <a:solidFill>
                  <a:srgbClr val="C8A04B"/>
                </a:solidFill>
                <a:latin typeface="Calibri"/>
              </a:rPr>
              <a:t>•  </a:t>
            </a:r>
            <a:r>
              <a:rPr sz="1900" b="1">
                <a:solidFill>
                  <a:srgbClr val="0F1B2D"/>
                </a:solidFill>
                <a:latin typeface="Calibri"/>
              </a:rPr>
              <a:t>Holdout 80/20 descartado:</a:t>
            </a:r>
            <a:r>
              <a:rPr sz="1900" b="0">
                <a:solidFill>
                  <a:srgbClr val="1A232E"/>
                </a:solidFill>
                <a:latin typeface="Calibri"/>
              </a:rPr>
              <a:t> em 30 transações, sobram só </a:t>
            </a:r>
            <a:r>
              <a:rPr sz="1900" b="1">
                <a:solidFill>
                  <a:srgbClr val="0F1B2D"/>
                </a:solidFill>
                <a:latin typeface="Calibri"/>
              </a:rPr>
              <a:t>3</a:t>
            </a:r>
            <a:r>
              <a:rPr sz="1900" b="0">
                <a:solidFill>
                  <a:srgbClr val="1A232E"/>
                </a:solidFill>
                <a:latin typeface="Calibri"/>
              </a:rPr>
              <a:t> cestas avaliáveis no teste → instável.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900" b="1">
                <a:solidFill>
                  <a:srgbClr val="C8A04B"/>
                </a:solidFill>
                <a:latin typeface="Calibri"/>
              </a:rPr>
              <a:t>•  </a:t>
            </a:r>
            <a:r>
              <a:rPr sz="1900" b="1">
                <a:solidFill>
                  <a:srgbClr val="0F1B2D"/>
                </a:solidFill>
                <a:latin typeface="Calibri"/>
              </a:rPr>
              <a:t>LOOCV (Leave-One-Out):</a:t>
            </a:r>
            <a:r>
              <a:rPr sz="1900" b="0">
                <a:solidFill>
                  <a:srgbClr val="1A232E"/>
                </a:solidFill>
                <a:latin typeface="Calibri"/>
              </a:rPr>
              <a:t> N rodadas, treina com N-1, testa 1. Aproveita todos os dados.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900" b="1">
                <a:solidFill>
                  <a:srgbClr val="C8A04B"/>
                </a:solidFill>
                <a:latin typeface="Calibri"/>
              </a:rPr>
              <a:t>•  </a:t>
            </a:r>
            <a:r>
              <a:rPr sz="1900" b="0">
                <a:solidFill>
                  <a:srgbClr val="1A232E"/>
                </a:solidFill>
                <a:latin typeface="Calibri"/>
              </a:rPr>
              <a:t>Esquema </a:t>
            </a:r>
            <a:r>
              <a:rPr sz="1900" b="1">
                <a:solidFill>
                  <a:srgbClr val="0F1B2D"/>
                </a:solidFill>
                <a:latin typeface="Calibri"/>
              </a:rPr>
              <a:t>esconder-1-item</a:t>
            </a:r>
            <a:r>
              <a:rPr sz="1900" b="0">
                <a:solidFill>
                  <a:srgbClr val="1A232E"/>
                </a:solidFill>
                <a:latin typeface="Calibri"/>
              </a:rPr>
              <a:t>: oculta um produto da cesta, sistema tenta recuperá-lo no Top-3.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900" b="1">
                <a:solidFill>
                  <a:srgbClr val="C8A04B"/>
                </a:solidFill>
                <a:latin typeface="Calibri"/>
              </a:rPr>
              <a:t>•  </a:t>
            </a:r>
            <a:r>
              <a:rPr sz="1900" b="1">
                <a:solidFill>
                  <a:srgbClr val="0F1B2D"/>
                </a:solidFill>
                <a:latin typeface="Calibri"/>
              </a:rPr>
              <a:t>Teto da Precision = 1/N ≈ 0,33:</a:t>
            </a:r>
            <a:r>
              <a:rPr sz="1900" b="0">
                <a:solidFill>
                  <a:srgbClr val="1A232E"/>
                </a:solidFill>
                <a:latin typeface="Calibri"/>
              </a:rPr>
              <a:t> 1 produto a achar, até 3 recomendados.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C8A04B"/>
                </a:solidFill>
                <a:latin typeface="Calibri"/>
              </a:rPr>
              <a:t>–  </a:t>
            </a:r>
            <a:r>
              <a:rPr sz="1600" b="0">
                <a:solidFill>
                  <a:srgbClr val="5A6672"/>
                </a:solidFill>
                <a:latin typeface="Calibri"/>
              </a:rPr>
              <a:t>→ Recall e F1 são os indicadores mais informativos.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A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0F1B2D"/>
                </a:solidFill>
                <a:latin typeface="Calibri"/>
              </a:rPr>
              <a:t>Resultados: regras descobertas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6459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C8A04B"/>
                </a:solidFill>
                <a:latin typeface="Calibri"/>
              </a:rPr>
              <a:t>CAPÍTULO 5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07008"/>
            <a:ext cx="2194560" cy="38100"/>
          </a:xfrm>
          <a:prstGeom prst="rect">
            <a:avLst/>
          </a:prstGeom>
          <a:solidFill>
            <a:srgbClr val="C8A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A6672"/>
                </a:solidFill>
                <a:latin typeface="Calibri"/>
              </a:rPr>
              <a:t>Felipe Pereira  •  Sistema de Recomendação B2B com Regras de Associação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46520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C8A04B"/>
                </a:solidFill>
                <a:latin typeface="Calibri"/>
              </a:rP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417320"/>
            <a:ext cx="7680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C8A04B"/>
                </a:solidFill>
                <a:latin typeface="Calibri"/>
              </a:rPr>
              <a:t>44 regras geradas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0">
                <a:solidFill>
                  <a:srgbClr val="1A232E"/>
                </a:solidFill>
                <a:latin typeface="Calibri"/>
              </a:rPr>
              <a:t>confiança média 76,51%  •  lift médio 12,41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" y="2377440"/>
          <a:ext cx="768096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03520"/>
                <a:gridCol w="1188720"/>
                <a:gridCol w="1188720"/>
              </a:tblGrid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Antecedente ⇒ Consequente</a:t>
                      </a:r>
                    </a:p>
                  </a:txBody>
                  <a:tcPr anchor="ctr" marT="25400" marB="25400"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Conf.</a:t>
                      </a:r>
                    </a:p>
                  </a:txBody>
                  <a:tcPr anchor="ctr" marT="25400" marB="25400"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Lift</a:t>
                      </a:r>
                    </a:p>
                  </a:txBody>
                  <a:tcPr anchor="ctr" marT="25400" marB="25400">
                    <a:solidFill>
                      <a:srgbClr val="0F1B2D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232E"/>
                          </a:solidFill>
                          <a:latin typeface="Calibri"/>
                        </a:rPr>
                        <a:t>After Shave (QOD) ⇒ Café Verde Shampoo</a:t>
                      </a:r>
                    </a:p>
                  </a:txBody>
                  <a:tcPr anchor="ctr" marT="25400" marB="25400"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232E"/>
                          </a:solidFill>
                          <a:latin typeface="Calibri"/>
                        </a:rPr>
                        <a:t>1,00</a:t>
                      </a:r>
                    </a:p>
                  </a:txBody>
                  <a:tcPr anchor="ctr" marT="25400" marB="25400"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232E"/>
                          </a:solidFill>
                          <a:latin typeface="Calibri"/>
                        </a:rPr>
                        <a:t>30,0</a:t>
                      </a:r>
                    </a:p>
                  </a:txBody>
                  <a:tcPr anchor="ctr" marT="25400" marB="25400">
                    <a:solidFill>
                      <a:srgbClr val="F4F1E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232E"/>
                          </a:solidFill>
                          <a:latin typeface="Calibri"/>
                        </a:rPr>
                        <a:t>Silver Boost (QOD) ⇒ Bálsamo Fortalecedor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232E"/>
                          </a:solidFill>
                          <a:latin typeface="Calibri"/>
                        </a:rPr>
                        <a:t>1,00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232E"/>
                          </a:solidFill>
                          <a:latin typeface="Calibri"/>
                        </a:rPr>
                        <a:t>30,0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232E"/>
                          </a:solidFill>
                          <a:latin typeface="Calibri"/>
                        </a:rPr>
                        <a:t>Shampoo ⇒ Óleo Barba (Fox for Men)</a:t>
                      </a:r>
                    </a:p>
                  </a:txBody>
                  <a:tcPr anchor="ctr" marT="25400" marB="25400"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232E"/>
                          </a:solidFill>
                          <a:latin typeface="Calibri"/>
                        </a:rPr>
                        <a:t>1,00</a:t>
                      </a:r>
                    </a:p>
                  </a:txBody>
                  <a:tcPr anchor="ctr" marT="25400" marB="25400"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232E"/>
                          </a:solidFill>
                          <a:latin typeface="Calibri"/>
                        </a:rPr>
                        <a:t>15,0</a:t>
                      </a:r>
                    </a:p>
                  </a:txBody>
                  <a:tcPr anchor="ctr" marT="25400" marB="25400">
                    <a:solidFill>
                      <a:srgbClr val="F4F1E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232E"/>
                          </a:solidFill>
                          <a:latin typeface="Calibri"/>
                        </a:rPr>
                        <a:t>Maquiagem ⇒ Aplicador Fibra (Fox)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232E"/>
                          </a:solidFill>
                          <a:latin typeface="Calibri"/>
                        </a:rPr>
                        <a:t>1,00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232E"/>
                          </a:solidFill>
                          <a:latin typeface="Calibri"/>
                        </a:rPr>
                        <a:t>15,0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40080" y="5120640"/>
            <a:ext cx="76809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5A6672"/>
                </a:solidFill>
                <a:latin typeface="Calibri"/>
              </a:rPr>
              <a:t>Lift alto coincide com baixo suporte (pares raros): interpretar junto ao domínio.</a:t>
            </a:r>
          </a:p>
        </p:txBody>
      </p:sp>
      <p:pic>
        <p:nvPicPr>
          <p:cNvPr id="12" name="Picture 11" descr="figura3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0" y="1508760"/>
            <a:ext cx="3382778" cy="47548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503920" y="6355080"/>
            <a:ext cx="338071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5A6672"/>
                </a:solidFill>
                <a:latin typeface="Calibri"/>
              </a:rPr>
              <a:t>Painel do sistema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A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0F1B2D"/>
                </a:solidFill>
                <a:latin typeface="Calibri"/>
              </a:rPr>
              <a:t>Resultados: validação LOOCV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6459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C8A04B"/>
                </a:solidFill>
                <a:latin typeface="Calibri"/>
              </a:rPr>
              <a:t>CAPÍTULO 5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07008"/>
            <a:ext cx="2194560" cy="38100"/>
          </a:xfrm>
          <a:prstGeom prst="rect">
            <a:avLst/>
          </a:prstGeom>
          <a:solidFill>
            <a:srgbClr val="C8A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A6672"/>
                </a:solidFill>
                <a:latin typeface="Calibri"/>
              </a:rPr>
              <a:t>Felipe Pereira  •  Sistema de Recomendação B2B com Regras de Associação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46520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C8A04B"/>
                </a:solidFill>
                <a:latin typeface="Calibri"/>
              </a:rPr>
              <a:t>13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737360"/>
            <a:ext cx="3611880" cy="210312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65960"/>
            <a:ext cx="3611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Precision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514600"/>
            <a:ext cx="36118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C8A04B"/>
                </a:solidFill>
                <a:latin typeface="Calibri"/>
              </a:rPr>
              <a:t>26,39%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291840"/>
            <a:ext cx="3611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C9CFD6"/>
                </a:solidFill>
                <a:latin typeface="Calibri"/>
              </a:rPr>
              <a:t>próx. ao teto 0,33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16552" y="1737360"/>
            <a:ext cx="3611880" cy="210312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16552" y="1965960"/>
            <a:ext cx="3611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Recall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16552" y="2514600"/>
            <a:ext cx="36118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C8A04B"/>
                </a:solidFill>
                <a:latin typeface="Calibri"/>
              </a:rPr>
              <a:t>44,44%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16552" y="3291840"/>
            <a:ext cx="3611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C9CFD6"/>
                </a:solidFill>
                <a:latin typeface="Calibri"/>
              </a:rPr>
              <a:t>16 de 36 sub-testes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93024" y="1737360"/>
            <a:ext cx="3611880" cy="210312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93024" y="1965960"/>
            <a:ext cx="3611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F1-Score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93024" y="2514600"/>
            <a:ext cx="36118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C8A04B"/>
                </a:solidFill>
                <a:latin typeface="Calibri"/>
              </a:rPr>
              <a:t>31,94%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93024" y="3291840"/>
            <a:ext cx="3611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C9CFD6"/>
                </a:solidFill>
                <a:latin typeface="Calibri"/>
              </a:rPr>
              <a:t>média harmônica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206240"/>
            <a:ext cx="1097280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C8A04B"/>
                </a:solidFill>
                <a:latin typeface="Calibri"/>
              </a:rPr>
              <a:t>•  </a:t>
            </a:r>
            <a:r>
              <a:rPr sz="1800" b="0">
                <a:solidFill>
                  <a:srgbClr val="1A232E"/>
                </a:solidFill>
                <a:latin typeface="Calibri"/>
              </a:rPr>
              <a:t>14 transações avaliadas, 36 sub-testes acumulados.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C8A04B"/>
                </a:solidFill>
                <a:latin typeface="Calibri"/>
              </a:rPr>
              <a:t>•  </a:t>
            </a:r>
            <a:r>
              <a:rPr sz="1800" b="0">
                <a:solidFill>
                  <a:srgbClr val="1A232E"/>
                </a:solidFill>
                <a:latin typeface="Calibri"/>
              </a:rPr>
              <a:t>Recall 44,44%: cesta completada em quase metade dos casos, sem notas de produto.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C8A04B"/>
                </a:solidFill>
                <a:latin typeface="Calibri"/>
              </a:rPr>
              <a:t>•  </a:t>
            </a:r>
            <a:r>
              <a:rPr sz="1800" b="0">
                <a:solidFill>
                  <a:srgbClr val="1A232E"/>
                </a:solidFill>
                <a:latin typeface="Calibri"/>
              </a:rPr>
              <a:t>Holdout 80/20 daria só 22,22% sobre 3 casos → LOOCV é mais robusto.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A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0F1B2D"/>
                </a:solidFill>
                <a:latin typeface="Calibri"/>
              </a:rPr>
              <a:t>Aderência ao domínio e hipótese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6459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C8A04B"/>
                </a:solidFill>
                <a:latin typeface="Calibri"/>
              </a:rPr>
              <a:t>CAPÍTULO 5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07008"/>
            <a:ext cx="2194560" cy="38100"/>
          </a:xfrm>
          <a:prstGeom prst="rect">
            <a:avLst/>
          </a:prstGeom>
          <a:solidFill>
            <a:srgbClr val="C8A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A6672"/>
                </a:solidFill>
                <a:latin typeface="Calibri"/>
              </a:rPr>
              <a:t>Felipe Pereira  •  Sistema de Recomendação B2B com Regras de Associação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46520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C8A04B"/>
                </a:solidFill>
                <a:latin typeface="Calibri"/>
              </a:rPr>
              <a:t>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554480"/>
            <a:ext cx="1097280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C8A04B"/>
                </a:solidFill>
                <a:latin typeface="Calibri"/>
              </a:rPr>
              <a:t>•  </a:t>
            </a:r>
            <a:r>
              <a:rPr sz="1900" b="0">
                <a:solidFill>
                  <a:srgbClr val="1A232E"/>
                </a:solidFill>
                <a:latin typeface="Calibri"/>
              </a:rPr>
              <a:t>Regras de maior lift fazem </a:t>
            </a:r>
            <a:r>
              <a:rPr sz="1900" b="1">
                <a:solidFill>
                  <a:srgbClr val="0F1B2D"/>
                </a:solidFill>
                <a:latin typeface="Calibri"/>
              </a:rPr>
              <a:t>sentido comercial</a:t>
            </a:r>
            <a:r>
              <a:rPr sz="1900" b="0">
                <a:solidFill>
                  <a:srgbClr val="1A232E"/>
                </a:solidFill>
                <a:latin typeface="Calibri"/>
              </a:rPr>
              <a:t>: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C8A04B"/>
                </a:solidFill>
                <a:latin typeface="Calibri"/>
              </a:rPr>
              <a:t>–  </a:t>
            </a:r>
            <a:r>
              <a:rPr sz="1600" b="0">
                <a:solidFill>
                  <a:srgbClr val="5A6672"/>
                </a:solidFill>
                <a:latin typeface="Calibri"/>
              </a:rPr>
              <a:t>Rotina de barba: shampoo + óleo + bálsamo + pós-barba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C8A04B"/>
                </a:solidFill>
                <a:latin typeface="Calibri"/>
              </a:rPr>
              <a:t>–  </a:t>
            </a:r>
            <a:r>
              <a:rPr sz="1600" b="0">
                <a:solidFill>
                  <a:srgbClr val="5A6672"/>
                </a:solidFill>
                <a:latin typeface="Calibri"/>
              </a:rPr>
              <a:t>Coerência de marca: linhas QOD e Fox for Men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C8A04B"/>
                </a:solidFill>
                <a:latin typeface="Calibri"/>
              </a:rPr>
              <a:t>–  </a:t>
            </a:r>
            <a:r>
              <a:rPr sz="1600" b="0">
                <a:solidFill>
                  <a:srgbClr val="5A6672"/>
                </a:solidFill>
                <a:latin typeface="Calibri"/>
              </a:rPr>
              <a:t>Acessórios de função equivalente compr. juntos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023360"/>
            <a:ext cx="10972800" cy="192024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206240"/>
            <a:ext cx="1042416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C8A04B"/>
                </a:solidFill>
                <a:latin typeface="Calibri"/>
              </a:rPr>
              <a:t>H1 não rejeitada.  </a:t>
            </a:r>
            <a:r>
              <a:rPr sz="1800" b="0">
                <a:solidFill>
                  <a:srgbClr val="FFFFFF"/>
                </a:solidFill>
                <a:latin typeface="Calibri"/>
              </a:rPr>
              <a:t>Lift médio 12,41 ≫ 1 afasta o acaso; pares de maior lift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não coincidem com os mais vendidos → carregam informação além da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frequência, contrariando H0 (baseline de popularidade).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A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0F1B2D"/>
                </a:solidFill>
                <a:latin typeface="Calibri"/>
              </a:rPr>
              <a:t>Conclusão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6459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C8A04B"/>
                </a:solidFill>
                <a:latin typeface="Calibri"/>
              </a:rPr>
              <a:t>CAPÍTULO 6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07008"/>
            <a:ext cx="2194560" cy="38100"/>
          </a:xfrm>
          <a:prstGeom prst="rect">
            <a:avLst/>
          </a:prstGeom>
          <a:solidFill>
            <a:srgbClr val="C8A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A6672"/>
                </a:solidFill>
                <a:latin typeface="Calibri"/>
              </a:rPr>
              <a:t>Felipe Pereira  •  Sistema de Recomendação B2B com Regras de Associação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46520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C8A04B"/>
                </a:solidFill>
                <a:latin typeface="Calibri"/>
              </a:rPr>
              <a:t>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45920"/>
            <a:ext cx="1097280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2000" b="1">
                <a:solidFill>
                  <a:srgbClr val="C8A04B"/>
                </a:solidFill>
                <a:latin typeface="Calibri"/>
              </a:rPr>
              <a:t>•  </a:t>
            </a:r>
            <a:r>
              <a:rPr sz="2000" b="0">
                <a:solidFill>
                  <a:srgbClr val="1A232E"/>
                </a:solidFill>
                <a:latin typeface="Calibri"/>
              </a:rPr>
              <a:t>Sim: regras de associação geram recomendações relevantes em B2B de baixo volume — </a:t>
            </a:r>
            <a:r>
              <a:rPr sz="2000" b="1">
                <a:solidFill>
                  <a:srgbClr val="0F1B2D"/>
                </a:solidFill>
                <a:latin typeface="Calibri"/>
              </a:rPr>
              <a:t>com ressalva de escala</a:t>
            </a:r>
            <a:r>
              <a:rPr sz="2000" b="0">
                <a:solidFill>
                  <a:srgbClr val="1A232E"/>
                </a:solidFill>
                <a:latin typeface="Calibri"/>
              </a:rPr>
              <a:t>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2000" b="1">
                <a:solidFill>
                  <a:srgbClr val="C8A04B"/>
                </a:solidFill>
                <a:latin typeface="Calibri"/>
              </a:rPr>
              <a:t>•  </a:t>
            </a:r>
            <a:r>
              <a:rPr sz="2000" b="0">
                <a:solidFill>
                  <a:srgbClr val="1A232E"/>
                </a:solidFill>
                <a:latin typeface="Calibri"/>
              </a:rPr>
              <a:t>Artefato </a:t>
            </a:r>
            <a:r>
              <a:rPr sz="2000" b="1">
                <a:solidFill>
                  <a:srgbClr val="0F1B2D"/>
                </a:solidFill>
                <a:latin typeface="Calibri"/>
              </a:rPr>
              <a:t>completo e reproduzível</a:t>
            </a:r>
            <a:r>
              <a:rPr sz="2000" b="0">
                <a:solidFill>
                  <a:srgbClr val="1A232E"/>
                </a:solidFill>
                <a:latin typeface="Calibri"/>
              </a:rPr>
              <a:t>, de baixo custo, sobre dados reais.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2000" b="1">
                <a:solidFill>
                  <a:srgbClr val="C8A04B"/>
                </a:solidFill>
                <a:latin typeface="Calibri"/>
              </a:rPr>
              <a:t>•  </a:t>
            </a:r>
            <a:r>
              <a:rPr sz="2000" b="0">
                <a:solidFill>
                  <a:srgbClr val="1A232E"/>
                </a:solidFill>
                <a:latin typeface="Calibri"/>
              </a:rPr>
              <a:t>Contribuição metodológica: </a:t>
            </a:r>
            <a:r>
              <a:rPr sz="2000" b="1">
                <a:solidFill>
                  <a:srgbClr val="0F1B2D"/>
                </a:solidFill>
                <a:latin typeface="Calibri"/>
              </a:rPr>
              <a:t>LOOCV</a:t>
            </a:r>
            <a:r>
              <a:rPr sz="2000" b="0">
                <a:solidFill>
                  <a:srgbClr val="1A232E"/>
                </a:solidFill>
                <a:latin typeface="Calibri"/>
              </a:rPr>
              <a:t> + leitura honesta do </a:t>
            </a:r>
            <a:r>
              <a:rPr sz="2000" b="1">
                <a:solidFill>
                  <a:srgbClr val="0F1B2D"/>
                </a:solidFill>
                <a:latin typeface="Calibri"/>
              </a:rPr>
              <a:t>teto da Precision</a:t>
            </a:r>
            <a:r>
              <a:rPr sz="2000" b="0">
                <a:solidFill>
                  <a:srgbClr val="1A232E"/>
                </a:solidFill>
                <a:latin typeface="Calibri"/>
              </a:rPr>
              <a:t>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2000" b="1">
                <a:solidFill>
                  <a:srgbClr val="C8A04B"/>
                </a:solidFill>
                <a:latin typeface="Calibri"/>
              </a:rPr>
              <a:t>•  </a:t>
            </a:r>
            <a:r>
              <a:rPr sz="2000" b="0">
                <a:solidFill>
                  <a:srgbClr val="1A232E"/>
                </a:solidFill>
                <a:latin typeface="Calibri"/>
              </a:rPr>
              <a:t>Recomendações como </a:t>
            </a:r>
            <a:r>
              <a:rPr sz="2000" b="1">
                <a:solidFill>
                  <a:srgbClr val="0F1B2D"/>
                </a:solidFill>
                <a:latin typeface="Calibri"/>
              </a:rPr>
              <a:t>apoio à decisão</a:t>
            </a:r>
            <a:r>
              <a:rPr sz="2000" b="0">
                <a:solidFill>
                  <a:srgbClr val="1A232E"/>
                </a:solidFill>
                <a:latin typeface="Calibri"/>
              </a:rPr>
              <a:t>, não prescrição automática.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A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0F1B2D"/>
                </a:solidFill>
                <a:latin typeface="Calibri"/>
              </a:rPr>
              <a:t>Trabalhos futuros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6459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C8A04B"/>
                </a:solidFill>
                <a:latin typeface="Calibri"/>
              </a:rPr>
              <a:t>CAPÍTULO 6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07008"/>
            <a:ext cx="2194560" cy="38100"/>
          </a:xfrm>
          <a:prstGeom prst="rect">
            <a:avLst/>
          </a:prstGeom>
          <a:solidFill>
            <a:srgbClr val="C8A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A6672"/>
                </a:solidFill>
                <a:latin typeface="Calibri"/>
              </a:rPr>
              <a:t>Felipe Pereira  •  Sistema de Recomendação B2B com Regras de Associação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46520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C8A04B"/>
                </a:solidFill>
                <a:latin typeface="Calibri"/>
              </a:rPr>
              <a:t>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37360"/>
            <a:ext cx="1097280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sz="2200" b="1">
                <a:solidFill>
                  <a:srgbClr val="C8A04B"/>
                </a:solidFill>
                <a:latin typeface="Calibri"/>
              </a:rPr>
              <a:t>•  </a:t>
            </a:r>
            <a:r>
              <a:rPr sz="2200" b="1">
                <a:solidFill>
                  <a:srgbClr val="0F1B2D"/>
                </a:solidFill>
                <a:latin typeface="Calibri"/>
              </a:rPr>
              <a:t>Mais dados:</a:t>
            </a:r>
            <a:r>
              <a:rPr sz="2200" b="0">
                <a:solidFill>
                  <a:srgbClr val="1A232E"/>
                </a:solidFill>
                <a:latin typeface="Calibri"/>
              </a:rPr>
              <a:t> histórico maior → métricas mais estáveis.</a:t>
            </a:r>
          </a:p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sz="2200" b="1">
                <a:solidFill>
                  <a:srgbClr val="C8A04B"/>
                </a:solidFill>
                <a:latin typeface="Calibri"/>
              </a:rPr>
              <a:t>•  </a:t>
            </a:r>
            <a:r>
              <a:rPr sz="2200" b="1">
                <a:solidFill>
                  <a:srgbClr val="0F1B2D"/>
                </a:solidFill>
                <a:latin typeface="Calibri"/>
              </a:rPr>
              <a:t>Apriori / FP-Growth completos:</a:t>
            </a:r>
            <a:r>
              <a:rPr sz="2200" b="0">
                <a:solidFill>
                  <a:srgbClr val="1A232E"/>
                </a:solidFill>
                <a:latin typeface="Calibri"/>
              </a:rPr>
              <a:t> regras multi-item (3+ produtos).</a:t>
            </a:r>
          </a:p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sz="2200" b="1">
                <a:solidFill>
                  <a:srgbClr val="C8A04B"/>
                </a:solidFill>
                <a:latin typeface="Calibri"/>
              </a:rPr>
              <a:t>•  </a:t>
            </a:r>
            <a:r>
              <a:rPr sz="2200" b="1">
                <a:solidFill>
                  <a:srgbClr val="0F1B2D"/>
                </a:solidFill>
                <a:latin typeface="Calibri"/>
              </a:rPr>
              <a:t>Deploy em produção:</a:t>
            </a:r>
            <a:r>
              <a:rPr sz="2200" b="0">
                <a:solidFill>
                  <a:srgbClr val="1A232E"/>
                </a:solidFill>
                <a:latin typeface="Calibri"/>
              </a:rPr>
              <a:t> recomendação no momento do pedido.</a:t>
            </a:r>
          </a:p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sz="2200" b="1">
                <a:solidFill>
                  <a:srgbClr val="C8A04B"/>
                </a:solidFill>
                <a:latin typeface="Calibri"/>
              </a:rPr>
              <a:t>•  </a:t>
            </a:r>
            <a:r>
              <a:rPr sz="2200" b="1">
                <a:solidFill>
                  <a:srgbClr val="0F1B2D"/>
                </a:solidFill>
                <a:latin typeface="Calibri"/>
              </a:rPr>
              <a:t>Teste A/B:</a:t>
            </a:r>
            <a:r>
              <a:rPr sz="2200" b="0">
                <a:solidFill>
                  <a:srgbClr val="1A232E"/>
                </a:solidFill>
                <a:latin typeface="Calibri"/>
              </a:rPr>
              <a:t> medir efeito real no ticket médio.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A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0F1B2D"/>
                </a:solidFill>
                <a:latin typeface="Calibri"/>
              </a:rPr>
              <a:t>Referências principais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6459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C8A04B"/>
                </a:solidFill>
                <a:latin typeface="Calibri"/>
              </a:rPr>
              <a:t>ABNT NBR 6023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07008"/>
            <a:ext cx="2194560" cy="38100"/>
          </a:xfrm>
          <a:prstGeom prst="rect">
            <a:avLst/>
          </a:prstGeom>
          <a:solidFill>
            <a:srgbClr val="C8A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A6672"/>
                </a:solidFill>
                <a:latin typeface="Calibri"/>
              </a:rPr>
              <a:t>Felipe Pereira  •  Sistema de Recomendação B2B com Regras de Associação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46520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C8A04B"/>
                </a:solidFill>
                <a:latin typeface="Calibri"/>
              </a:rPr>
              <a:t>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00200"/>
            <a:ext cx="10972800" cy="4663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C8A04B"/>
                </a:solidFill>
                <a:latin typeface="Calibri"/>
              </a:rPr>
              <a:t>•  </a:t>
            </a:r>
            <a:r>
              <a:rPr sz="1300" b="0">
                <a:solidFill>
                  <a:srgbClr val="1A232E"/>
                </a:solidFill>
                <a:latin typeface="Calibri"/>
              </a:rPr>
              <a:t>AGRAWAL, R.; SRIKANT, R. Fast algorithms for mining association rules. In: VLDB, 1994. p. 487-499.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C8A04B"/>
                </a:solidFill>
                <a:latin typeface="Calibri"/>
              </a:rPr>
              <a:t>•  </a:t>
            </a:r>
            <a:r>
              <a:rPr sz="1300" b="0">
                <a:solidFill>
                  <a:srgbClr val="1A232E"/>
                </a:solidFill>
                <a:latin typeface="Calibri"/>
              </a:rPr>
              <a:t>AGRAWAL, R.; IMIELIŃSKI, T.; SWAMI, A. Mining association rules between sets of items in large databases. In: ACM SIGMOD, 1993. p. 207-216.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C8A04B"/>
                </a:solidFill>
                <a:latin typeface="Calibri"/>
              </a:rPr>
              <a:t>•  </a:t>
            </a:r>
            <a:r>
              <a:rPr sz="1300" b="0">
                <a:solidFill>
                  <a:srgbClr val="1A232E"/>
                </a:solidFill>
                <a:latin typeface="Calibri"/>
              </a:rPr>
              <a:t>HAN, J.; PEI, J.; YIN, Y. Mining frequent patterns without candidate generation. In: ACM SIGMOD, 2000. p. 1-12.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C8A04B"/>
                </a:solidFill>
                <a:latin typeface="Calibri"/>
              </a:rPr>
              <a:t>•  </a:t>
            </a:r>
            <a:r>
              <a:rPr sz="1300" b="0">
                <a:solidFill>
                  <a:srgbClr val="1A232E"/>
                </a:solidFill>
                <a:latin typeface="Calibri"/>
              </a:rPr>
              <a:t>ADOMAVICIUS, G.; TUZHILIN, A. Toward the next generation of recommender systems. IEEE TKDE, v. 17, n. 6, p. 734-749, 2005.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C8A04B"/>
                </a:solidFill>
                <a:latin typeface="Calibri"/>
              </a:rPr>
              <a:t>•  </a:t>
            </a:r>
            <a:r>
              <a:rPr sz="1300" b="0">
                <a:solidFill>
                  <a:srgbClr val="1A232E"/>
                </a:solidFill>
                <a:latin typeface="Calibri"/>
              </a:rPr>
              <a:t>SARWAR, B. et al. Item-based collaborative filtering recommendation algorithms. In: WWW, 2001. p. 285-299.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C8A04B"/>
                </a:solidFill>
                <a:latin typeface="Calibri"/>
              </a:rPr>
              <a:t>•  </a:t>
            </a:r>
            <a:r>
              <a:rPr sz="1300" b="0">
                <a:solidFill>
                  <a:srgbClr val="1A232E"/>
                </a:solidFill>
                <a:latin typeface="Calibri"/>
              </a:rPr>
              <a:t>HAN, J.; KAMBER, M.; PEI, J. Data mining: concepts and techniques. 3. ed. Morgan Kaufmann, 2011.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C8A04B"/>
                </a:solidFill>
                <a:latin typeface="Calibri"/>
              </a:rPr>
              <a:t>•  </a:t>
            </a:r>
            <a:r>
              <a:rPr sz="1300" b="0">
                <a:solidFill>
                  <a:srgbClr val="1A232E"/>
                </a:solidFill>
                <a:latin typeface="Calibri"/>
              </a:rPr>
              <a:t>HEVNER, A. R. et al. Design science in information systems research. MIS Quarterly, v. 28, n. 1, p. 75-105, 2004.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C8A04B"/>
                </a:solidFill>
                <a:latin typeface="Calibri"/>
              </a:rPr>
              <a:t>•  </a:t>
            </a:r>
            <a:r>
              <a:rPr sz="1300" b="0">
                <a:solidFill>
                  <a:srgbClr val="1A232E"/>
                </a:solidFill>
                <a:latin typeface="Calibri"/>
              </a:rPr>
              <a:t>POWERS, D. M. W. Evaluation: from precision, recall and F-measure to ROC... J. Machine Learning Tech., v. 2, n. 1, 2011.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98932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5A6672"/>
                </a:solidFill>
                <a:latin typeface="Calibri"/>
              </a:rPr>
              <a:t>Lista completa (23 referências) no capítulo Referências da monografia.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12191695" cy="91440"/>
          </a:xfrm>
          <a:prstGeom prst="rect">
            <a:avLst/>
          </a:prstGeom>
          <a:solidFill>
            <a:srgbClr val="C8A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800" b="1">
                <a:solidFill>
                  <a:srgbClr val="FFFFFF"/>
                </a:solidFill>
                <a:latin typeface="Calibri"/>
              </a:rPr>
              <a:t>Obrigado.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7472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C8A04B"/>
                </a:solidFill>
                <a:latin typeface="Calibri"/>
              </a:rPr>
              <a:t>Felipe Pereira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C9CFD6"/>
                </a:solidFill>
                <a:latin typeface="Calibri"/>
              </a:rPr>
              <a:t>Sistema de Recomendação B2B com Regras de Associação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5A6672"/>
                </a:solidFill>
                <a:latin typeface="Calibri"/>
              </a:rPr>
              <a:t>Quasar Barber  •  Codó-MA  •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