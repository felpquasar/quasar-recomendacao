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9306" autoAdjust="0"/>
  </p:normalViewPr>
  <p:slideViewPr>
    <p:cSldViewPr snapToGrid="0" snapToObjects="1">
      <p:cViewPr varScale="1">
        <p:scale>
          <a:sx n="95" d="100"/>
          <a:sy n="95" d="100"/>
        </p:scale>
        <p:origin x="1158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84B748-1D13-4A1F-8063-4BC2BA8CF7B1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AD9E62-5FC1-47F7-98F4-A2E33E4F32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2521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Bom dia. Meu nome é Felipe Pereira e vou apresentar meu trabalho de conclusão de curso: um sistema de recomendação de produtos para distribuição B2B usando regras de associação. O estudo de caso é a Quasar Barber, uma distribuidora de produtos de barbearia que eu mesmo administro, em Codó, no Maranhão."</a:t>
            </a:r>
          </a:p>
          <a:p>
            <a:b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Deixa: respire, não comece correndo. Olhe para a banca antes de avançar.</a:t>
            </a:r>
          </a:p>
          <a:p>
            <a:b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AD9E62-5FC1-47F7-98F4-A2E33E4F32F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08640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"Para começar, este é o caminho que vou seguir. Primeiro o contexto e o problema. Depois a pergunta de pesquisa, a hipótese e os objetivos. Passo rápido pela fundamentação, falo da metodologia e dos dados reais, mostro a arquitetura do sistema, explico como validei, apresento os resultados e fecho com a conclusão e o que dá para fazer adiante."</a:t>
            </a:r>
          </a:p>
          <a:p>
            <a:b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Deixa: não detalhe cada item, é só o mapa. Avance.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AD9E62-5FC1-47F7-98F4-A2E33E4F32F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35468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Quasar Barber é uma distribuidora pequena. Catálogo grande, mas poucos clientes. E aí mora o problema: a decisão de oferecer um produto junto com outro, a venda casada, é tomada no feeling do vendedor. Quem lembra, sugere. Quem não lembra, deixa de vender."</a:t>
            </a:r>
          </a:p>
          <a:p>
            <a:b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"Esse cenário B2B é bem diferente do varejo que a gente conhece, tipo Amazon ou Netflix. Lá tem milhões de clientes e nota de produto. Aqui não. São poucos clientes, volume baixo e nenhuma avaliação. A matriz de cliente por produto fica vazia na maior parte. Isso derruba a filtragem colaborativa, que é a técnica mais comum de recomendação, porque ela precisa de muita gente avaliando muito item."</a:t>
            </a:r>
          </a:p>
          <a:p>
            <a:b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"A oportunidade é olhar para o que eu já tenho: o histórico de vendas. Dá para minerar esse histórico e descobrir quais produtos costumam sair juntos."</a:t>
            </a:r>
          </a:p>
          <a:p>
            <a:b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Deixa: este slide vende o problema. Fale com convicção, é a sua empresa.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AD9E62-5FC1-47F7-98F4-A2E33E4F32F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751096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 pergunta que guia tudo está nessa caixa: é possível gerar recomendações úteis e estatisticamente relevantes para uma distribuidora pequena usando só regras de associação, mesmo com poucas transações?"</a:t>
            </a:r>
          </a:p>
          <a:p>
            <a:b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"A minha hipótese, a H1, é que sim. Regras com confiança a partir de 0,30 e suporte a partir de 0,02, ordenadas por lift, produzem sugestões de venda casada que fazem sentido para o negócio. A hipótese nula, a H0, é o contrário: que as regras seriam indistinguíveis do acaso e não passariam de um simples ranking dos produtos mais vendidos."</a:t>
            </a:r>
          </a:p>
          <a:p>
            <a:b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Deixa: leia a pergunta com calma, é o coração do trabalho. Guarde os termos confiança, suporte e lift, eles voltam no próximo bloco.</a:t>
            </a:r>
          </a:p>
          <a:p>
            <a:b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AD9E62-5FC1-47F7-98F4-A2E33E4F32F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465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objetivo geral foi desenvolver e validar um sistema de recomendação baseado em Market Basket Analysis, com relevância estatística que dá para medir."</a:t>
            </a:r>
          </a:p>
          <a:p>
            <a:b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"Para chegar lá, foram seis objetivos específicos que ficaram divididos assim: temos a parte teórica: revisar a literatura e modelar a base de dados, parte prática: implementar  as regras e construir a interface web, até chegar na análise: validar e analisar as regras do ponto de vista comercial."</a:t>
            </a:r>
          </a:p>
          <a:p>
            <a:b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Deixa: não leia os seis um por um devagar. Agrupe: "da teoria até a análise de negócio". Avance.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AD9E62-5FC1-47F7-98F4-A2E33E4F32F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291232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justificativa tem três lados. No lado acadêmico, quase tudo que se estuda é B2C de grande volume. B2B esparso é uma lacuna, e é justo onde a filtragem colaborativa não funciona. No lado prático, é uma empresa real, com uma dor real, e o sistema ajuda a equipe a vender com base em dado, não em memória. E no lado técnico, é uma arquitetura completa, reproduzível e barata, que cabe numa empresa pequena sem nenhuma estrutura de Big Data."</a:t>
            </a:r>
          </a:p>
          <a:p>
            <a:b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Deixa: este é o argumento de relevância. A banca gosta de ver o "por que importa".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AD9E62-5FC1-47F7-98F4-A2E33E4F32F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17768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Entrando na teoria de forma bem direta. Cada pedido é uma cesta de compras. O que eu procuro é um padrão do tipo: quem compra A tende a comprar B. E eu meço isso com três números."</a:t>
            </a:r>
          </a:p>
          <a:p>
            <a:b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"O suporte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nos diz quão frequente um par de produtos aparece no total de vendas. Ele serve como um primeiro filtro: não queremos criar regras baseadas em eventos isolados ou raros que aconteceram apenas uma vez. 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Serve para descartar coisa muito rara. A confiança responde: dado que o cliente comprou A, qual a chance de ele levar B também. É a força da regra. E o lift compara o que aconteceu com o que aconteceria por acaso. Lift acima de 1 quer dizer que existe associação de verdade, não foi coincidência.“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“Entender essas métricas foi crucial para o projeto, pois em um cenário de baixo volume como o da Quasar Barber, o Lift nos permitiu separar o 'ruído' estatístico das oportunidades reais de venda casada que a equipe de vendas pode explorar."</a:t>
            </a: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Deixa: aponte para cada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card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ao falar. Estes três conceitos são a base de tudo que vem depois.</a:t>
            </a:r>
          </a:p>
          <a:p>
            <a:b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---</a:t>
            </a: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AD9E62-5FC1-47F7-98F4-A2E33E4F32F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208271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"Por que essa técnica e não outra. A filtragem colaborativa precisa de uma matriz cheia de clientes e avaliações, e isso simplesmente não existe aqui. Os problemas de cold start e de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esparsidade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que em outros cenários são exceção, no meu caso são a regra."</a:t>
            </a:r>
          </a:p>
          <a:p>
            <a:b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"As regras de associação trabalham direto na coocorrência dentro das transações. Não precisam de nota nem de muita gente. O resultado é interpretável, o vendedor entende. E o custo de processar é baixo no volume que eu tenho. Some a isso a lacuna acadêmica, já que quase todo estudo foca em grande volume, e a escolha se justifica."</a:t>
            </a:r>
          </a:p>
          <a:p>
            <a:b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Deixa: este slide conversa com o slide 3. É o fechamento do "por que essa abordagem".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AD9E62-5FC1-47F7-98F4-A2E33E4F32F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80522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"Sobre o método: é uma pesquisa aplicada, quantitativa, um estudo de caso único. O método de condução foi o Design Science Research, que basicamente diz: você constrói um artefato e avalia esse artefato. Foi o que fiz."</a:t>
            </a:r>
          </a:p>
          <a:p>
            <a:b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"E são dados reais, não simulados. São as vendas da Quasar Barber entre 29 de abril e 18 de junho de 2026. Olhem os números: 30 transações, 26 clientes, 29 produtos, 52 itens vendidos. E o número que mais importa: só 14 cestas têm dois ou mais produtos. São essas 14 que geram regra. As outras 16 são compra de um item só."</a:t>
            </a:r>
          </a:p>
          <a:p>
            <a:b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"Eu quero ser honesto com a banca aqui: essa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esparsidade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não é um defeito do meu recorte, é a cara do B2B pequeno. O trabalho todo é sobre fazer recomendação funcionar nessa condição difícil."</a:t>
            </a:r>
          </a:p>
          <a:p>
            <a:b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Deixa: pause nos números, deixe a banca ler. O "14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multi-item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é o gancho para entender as limitações depois.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AD9E62-5FC1-47F7-98F4-A2E33E4F32F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555786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"Esta é a arquitetura, em camadas. Na frente, a interface em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React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onde o usuário busca um produto e vê as recomendações. Essa interface conversa com uma API REST em Node com Express. A API tem a camada de serviço, que é onde roda o algoritmo de regras e a geração do Top-N, com um cache opcional em Redis para acelerar consultas repetidas. E no fim, o banco no Supabase, que é PostgreSQL, guardando clientes, produtos, vendas e itens."</a:t>
            </a:r>
          </a:p>
          <a:p>
            <a:b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"O ponto que eu destaco é que tudo isso usa ferramenta gratuita ou de baixo custo. Roda numa máquina modesta."</a:t>
            </a:r>
          </a:p>
          <a:p>
            <a:b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Deixa: percorra o diagrama com a mão, de cima para baixo ou da frente para o banco. Não decore nome de biblioteca, conte o fluxo.</a:t>
            </a:r>
          </a:p>
          <a:p>
            <a:b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AD9E62-5FC1-47F7-98F4-A2E33E4F32F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727457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"Antes dos resultados, preciso explicar como eu validei, porque essa foi uma decisão importante do trabalho."</a:t>
            </a:r>
          </a:p>
          <a:p>
            <a:b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"A primeira ideia seria separar 80% para treino e 20% para teste. Eu testei e descartei. Com 30 transações, esse teste sobra com só 3 cestas avaliáveis. Tirar conclusão de 3 casos é instável, não dá."</a:t>
            </a:r>
          </a:p>
          <a:p>
            <a:b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"Então adotei a validação cruzada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Leave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-Out, a LOOCV. A ideia é girar por todas as transações: a cada rodada eu treino com todas menos uma e testo naquela que sobrou. Assim eu aproveito todos os dados. O esquema é esconder um item: eu tiro um produto da cesta e vejo se o sistema consegue trazer ele de volta nas três recomendações."</a:t>
            </a:r>
          </a:p>
          <a:p>
            <a:b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"E tem um detalhe que muda a leitura dos números. Como eu escondo só um produto e o sistema sugere até três, a precisão máxima possível já é um terço, mais ou menos 0,33. Por isso, neste trabalho, o Recall e o F1 são os indicadores que mais dizem alguma coisa."</a:t>
            </a:r>
          </a:p>
          <a:p>
            <a:b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Deixa: este é o slide mais técnico. Vá devagar. Se a banca for cobrar metodologia, é aqui que você mostra rigor. O teto de 0,33 antecipa a defesa da precisão baixa no próximo slide.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AD9E62-5FC1-47F7-98F4-A2E33E4F32F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89170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"Agora os resultados. O algoritmo gerou 44 regras. A confiança média ficou em 76,51% e o lift médio em 12,41, ou seja, bem acima de 1."</a:t>
            </a:r>
          </a:p>
          <a:p>
            <a:b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"Na tabela estão as regras de maior lift. Por exemplo, quem compra o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After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Shave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QOD levou junto o Café Verde Shampoo da mesma marca, com confiança de 100%. O mesmo padrão aparece na linha Fox for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com shampoo e óleo de barba saindo juntos."</a:t>
            </a:r>
          </a:p>
          <a:p>
            <a:b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"E aqui eu faço uma ressalva honesta, que está embaixo da tabela: o lift mais alto costuma cair justamente nos pares mais raros, os de suporte baixo. Por isso eu nunca leio o lift sozinho, leio sempre junto com o conhecimento do negócio. À direita está o painel real do sistema, funcionando sobre esses dados."</a:t>
            </a:r>
          </a:p>
          <a:p>
            <a:b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Deixa: mostre a tabela e depois aponte o print do dashboard à direita, prova de que o sistema existe e roda.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AD9E62-5FC1-47F7-98F4-A2E33E4F32F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019539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"Estes são os números da validação. Precisão de 26,39%, Recall de 44,44% e F1 de 31,94%."</a:t>
            </a:r>
          </a:p>
          <a:p>
            <a:b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"A precisão parece baixa, mas lembrem do teto: o máximo possível era 0,33, e eu cheguei perto disso. Então não é erro de 73%, é consequência do desenho do teste. O número que eu peço para vocês olharem é o Recall. 44,44% quer dizer que, em 16 de 36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sub-testes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 sistema recolocou na cesta exatamente o produto que eu tinha escondido. Quase metade das vezes ele completou a compra certa, sem ter nenhuma nota de produto, só pela coocorrência."</a:t>
            </a:r>
          </a:p>
          <a:p>
            <a:b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"E para comparar: aquele teste 80/20 que eu descartei dava 22,22% em cima de 3 casos. A LOOCV é mais robusta porque percorre tudo e acumula 36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sub-testes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."</a:t>
            </a:r>
          </a:p>
          <a:p>
            <a:b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Deixa: aponte cada métrica nos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cards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Defenda a precisão com calma, não como desculpa. O Recall é a sua vitória, fale com firmeza.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AD9E62-5FC1-47F7-98F4-A2E33E4F32F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4785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"Número não basta, a regra tem que fazer sentido para quem conhece o negócio, que nesse caso sou eu. E faz. As regras de maior lift batem com a prática: a rotina de barba, shampoo com óleo, bálsamo e pós-barba saindo juntos. A coerência de marca, com as linhas QOD e Fox for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E os acessórios de função parecida comprados na mesma cesta."</a:t>
            </a:r>
          </a:p>
          <a:p>
            <a:b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"Juntando tudo, eu não rejeito a H1. O lift médio de 12,41 está muito acima de 1, o que afasta o acaso. E os pares de maior lift não são os produtos mais vendidos, então eles carregam informação além da simples frequência. Isso é exatamente o que contraria a H0, a ideia de que bastaria recomendar os campeões de venda."</a:t>
            </a:r>
          </a:p>
          <a:p>
            <a:b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Deixa: este slide amarra resultado com hipótese. Leia a caixa azul com ênfase no "H1 não rejeitada".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AD9E62-5FC1-47F7-98F4-A2E33E4F32F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700493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"Respondendo a pergunta lá do começo: sim, dá para gerar recomendação relevante em B2B de baixo volume só com regras de associação, com uma ressalva de escala que eu faço questão de manter."</a:t>
            </a:r>
          </a:p>
          <a:p>
            <a:b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"As contribuições foram três. Um artefato completo e reproduzível, barato, rodando sobre dado real. Uma contribuição de método, a LOOCV com a leitura honesta do teto da precisão. E o entendimento de que essas recomendações são apoio à decisão do vendedor, não uma ordem automática."</a:t>
            </a:r>
          </a:p>
          <a:p>
            <a:b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Deixa: tom de fechamento. Mais devagar, mais firme. Você está consolidando.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AD9E62-5FC1-47F7-98F4-A2E33E4F32F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97562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"O próprio recorte aponta a continuação. Primeiro, mais dados: com histórico maior, as métricas ficam mais estáveis. Segundo, implementar o Apriori ou o FP-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Growth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completos, para capturar regras com três ou mais produtos juntos. Terceiro, colocar em produção, com a recomendação chegando na hora do pedido. E quarto, fechar o ciclo com um teste A/B, medindo o efeito real no ticket médio."</a:t>
            </a:r>
          </a:p>
          <a:p>
            <a:b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Deixa: rápido e otimista, mas sem floreio. Mostra que você sabe o tamanho real do que fez e o que vem depois.</a:t>
            </a:r>
          </a:p>
          <a:p>
            <a:b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AD9E62-5FC1-47F7-98F4-A2E33E4F32F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29314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"Essas são as referências centrais do trabalho. Os artigos do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Agrawal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que fundam as regras de associação e o Apriori, o Han com o FP-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Growth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Adomavicius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na taxonomia de recomendação, e o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Powers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na parte de métricas. A lista completa, com as 23 referências, está no capítulo de Referências da monografia."</a:t>
            </a:r>
          </a:p>
          <a:p>
            <a:b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Deixa: não leia referência por referência. Cite duas ou três e siga. Slide de apoio.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AD9E62-5FC1-47F7-98F4-A2E33E4F32F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150218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Era isso. Obrigado pela atenção. Fico à disposição da banca para as perguntas."</a:t>
            </a:r>
          </a:p>
          <a:p>
            <a:b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Deixa: pare, respire, sorria. Não saia correndo do slide. Espere a banca.</a:t>
            </a:r>
          </a:p>
          <a:p>
            <a:b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AD9E62-5FC1-47F7-98F4-A2E33E4F32F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9623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74920"/>
            <a:ext cx="12191695" cy="109728"/>
          </a:xfrm>
          <a:prstGeom prst="rect">
            <a:avLst/>
          </a:prstGeom>
          <a:solidFill>
            <a:srgbClr val="C8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515600" cy="5488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pt-BR" sz="1500" b="1" dirty="0">
                <a:solidFill>
                  <a:srgbClr val="FFFFFF"/>
                </a:solidFill>
                <a:latin typeface="Calibri"/>
              </a:rPr>
              <a:t>INSTITUTO FEDERAL DE EDUCAÇÃO, CIÊNCIA E TECNOLOGIA – IFMA CAMPUS CAXIAS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lang="pt-BR" sz="1300" b="0" dirty="0">
                <a:solidFill>
                  <a:srgbClr val="C9CFD6"/>
                </a:solidFill>
                <a:latin typeface="Calibri"/>
              </a:rPr>
              <a:t>Curso de Bacharelado em Ciência da Computação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15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800" b="1" dirty="0">
                <a:solidFill>
                  <a:srgbClr val="FFFFFF"/>
                </a:solidFill>
                <a:latin typeface="Calibri"/>
              </a:rPr>
              <a:t>Sistema de </a:t>
            </a:r>
            <a:r>
              <a:rPr sz="3800" b="1" dirty="0" err="1">
                <a:solidFill>
                  <a:srgbClr val="FFFFFF"/>
                </a:solidFill>
                <a:latin typeface="Calibri"/>
              </a:rPr>
              <a:t>Recomendação</a:t>
            </a:r>
            <a:r>
              <a:rPr sz="3800" b="1" dirty="0">
                <a:solidFill>
                  <a:srgbClr val="FFFFFF"/>
                </a:solidFill>
                <a:latin typeface="Calibri"/>
              </a:rPr>
              <a:t> de </a:t>
            </a:r>
            <a:r>
              <a:rPr sz="3800" b="1" dirty="0" err="1">
                <a:solidFill>
                  <a:srgbClr val="FFFFFF"/>
                </a:solidFill>
                <a:latin typeface="Calibri"/>
              </a:rPr>
              <a:t>Produtos</a:t>
            </a:r>
            <a:r>
              <a:rPr sz="3800" b="1" dirty="0">
                <a:solidFill>
                  <a:srgbClr val="FFFFFF"/>
                </a:solidFill>
                <a:latin typeface="Calibri"/>
              </a:rPr>
              <a:t> para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800" b="1" dirty="0" err="1">
                <a:solidFill>
                  <a:srgbClr val="FFFFFF"/>
                </a:solidFill>
                <a:latin typeface="Calibri"/>
              </a:rPr>
              <a:t>Distribuição</a:t>
            </a:r>
            <a:r>
              <a:rPr sz="3800" b="1" dirty="0">
                <a:solidFill>
                  <a:srgbClr val="FFFFFF"/>
                </a:solidFill>
                <a:latin typeface="Calibri"/>
              </a:rPr>
              <a:t> B2B </a:t>
            </a:r>
            <a:r>
              <a:rPr sz="3800" b="1" dirty="0" err="1">
                <a:solidFill>
                  <a:srgbClr val="FFFFFF"/>
                </a:solidFill>
                <a:latin typeface="Calibri"/>
              </a:rPr>
              <a:t>Utilizando</a:t>
            </a:r>
            <a:r>
              <a:rPr sz="38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3800" b="1" dirty="0" err="1">
                <a:solidFill>
                  <a:srgbClr val="FFFFFF"/>
                </a:solidFill>
                <a:latin typeface="Calibri"/>
              </a:rPr>
              <a:t>Regras</a:t>
            </a:r>
            <a:r>
              <a:rPr sz="3800" b="1" dirty="0">
                <a:solidFill>
                  <a:srgbClr val="FFFFFF"/>
                </a:solidFill>
                <a:latin typeface="Calibri"/>
              </a:rPr>
              <a:t> de </a:t>
            </a:r>
            <a:r>
              <a:rPr sz="3800" b="1" dirty="0" err="1">
                <a:solidFill>
                  <a:srgbClr val="FFFFFF"/>
                </a:solidFill>
                <a:latin typeface="Calibri"/>
              </a:rPr>
              <a:t>Associação</a:t>
            </a:r>
            <a:endParaRPr sz="3800" b="1" dirty="0">
              <a:solidFill>
                <a:srgbClr val="FFFFFF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dirty="0" err="1">
                <a:solidFill>
                  <a:srgbClr val="C8A04B"/>
                </a:solidFill>
                <a:latin typeface="Calibri"/>
              </a:rPr>
              <a:t>Estudo</a:t>
            </a:r>
            <a:r>
              <a:rPr sz="2200" b="1" dirty="0">
                <a:solidFill>
                  <a:srgbClr val="C8A04B"/>
                </a:solidFill>
                <a:latin typeface="Calibri"/>
              </a:rPr>
              <a:t> de Caso </a:t>
            </a:r>
            <a:r>
              <a:rPr sz="2200" b="1" dirty="0" err="1">
                <a:solidFill>
                  <a:srgbClr val="C8A04B"/>
                </a:solidFill>
                <a:latin typeface="Calibri"/>
              </a:rPr>
              <a:t>na</a:t>
            </a:r>
            <a:r>
              <a:rPr sz="2200" b="1" dirty="0">
                <a:solidFill>
                  <a:srgbClr val="C8A04B"/>
                </a:solidFill>
                <a:latin typeface="Calibri"/>
              </a:rPr>
              <a:t> Quasar Barber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49240"/>
            <a:ext cx="10515600" cy="93358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dirty="0">
                <a:solidFill>
                  <a:srgbClr val="FFFFFF"/>
                </a:solidFill>
                <a:latin typeface="Calibri"/>
              </a:rPr>
              <a:t>Felipe Pereira</a:t>
            </a:r>
            <a:r>
              <a:rPr lang="pt-BR" sz="2000" b="1" dirty="0">
                <a:solidFill>
                  <a:srgbClr val="FFFFFF"/>
                </a:solidFill>
                <a:latin typeface="Calibri"/>
              </a:rPr>
              <a:t> Ferreira</a:t>
            </a:r>
            <a:endParaRPr sz="2000" b="1" dirty="0">
              <a:solidFill>
                <a:srgbClr val="FFFFFF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dirty="0" err="1">
                <a:solidFill>
                  <a:srgbClr val="C9CFD6"/>
                </a:solidFill>
                <a:latin typeface="Calibri"/>
              </a:rPr>
              <a:t>Trabalho</a:t>
            </a:r>
            <a:r>
              <a:rPr sz="1500" b="0" dirty="0">
                <a:solidFill>
                  <a:srgbClr val="C9CFD6"/>
                </a:solidFill>
                <a:latin typeface="Calibri"/>
              </a:rPr>
              <a:t> de </a:t>
            </a:r>
            <a:r>
              <a:rPr sz="1500" b="0" dirty="0" err="1">
                <a:solidFill>
                  <a:srgbClr val="C9CFD6"/>
                </a:solidFill>
                <a:latin typeface="Calibri"/>
              </a:rPr>
              <a:t>Conclusão</a:t>
            </a:r>
            <a:r>
              <a:rPr sz="1500" b="0" dirty="0">
                <a:solidFill>
                  <a:srgbClr val="C9CFD6"/>
                </a:solidFill>
                <a:latin typeface="Calibri"/>
              </a:rPr>
              <a:t> de </a:t>
            </a:r>
            <a:r>
              <a:rPr sz="1500" b="0" dirty="0" err="1">
                <a:solidFill>
                  <a:srgbClr val="C9CFD6"/>
                </a:solidFill>
                <a:latin typeface="Calibri"/>
              </a:rPr>
              <a:t>Curso</a:t>
            </a:r>
            <a:r>
              <a:rPr sz="1500" b="0" dirty="0">
                <a:solidFill>
                  <a:srgbClr val="C9CFD6"/>
                </a:solidFill>
                <a:latin typeface="Calibri"/>
              </a:rPr>
              <a:t>  —  </a:t>
            </a:r>
            <a:r>
              <a:rPr sz="1500" b="0" dirty="0" err="1">
                <a:solidFill>
                  <a:srgbClr val="C9CFD6"/>
                </a:solidFill>
                <a:latin typeface="Calibri"/>
              </a:rPr>
              <a:t>Ciência</a:t>
            </a:r>
            <a:r>
              <a:rPr sz="1500" b="0" dirty="0">
                <a:solidFill>
                  <a:srgbClr val="C9CFD6"/>
                </a:solidFill>
                <a:latin typeface="Calibri"/>
              </a:rPr>
              <a:t> da </a:t>
            </a:r>
            <a:r>
              <a:rPr sz="1500" b="0" dirty="0" err="1">
                <a:solidFill>
                  <a:srgbClr val="C9CFD6"/>
                </a:solidFill>
                <a:latin typeface="Calibri"/>
              </a:rPr>
              <a:t>Computação</a:t>
            </a:r>
            <a:endParaRPr sz="1500" b="0" dirty="0">
              <a:solidFill>
                <a:srgbClr val="C9CFD6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dirty="0" err="1">
                <a:solidFill>
                  <a:srgbClr val="5A6672"/>
                </a:solidFill>
                <a:latin typeface="Calibri"/>
              </a:rPr>
              <a:t>Orientador</a:t>
            </a:r>
            <a:r>
              <a:rPr sz="1300" b="0" dirty="0">
                <a:solidFill>
                  <a:srgbClr val="5A6672"/>
                </a:solidFill>
                <a:latin typeface="Calibri"/>
              </a:rPr>
              <a:t>(a): </a:t>
            </a:r>
            <a:r>
              <a:rPr lang="pt-BR" sz="1300" dirty="0">
                <a:solidFill>
                  <a:srgbClr val="5A6672"/>
                </a:solidFill>
                <a:latin typeface="Calibri"/>
              </a:rPr>
              <a:t>François Fernandes Ribeiro Barbosa</a:t>
            </a:r>
            <a:r>
              <a:rPr sz="1300" b="0" dirty="0">
                <a:solidFill>
                  <a:srgbClr val="5A6672"/>
                </a:solidFill>
                <a:latin typeface="Calibri"/>
              </a:rPr>
              <a:t>   |   </a:t>
            </a:r>
            <a:r>
              <a:rPr lang="pt-BR" sz="1300" b="0" dirty="0">
                <a:solidFill>
                  <a:srgbClr val="5A6672"/>
                </a:solidFill>
                <a:latin typeface="Calibri"/>
              </a:rPr>
              <a:t>Caxias - MA</a:t>
            </a:r>
            <a:r>
              <a:rPr sz="1300" b="0" dirty="0">
                <a:solidFill>
                  <a:srgbClr val="5A6672"/>
                </a:solidFill>
                <a:latin typeface="Calibri"/>
              </a:rPr>
              <a:t>, 2026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4756C8BB-1CA9-40B5-A5CC-3B59426AB6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9790" y="428738"/>
            <a:ext cx="2675676" cy="6230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F1B2D"/>
                </a:solidFill>
                <a:latin typeface="Calibri"/>
              </a:rPr>
              <a:t>Roteiro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459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8A04B"/>
                </a:solidFill>
                <a:latin typeface="Calibri"/>
              </a:rPr>
              <a:t>APRESENTAÇÃO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07008"/>
            <a:ext cx="2194560" cy="38100"/>
          </a:xfrm>
          <a:prstGeom prst="rect">
            <a:avLst/>
          </a:prstGeom>
          <a:solidFill>
            <a:srgbClr val="C8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A6672"/>
                </a:solidFill>
                <a:latin typeface="Calibri"/>
              </a:rPr>
              <a:t>Felipe Pereira  •  Sistema de Recomendação B2B com Regras de Associação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8A04B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45920"/>
            <a:ext cx="10972800" cy="387798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lang="pt-BR" sz="2200" b="1" dirty="0">
                <a:solidFill>
                  <a:srgbClr val="C8A04B"/>
                </a:solidFill>
                <a:latin typeface="Calibri"/>
              </a:rPr>
              <a:t>1</a:t>
            </a:r>
            <a:r>
              <a:rPr sz="2200" b="1" dirty="0">
                <a:solidFill>
                  <a:srgbClr val="C8A04B"/>
                </a:solidFill>
                <a:latin typeface="Calibri"/>
              </a:rPr>
              <a:t>  </a:t>
            </a:r>
            <a:r>
              <a:rPr sz="2200" b="0" dirty="0" err="1">
                <a:solidFill>
                  <a:srgbClr val="1A232E"/>
                </a:solidFill>
                <a:latin typeface="Calibri"/>
              </a:rPr>
              <a:t>Contexto</a:t>
            </a:r>
            <a:r>
              <a:rPr sz="2200" b="0" dirty="0">
                <a:solidFill>
                  <a:srgbClr val="1A232E"/>
                </a:solidFill>
                <a:latin typeface="Calibri"/>
              </a:rPr>
              <a:t> e </a:t>
            </a:r>
            <a:r>
              <a:rPr sz="2200" b="0" dirty="0" err="1">
                <a:solidFill>
                  <a:srgbClr val="1A232E"/>
                </a:solidFill>
                <a:latin typeface="Calibri"/>
              </a:rPr>
              <a:t>problema</a:t>
            </a:r>
            <a:r>
              <a:rPr sz="2200" b="0" dirty="0">
                <a:solidFill>
                  <a:srgbClr val="1A232E"/>
                </a:solidFill>
                <a:latin typeface="Calibri"/>
              </a:rPr>
              <a:t> de </a:t>
            </a:r>
            <a:r>
              <a:rPr sz="2200" b="0" dirty="0" err="1">
                <a:solidFill>
                  <a:srgbClr val="1A232E"/>
                </a:solidFill>
                <a:latin typeface="Calibri"/>
              </a:rPr>
              <a:t>pesquisa</a:t>
            </a:r>
            <a:endParaRPr sz="2200" b="0" dirty="0">
              <a:solidFill>
                <a:srgbClr val="1A232E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lang="pt-BR" sz="2200" b="1" dirty="0">
                <a:solidFill>
                  <a:srgbClr val="C8A04B"/>
                </a:solidFill>
                <a:latin typeface="Calibri"/>
              </a:rPr>
              <a:t>2</a:t>
            </a:r>
            <a:r>
              <a:rPr sz="2200" b="1" dirty="0">
                <a:solidFill>
                  <a:srgbClr val="C8A04B"/>
                </a:solidFill>
                <a:latin typeface="Calibri"/>
              </a:rPr>
              <a:t>  </a:t>
            </a:r>
            <a:r>
              <a:rPr sz="2200" b="0" dirty="0" err="1">
                <a:solidFill>
                  <a:srgbClr val="1A232E"/>
                </a:solidFill>
                <a:latin typeface="Calibri"/>
              </a:rPr>
              <a:t>Pergunta</a:t>
            </a:r>
            <a:r>
              <a:rPr sz="2200" b="0" dirty="0">
                <a:solidFill>
                  <a:srgbClr val="1A232E"/>
                </a:solidFill>
                <a:latin typeface="Calibri"/>
              </a:rPr>
              <a:t>, </a:t>
            </a:r>
            <a:r>
              <a:rPr sz="2200" b="0" dirty="0" err="1">
                <a:solidFill>
                  <a:srgbClr val="1A232E"/>
                </a:solidFill>
                <a:latin typeface="Calibri"/>
              </a:rPr>
              <a:t>hipótese</a:t>
            </a:r>
            <a:r>
              <a:rPr sz="2200" b="0" dirty="0">
                <a:solidFill>
                  <a:srgbClr val="1A232E"/>
                </a:solidFill>
                <a:latin typeface="Calibri"/>
              </a:rPr>
              <a:t> e </a:t>
            </a:r>
            <a:r>
              <a:rPr sz="2200" b="0" dirty="0" err="1">
                <a:solidFill>
                  <a:srgbClr val="1A232E"/>
                </a:solidFill>
                <a:latin typeface="Calibri"/>
              </a:rPr>
              <a:t>objetivos</a:t>
            </a:r>
            <a:endParaRPr sz="2200" b="0" dirty="0">
              <a:solidFill>
                <a:srgbClr val="1A232E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lang="pt-BR" sz="2200" b="1" dirty="0">
                <a:solidFill>
                  <a:srgbClr val="C8A04B"/>
                </a:solidFill>
                <a:latin typeface="Calibri"/>
              </a:rPr>
              <a:t>3</a:t>
            </a:r>
            <a:r>
              <a:rPr sz="2200" b="1" dirty="0">
                <a:solidFill>
                  <a:srgbClr val="C8A04B"/>
                </a:solidFill>
                <a:latin typeface="Calibri"/>
              </a:rPr>
              <a:t>  </a:t>
            </a:r>
            <a:r>
              <a:rPr sz="2200" b="0" dirty="0" err="1">
                <a:solidFill>
                  <a:srgbClr val="1A232E"/>
                </a:solidFill>
                <a:latin typeface="Calibri"/>
              </a:rPr>
              <a:t>Fundamentação</a:t>
            </a:r>
            <a:r>
              <a:rPr sz="2200" b="0" dirty="0">
                <a:solidFill>
                  <a:srgbClr val="1A232E"/>
                </a:solidFill>
                <a:latin typeface="Calibri"/>
              </a:rPr>
              <a:t>: </a:t>
            </a:r>
            <a:r>
              <a:rPr sz="2200" b="0" dirty="0" err="1">
                <a:solidFill>
                  <a:srgbClr val="1A232E"/>
                </a:solidFill>
                <a:latin typeface="Calibri"/>
              </a:rPr>
              <a:t>regras</a:t>
            </a:r>
            <a:r>
              <a:rPr sz="2200" b="0" dirty="0">
                <a:solidFill>
                  <a:srgbClr val="1A232E"/>
                </a:solidFill>
                <a:latin typeface="Calibri"/>
              </a:rPr>
              <a:t> de </a:t>
            </a:r>
            <a:r>
              <a:rPr sz="2200" b="0" dirty="0" err="1">
                <a:solidFill>
                  <a:srgbClr val="1A232E"/>
                </a:solidFill>
                <a:latin typeface="Calibri"/>
              </a:rPr>
              <a:t>associação</a:t>
            </a:r>
            <a:endParaRPr sz="2200" b="0" dirty="0">
              <a:solidFill>
                <a:srgbClr val="1A232E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lang="pt-BR" sz="2200" b="1" dirty="0">
                <a:solidFill>
                  <a:srgbClr val="C8A04B"/>
                </a:solidFill>
                <a:latin typeface="Calibri"/>
              </a:rPr>
              <a:t>4</a:t>
            </a:r>
            <a:r>
              <a:rPr sz="2200" b="1" dirty="0">
                <a:solidFill>
                  <a:srgbClr val="C8A04B"/>
                </a:solidFill>
                <a:latin typeface="Calibri"/>
              </a:rPr>
              <a:t>  </a:t>
            </a:r>
            <a:r>
              <a:rPr sz="2200" b="0" dirty="0" err="1">
                <a:solidFill>
                  <a:srgbClr val="1A232E"/>
                </a:solidFill>
                <a:latin typeface="Calibri"/>
              </a:rPr>
              <a:t>Metodologia</a:t>
            </a:r>
            <a:r>
              <a:rPr sz="2200" b="0" dirty="0">
                <a:solidFill>
                  <a:srgbClr val="1A232E"/>
                </a:solidFill>
                <a:latin typeface="Calibri"/>
              </a:rPr>
              <a:t> e dados reais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lang="pt-BR" sz="2200" b="1" dirty="0">
                <a:solidFill>
                  <a:srgbClr val="C8A04B"/>
                </a:solidFill>
                <a:latin typeface="Calibri"/>
              </a:rPr>
              <a:t>5</a:t>
            </a:r>
            <a:r>
              <a:rPr sz="2200" b="1" dirty="0">
                <a:solidFill>
                  <a:srgbClr val="C8A04B"/>
                </a:solidFill>
                <a:latin typeface="Calibri"/>
              </a:rPr>
              <a:t>  </a:t>
            </a:r>
            <a:r>
              <a:rPr sz="2200" b="0" dirty="0" err="1">
                <a:solidFill>
                  <a:srgbClr val="1A232E"/>
                </a:solidFill>
                <a:latin typeface="Calibri"/>
              </a:rPr>
              <a:t>Arquitetura</a:t>
            </a:r>
            <a:r>
              <a:rPr sz="2200" b="0" dirty="0">
                <a:solidFill>
                  <a:srgbClr val="1A232E"/>
                </a:solidFill>
                <a:latin typeface="Calibri"/>
              </a:rPr>
              <a:t> do </a:t>
            </a:r>
            <a:r>
              <a:rPr sz="2200" b="0" dirty="0" err="1">
                <a:solidFill>
                  <a:srgbClr val="1A232E"/>
                </a:solidFill>
                <a:latin typeface="Calibri"/>
              </a:rPr>
              <a:t>sistema</a:t>
            </a:r>
            <a:endParaRPr sz="2200" b="0" dirty="0">
              <a:solidFill>
                <a:srgbClr val="1A232E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lang="pt-BR" sz="2200" b="1" dirty="0">
                <a:solidFill>
                  <a:srgbClr val="C8A04B"/>
                </a:solidFill>
                <a:latin typeface="Calibri"/>
              </a:rPr>
              <a:t>6</a:t>
            </a:r>
            <a:r>
              <a:rPr sz="2200" b="1" dirty="0">
                <a:solidFill>
                  <a:srgbClr val="C8A04B"/>
                </a:solidFill>
                <a:latin typeface="Calibri"/>
              </a:rPr>
              <a:t>  </a:t>
            </a:r>
            <a:r>
              <a:rPr sz="2200" b="0" dirty="0" err="1">
                <a:solidFill>
                  <a:srgbClr val="1A232E"/>
                </a:solidFill>
                <a:latin typeface="Calibri"/>
              </a:rPr>
              <a:t>Protocolo</a:t>
            </a:r>
            <a:r>
              <a:rPr sz="2200" b="0" dirty="0">
                <a:solidFill>
                  <a:srgbClr val="1A232E"/>
                </a:solidFill>
                <a:latin typeface="Calibri"/>
              </a:rPr>
              <a:t> de </a:t>
            </a:r>
            <a:r>
              <a:rPr sz="2200" b="0" dirty="0" err="1">
                <a:solidFill>
                  <a:srgbClr val="1A232E"/>
                </a:solidFill>
                <a:latin typeface="Calibri"/>
              </a:rPr>
              <a:t>validação</a:t>
            </a:r>
            <a:r>
              <a:rPr sz="2200" b="0" dirty="0">
                <a:solidFill>
                  <a:srgbClr val="1A232E"/>
                </a:solidFill>
                <a:latin typeface="Calibri"/>
              </a:rPr>
              <a:t> (LOOCV)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lang="pt-BR" sz="2200" b="1" dirty="0">
                <a:solidFill>
                  <a:srgbClr val="C8A04B"/>
                </a:solidFill>
                <a:latin typeface="Calibri"/>
              </a:rPr>
              <a:t>7</a:t>
            </a:r>
            <a:r>
              <a:rPr sz="2200" b="1" dirty="0">
                <a:solidFill>
                  <a:srgbClr val="C8A04B"/>
                </a:solidFill>
                <a:latin typeface="Calibri"/>
              </a:rPr>
              <a:t>  </a:t>
            </a:r>
            <a:r>
              <a:rPr sz="2200" b="0" dirty="0" err="1">
                <a:solidFill>
                  <a:srgbClr val="1A232E"/>
                </a:solidFill>
                <a:latin typeface="Calibri"/>
              </a:rPr>
              <a:t>Resultados</a:t>
            </a:r>
            <a:r>
              <a:rPr sz="2200" b="0" dirty="0">
                <a:solidFill>
                  <a:srgbClr val="1A232E"/>
                </a:solidFill>
                <a:latin typeface="Calibri"/>
              </a:rPr>
              <a:t> e </a:t>
            </a:r>
            <a:r>
              <a:rPr sz="2200" b="0" dirty="0" err="1">
                <a:solidFill>
                  <a:srgbClr val="1A232E"/>
                </a:solidFill>
                <a:latin typeface="Calibri"/>
              </a:rPr>
              <a:t>discussão</a:t>
            </a:r>
            <a:endParaRPr sz="2200" b="0" dirty="0">
              <a:solidFill>
                <a:srgbClr val="1A232E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lang="pt-BR" sz="2200" b="1" dirty="0">
                <a:solidFill>
                  <a:srgbClr val="C8A04B"/>
                </a:solidFill>
                <a:latin typeface="Calibri"/>
              </a:rPr>
              <a:t>8</a:t>
            </a:r>
            <a:r>
              <a:rPr sz="2200" b="1" dirty="0">
                <a:solidFill>
                  <a:srgbClr val="C8A04B"/>
                </a:solidFill>
                <a:latin typeface="Calibri"/>
              </a:rPr>
              <a:t>  </a:t>
            </a:r>
            <a:r>
              <a:rPr sz="2200" b="0" dirty="0" err="1">
                <a:solidFill>
                  <a:srgbClr val="1A232E"/>
                </a:solidFill>
                <a:latin typeface="Calibri"/>
              </a:rPr>
              <a:t>Conclusão</a:t>
            </a:r>
            <a:r>
              <a:rPr sz="2200" b="0" dirty="0">
                <a:solidFill>
                  <a:srgbClr val="1A232E"/>
                </a:solidFill>
                <a:latin typeface="Calibri"/>
              </a:rPr>
              <a:t> e </a:t>
            </a:r>
            <a:r>
              <a:rPr sz="2200" b="0" dirty="0" err="1">
                <a:solidFill>
                  <a:srgbClr val="1A232E"/>
                </a:solidFill>
                <a:latin typeface="Calibri"/>
              </a:rPr>
              <a:t>trabalhos</a:t>
            </a:r>
            <a:r>
              <a:rPr sz="2200" b="0" dirty="0">
                <a:solidFill>
                  <a:srgbClr val="1A232E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A232E"/>
                </a:solidFill>
                <a:latin typeface="Calibri"/>
              </a:rPr>
              <a:t>futuros</a:t>
            </a:r>
            <a:endParaRPr sz="2200" b="0" dirty="0">
              <a:solidFill>
                <a:srgbClr val="1A232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F1B2D"/>
                </a:solidFill>
                <a:latin typeface="Calibri"/>
              </a:rPr>
              <a:t>Contexto e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459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8A04B"/>
                </a:solidFill>
                <a:latin typeface="Calibri"/>
              </a:rPr>
              <a:t>CAPÍTULO 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07008"/>
            <a:ext cx="2194560" cy="38100"/>
          </a:xfrm>
          <a:prstGeom prst="rect">
            <a:avLst/>
          </a:prstGeom>
          <a:solidFill>
            <a:srgbClr val="C8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A6672"/>
                </a:solidFill>
                <a:latin typeface="Calibri"/>
              </a:rPr>
              <a:t>Felipe Pereira  •  Sistema de Recomendação B2B com Regras de Associação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8A04B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45920"/>
            <a:ext cx="1097280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100" b="1">
                <a:solidFill>
                  <a:srgbClr val="C8A04B"/>
                </a:solidFill>
                <a:latin typeface="Calibri"/>
              </a:rPr>
              <a:t>•  </a:t>
            </a:r>
            <a:r>
              <a:rPr sz="2100" b="0">
                <a:solidFill>
                  <a:srgbClr val="1A232E"/>
                </a:solidFill>
                <a:latin typeface="Calibri"/>
              </a:rPr>
              <a:t>Distribuidora B2B de </a:t>
            </a:r>
            <a:r>
              <a:rPr sz="2100" b="1">
                <a:solidFill>
                  <a:srgbClr val="0F1B2D"/>
                </a:solidFill>
                <a:latin typeface="Calibri"/>
              </a:rPr>
              <a:t>pequeno porte</a:t>
            </a:r>
            <a:r>
              <a:rPr sz="2100" b="0">
                <a:solidFill>
                  <a:srgbClr val="1A232E"/>
                </a:solidFill>
                <a:latin typeface="Calibri"/>
              </a:rPr>
              <a:t>: catálogo amplo, poucos clientes.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100" b="1">
                <a:solidFill>
                  <a:srgbClr val="C8A04B"/>
                </a:solidFill>
                <a:latin typeface="Calibri"/>
              </a:rPr>
              <a:t>•  </a:t>
            </a:r>
            <a:r>
              <a:rPr sz="2100" b="0">
                <a:solidFill>
                  <a:srgbClr val="1A232E"/>
                </a:solidFill>
                <a:latin typeface="Calibri"/>
              </a:rPr>
              <a:t>Decisões de </a:t>
            </a:r>
            <a:r>
              <a:rPr sz="2100" b="1">
                <a:solidFill>
                  <a:srgbClr val="0F1B2D"/>
                </a:solidFill>
                <a:latin typeface="Calibri"/>
              </a:rPr>
              <a:t>cross-sell</a:t>
            </a:r>
            <a:r>
              <a:rPr sz="2100" b="0">
                <a:solidFill>
                  <a:srgbClr val="1A232E"/>
                </a:solidFill>
                <a:latin typeface="Calibri"/>
              </a:rPr>
              <a:t> (venda casada) tomadas por </a:t>
            </a:r>
            <a:r>
              <a:rPr sz="2100" b="1">
                <a:solidFill>
                  <a:srgbClr val="0F1B2D"/>
                </a:solidFill>
                <a:latin typeface="Calibri"/>
              </a:rPr>
              <a:t>intuição</a:t>
            </a:r>
            <a:r>
              <a:rPr sz="2100" b="0">
                <a:solidFill>
                  <a:srgbClr val="1A232E"/>
                </a:solidFill>
                <a:latin typeface="Calibri"/>
              </a:rPr>
              <a:t> do vendedor.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100" b="1">
                <a:solidFill>
                  <a:srgbClr val="C8A04B"/>
                </a:solidFill>
                <a:latin typeface="Calibri"/>
              </a:rPr>
              <a:t>•  </a:t>
            </a:r>
            <a:r>
              <a:rPr sz="2100" b="0">
                <a:solidFill>
                  <a:srgbClr val="1A232E"/>
                </a:solidFill>
                <a:latin typeface="Calibri"/>
              </a:rPr>
              <a:t>Cenário B2B difere do varejo B2C: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C8A04B"/>
                </a:solidFill>
                <a:latin typeface="Calibri"/>
              </a:rPr>
              <a:t>–  </a:t>
            </a:r>
            <a:r>
              <a:rPr sz="1800" b="0">
                <a:solidFill>
                  <a:srgbClr val="5A6672"/>
                </a:solidFill>
                <a:latin typeface="Calibri"/>
              </a:rPr>
              <a:t>Poucos clientes e baixo volume transacional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C8A04B"/>
                </a:solidFill>
                <a:latin typeface="Calibri"/>
              </a:rPr>
              <a:t>–  </a:t>
            </a:r>
            <a:r>
              <a:rPr sz="1800" b="0">
                <a:solidFill>
                  <a:srgbClr val="5A6672"/>
                </a:solidFill>
                <a:latin typeface="Calibri"/>
              </a:rPr>
              <a:t>Sem avaliações ou notas de produto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C8A04B"/>
                </a:solidFill>
                <a:latin typeface="Calibri"/>
              </a:rPr>
              <a:t>–  </a:t>
            </a:r>
            <a:r>
              <a:rPr sz="1800" b="0">
                <a:solidFill>
                  <a:srgbClr val="5A6672"/>
                </a:solidFill>
                <a:latin typeface="Calibri"/>
              </a:rPr>
              <a:t>Matriz usuário-item esparsa → filtragem colaborativa </a:t>
            </a:r>
            <a:r>
              <a:rPr sz="1800" b="1">
                <a:solidFill>
                  <a:srgbClr val="0F1B2D"/>
                </a:solidFill>
                <a:latin typeface="Calibri"/>
              </a:rPr>
              <a:t>inviável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100" b="1">
                <a:solidFill>
                  <a:srgbClr val="C8A04B"/>
                </a:solidFill>
                <a:latin typeface="Calibri"/>
              </a:rPr>
              <a:t>•  </a:t>
            </a:r>
            <a:r>
              <a:rPr sz="2100" b="0">
                <a:solidFill>
                  <a:srgbClr val="1A232E"/>
                </a:solidFill>
                <a:latin typeface="Calibri"/>
              </a:rPr>
              <a:t>Oportunidade: minerar o </a:t>
            </a:r>
            <a:r>
              <a:rPr sz="2100" b="1">
                <a:solidFill>
                  <a:srgbClr val="0F1B2D"/>
                </a:solidFill>
                <a:latin typeface="Calibri"/>
              </a:rPr>
              <a:t>histórico de vendas</a:t>
            </a:r>
            <a:r>
              <a:rPr sz="2100" b="0">
                <a:solidFill>
                  <a:srgbClr val="1A232E"/>
                </a:solidFill>
                <a:latin typeface="Calibri"/>
              </a:rPr>
              <a:t> para sugerir produtos complementares.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F1B2D"/>
                </a:solidFill>
                <a:latin typeface="Calibri"/>
              </a:rPr>
              <a:t>Pergunta de pesquisa e hipótese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459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8A04B"/>
                </a:solidFill>
                <a:latin typeface="Calibri"/>
              </a:rPr>
              <a:t>CAPÍTULO 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07008"/>
            <a:ext cx="2194560" cy="38100"/>
          </a:xfrm>
          <a:prstGeom prst="rect">
            <a:avLst/>
          </a:prstGeom>
          <a:solidFill>
            <a:srgbClr val="C8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A6672"/>
                </a:solidFill>
                <a:latin typeface="Calibri"/>
              </a:rPr>
              <a:t>Felipe Pereira  •  Sistema de Recomendação B2B com Regras de Associação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8A04B"/>
                </a:solidFill>
                <a:latin typeface="Calibri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600200"/>
            <a:ext cx="10972800" cy="155448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737360"/>
            <a:ext cx="1042416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É possível gerar recomendações úteis e estatisticamente relevantes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para uma distribuidora B2B de pequeno porte usando apenas regras de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associação, mesmo com volume reduzido de transações?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74720"/>
            <a:ext cx="1097280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1">
                <a:solidFill>
                  <a:srgbClr val="C8A04B"/>
                </a:solidFill>
                <a:latin typeface="Calibri"/>
              </a:rPr>
              <a:t>•  </a:t>
            </a:r>
            <a:r>
              <a:rPr sz="1900" b="1">
                <a:solidFill>
                  <a:srgbClr val="0F1B2D"/>
                </a:solidFill>
                <a:latin typeface="Calibri"/>
              </a:rPr>
              <a:t>H1:</a:t>
            </a:r>
            <a:r>
              <a:rPr sz="1900" b="0">
                <a:solidFill>
                  <a:srgbClr val="1A232E"/>
                </a:solidFill>
                <a:latin typeface="Calibri"/>
              </a:rPr>
              <a:t> regras com confiança ≥ 0,30 e suporte ≥ 0,02, ranqueadas por lift, geram cross-sell coerente com o domínio.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1">
                <a:solidFill>
                  <a:srgbClr val="C8A04B"/>
                </a:solidFill>
                <a:latin typeface="Calibri"/>
              </a:rPr>
              <a:t>•  </a:t>
            </a:r>
            <a:r>
              <a:rPr sz="1900" b="1">
                <a:solidFill>
                  <a:srgbClr val="0F1B2D"/>
                </a:solidFill>
                <a:latin typeface="Calibri"/>
              </a:rPr>
              <a:t>H0:</a:t>
            </a:r>
            <a:r>
              <a:rPr sz="1900" b="0">
                <a:solidFill>
                  <a:srgbClr val="1A232E"/>
                </a:solidFill>
                <a:latin typeface="Calibri"/>
              </a:rPr>
              <a:t> as regras são indistinguíveis do acaso e não superam um baseline de popularidade.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F1B2D"/>
                </a:solidFill>
                <a:latin typeface="Calibri"/>
              </a:rPr>
              <a:t>Objetivos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459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8A04B"/>
                </a:solidFill>
                <a:latin typeface="Calibri"/>
              </a:rPr>
              <a:t>CAPÍTULO 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07008"/>
            <a:ext cx="2194560" cy="38100"/>
          </a:xfrm>
          <a:prstGeom prst="rect">
            <a:avLst/>
          </a:prstGeom>
          <a:solidFill>
            <a:srgbClr val="C8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A6672"/>
                </a:solidFill>
                <a:latin typeface="Calibri"/>
              </a:rPr>
              <a:t>Felipe Pereira  •  Sistema de Recomendação B2B com Regras de Associação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8A04B"/>
                </a:solidFill>
                <a:latin typeface="Calibr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C8A04B"/>
                </a:solidFill>
                <a:latin typeface="Calibri"/>
              </a:rPr>
              <a:t>Geral:  </a:t>
            </a:r>
            <a:r>
              <a:rPr sz="2000" b="0">
                <a:solidFill>
                  <a:srgbClr val="1A232E"/>
                </a:solidFill>
                <a:latin typeface="Calibri"/>
              </a:rPr>
              <a:t>desenvolver e validar um sistema de recomendação B2B baseado em Market Basket Analysis, com relevância estatística mensurável.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517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C8A04B"/>
                </a:solidFill>
                <a:latin typeface="Calibri"/>
              </a:rPr>
              <a:t>Específicos: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08960"/>
            <a:ext cx="1097280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8A04B"/>
                </a:solidFill>
                <a:latin typeface="Calibri"/>
              </a:rPr>
              <a:t>•  </a:t>
            </a:r>
            <a:r>
              <a:rPr sz="1800" b="0">
                <a:solidFill>
                  <a:srgbClr val="1A232E"/>
                </a:solidFill>
                <a:latin typeface="Calibri"/>
              </a:rPr>
              <a:t>Revisar a literatura (recomendação, Apriori, support/confidence/lift).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8A04B"/>
                </a:solidFill>
                <a:latin typeface="Calibri"/>
              </a:rPr>
              <a:t>•  </a:t>
            </a:r>
            <a:r>
              <a:rPr sz="1800" b="0">
                <a:solidFill>
                  <a:srgbClr val="1A232E"/>
                </a:solidFill>
                <a:latin typeface="Calibri"/>
              </a:rPr>
              <a:t>Modelar base transacional (PostgreSQL/Supabase).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8A04B"/>
                </a:solidFill>
                <a:latin typeface="Calibri"/>
              </a:rPr>
              <a:t>•  </a:t>
            </a:r>
            <a:r>
              <a:rPr sz="1800" b="0">
                <a:solidFill>
                  <a:srgbClr val="1A232E"/>
                </a:solidFill>
                <a:latin typeface="Calibri"/>
              </a:rPr>
              <a:t>Implementar extração de regras e recomendação Top-N (API REST).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8A04B"/>
                </a:solidFill>
                <a:latin typeface="Calibri"/>
              </a:rPr>
              <a:t>•  </a:t>
            </a:r>
            <a:r>
              <a:rPr sz="1800" b="0">
                <a:solidFill>
                  <a:srgbClr val="1A232E"/>
                </a:solidFill>
                <a:latin typeface="Calibri"/>
              </a:rPr>
              <a:t>Construir interface web de consulta (React).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8A04B"/>
                </a:solidFill>
                <a:latin typeface="Calibri"/>
              </a:rPr>
              <a:t>•  </a:t>
            </a:r>
            <a:r>
              <a:rPr sz="1800" b="0">
                <a:solidFill>
                  <a:srgbClr val="1A232E"/>
                </a:solidFill>
                <a:latin typeface="Calibri"/>
              </a:rPr>
              <a:t>Validar via LOOCV (Precision, Recall, F1).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8A04B"/>
                </a:solidFill>
                <a:latin typeface="Calibri"/>
              </a:rPr>
              <a:t>•  </a:t>
            </a:r>
            <a:r>
              <a:rPr sz="1800" b="0">
                <a:solidFill>
                  <a:srgbClr val="1A232E"/>
                </a:solidFill>
                <a:latin typeface="Calibri"/>
              </a:rPr>
              <a:t>Analisar as regras de maior lift sob a ótica de negócio.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F1B2D"/>
                </a:solidFill>
                <a:latin typeface="Calibri"/>
              </a:rPr>
              <a:t>Justificativa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459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8A04B"/>
                </a:solidFill>
                <a:latin typeface="Calibri"/>
              </a:rPr>
              <a:t>CAPÍTULO 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07008"/>
            <a:ext cx="2194560" cy="38100"/>
          </a:xfrm>
          <a:prstGeom prst="rect">
            <a:avLst/>
          </a:prstGeom>
          <a:solidFill>
            <a:srgbClr val="C8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A6672"/>
                </a:solidFill>
                <a:latin typeface="Calibri"/>
              </a:rPr>
              <a:t>Felipe Pereira  •  Sistema de Recomendação B2B com Regras de Associação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8A04B"/>
                </a:solidFill>
                <a:latin typeface="Calibr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37360"/>
            <a:ext cx="10972800" cy="1325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109728" cy="1325880"/>
          </a:xfrm>
          <a:prstGeom prst="rect">
            <a:avLst/>
          </a:prstGeom>
          <a:solidFill>
            <a:srgbClr val="C8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1737360"/>
            <a:ext cx="246888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0F1B2D"/>
                </a:solidFill>
                <a:latin typeface="Calibri"/>
              </a:rPr>
              <a:t>Acadêmica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1737360"/>
            <a:ext cx="777240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1A232E"/>
                </a:solidFill>
                <a:latin typeface="Calibri"/>
              </a:rPr>
              <a:t>Maioria dos estudos foca B2C de grande volume. Lacuna em B2B esparso, onde a filtragem colaborativa falha.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337560"/>
            <a:ext cx="10972800" cy="1325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3337560"/>
            <a:ext cx="109728" cy="1325880"/>
          </a:xfrm>
          <a:prstGeom prst="rect">
            <a:avLst/>
          </a:prstGeom>
          <a:solidFill>
            <a:srgbClr val="C8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3337560"/>
            <a:ext cx="246888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0F1B2D"/>
                </a:solidFill>
                <a:latin typeface="Calibri"/>
              </a:rPr>
              <a:t>Prática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3337560"/>
            <a:ext cx="777240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1A232E"/>
                </a:solidFill>
                <a:latin typeface="Calibri"/>
              </a:rPr>
              <a:t>Empresa real do autor. Apoia a equipe de vendas com sugestões baseadas em dados, não em intuição.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37760"/>
            <a:ext cx="10972800" cy="1325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0080" y="4937760"/>
            <a:ext cx="109728" cy="1325880"/>
          </a:xfrm>
          <a:prstGeom prst="rect">
            <a:avLst/>
          </a:prstGeom>
          <a:solidFill>
            <a:srgbClr val="C8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0120" y="4937760"/>
            <a:ext cx="246888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0F1B2D"/>
                </a:solidFill>
                <a:latin typeface="Calibri"/>
              </a:rPr>
              <a:t>Técnica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4937760"/>
            <a:ext cx="777240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1A232E"/>
                </a:solidFill>
                <a:latin typeface="Calibri"/>
              </a:rPr>
              <a:t>Arquitetura completa, reproduzível e de baixo custo, viável para pequenas empresas sem Big 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F1B2D"/>
                </a:solidFill>
                <a:latin typeface="Calibri"/>
              </a:rPr>
              <a:t>Regras de associação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459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8A04B"/>
                </a:solidFill>
                <a:latin typeface="Calibri"/>
              </a:rPr>
              <a:t>CAPÍTULO 2  •  MARKET BASKET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07008"/>
            <a:ext cx="2194560" cy="38100"/>
          </a:xfrm>
          <a:prstGeom prst="rect">
            <a:avLst/>
          </a:prstGeom>
          <a:solidFill>
            <a:srgbClr val="C8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A6672"/>
                </a:solidFill>
                <a:latin typeface="Calibri"/>
              </a:rPr>
              <a:t>Felipe Pereira  •  Sistema de Recomendação B2B com Regras de Associação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8A04B"/>
                </a:solidFill>
                <a:latin typeface="Calibr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0">
                <a:solidFill>
                  <a:srgbClr val="1A232E"/>
                </a:solidFill>
                <a:latin typeface="Calibri"/>
              </a:rPr>
              <a:t>Cada pedido é uma cesta; padrão A ⇒ B. Três métricas: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86000"/>
            <a:ext cx="3611880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2286000"/>
            <a:ext cx="3611880" cy="109728"/>
          </a:xfrm>
          <a:prstGeom prst="rect">
            <a:avLst/>
          </a:prstGeom>
          <a:solidFill>
            <a:srgbClr val="C8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606040"/>
            <a:ext cx="3611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0F1B2D"/>
                </a:solidFill>
                <a:latin typeface="Calibri"/>
              </a:rPr>
              <a:t>Support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91840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8A04B"/>
                </a:solidFill>
                <a:latin typeface="Calibri"/>
              </a:rPr>
              <a:t>freq(A∩B) / total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88620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Calibri"/>
              </a:rPr>
              <a:t>Quão comum é o par. Filtra raros.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16552" y="2286000"/>
            <a:ext cx="3611880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416552" y="2286000"/>
            <a:ext cx="3611880" cy="109728"/>
          </a:xfrm>
          <a:prstGeom prst="rect">
            <a:avLst/>
          </a:prstGeom>
          <a:solidFill>
            <a:srgbClr val="C8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16552" y="2606040"/>
            <a:ext cx="3611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0F1B2D"/>
                </a:solidFill>
                <a:latin typeface="Calibri"/>
              </a:rPr>
              <a:t>Confidence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9432" y="3291840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8A04B"/>
                </a:solidFill>
                <a:latin typeface="Calibri"/>
              </a:rPr>
              <a:t>freq(A∩B) / freq(A)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5152" y="388620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Calibri"/>
              </a:rPr>
              <a:t>Dado A, probabilidade de B. Força da regra.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93024" y="2286000"/>
            <a:ext cx="3611880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193024" y="2286000"/>
            <a:ext cx="3611880" cy="109728"/>
          </a:xfrm>
          <a:prstGeom prst="rect">
            <a:avLst/>
          </a:prstGeom>
          <a:solidFill>
            <a:srgbClr val="C8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93024" y="2606040"/>
            <a:ext cx="3611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0F1B2D"/>
                </a:solidFill>
                <a:latin typeface="Calibri"/>
              </a:rPr>
              <a:t>Lift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75904" y="3291840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8A04B"/>
                </a:solidFill>
                <a:latin typeface="Calibri"/>
              </a:rPr>
              <a:t>confidence / support(B)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21624" y="388620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Calibri"/>
              </a:rPr>
              <a:t>&gt; 1 = associação real, não acaso.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F1B2D"/>
                </a:solidFill>
                <a:latin typeface="Calibri"/>
              </a:rPr>
              <a:t>Por que regras de associação?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459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8A04B"/>
                </a:solidFill>
                <a:latin typeface="Calibri"/>
              </a:rPr>
              <a:t>CAPÍTULO 2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07008"/>
            <a:ext cx="2194560" cy="38100"/>
          </a:xfrm>
          <a:prstGeom prst="rect">
            <a:avLst/>
          </a:prstGeom>
          <a:solidFill>
            <a:srgbClr val="C8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A6672"/>
                </a:solidFill>
                <a:latin typeface="Calibri"/>
              </a:rPr>
              <a:t>Felipe Pereira  •  Sistema de Recomendação B2B com Regras de Associação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8A04B"/>
                </a:solidFill>
                <a:latin typeface="Calibri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45920"/>
            <a:ext cx="1097280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1" dirty="0">
                <a:solidFill>
                  <a:srgbClr val="C8A04B"/>
                </a:solidFill>
                <a:latin typeface="Calibri"/>
              </a:rPr>
              <a:t>•  </a:t>
            </a:r>
            <a:r>
              <a:rPr sz="2000" b="1" dirty="0" err="1">
                <a:solidFill>
                  <a:srgbClr val="0F1B2D"/>
                </a:solidFill>
                <a:latin typeface="Calibri"/>
              </a:rPr>
              <a:t>Filtragem</a:t>
            </a:r>
            <a:r>
              <a:rPr sz="2000" b="1" dirty="0">
                <a:solidFill>
                  <a:srgbClr val="0F1B2D"/>
                </a:solidFill>
                <a:latin typeface="Calibri"/>
              </a:rPr>
              <a:t> </a:t>
            </a:r>
            <a:r>
              <a:rPr sz="2000" b="1" dirty="0" err="1">
                <a:solidFill>
                  <a:srgbClr val="0F1B2D"/>
                </a:solidFill>
                <a:latin typeface="Calibri"/>
              </a:rPr>
              <a:t>colaborativa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1A232E"/>
                </a:solidFill>
                <a:latin typeface="Calibri"/>
              </a:rPr>
              <a:t>exige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1A232E"/>
                </a:solidFill>
                <a:latin typeface="Calibri"/>
              </a:rPr>
              <a:t>matriz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1A232E"/>
                </a:solidFill>
                <a:latin typeface="Calibri"/>
              </a:rPr>
              <a:t>usuário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-item </a:t>
            </a:r>
            <a:r>
              <a:rPr sz="2000" b="0" dirty="0" err="1">
                <a:solidFill>
                  <a:srgbClr val="1A232E"/>
                </a:solidFill>
                <a:latin typeface="Calibri"/>
              </a:rPr>
              <a:t>densa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 → </a:t>
            </a:r>
            <a:r>
              <a:rPr sz="2000" b="0" dirty="0" err="1">
                <a:solidFill>
                  <a:srgbClr val="1A232E"/>
                </a:solidFill>
                <a:latin typeface="Calibri"/>
              </a:rPr>
              <a:t>falha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1A232E"/>
                </a:solidFill>
                <a:latin typeface="Calibri"/>
              </a:rPr>
              <a:t>em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 B2B </a:t>
            </a:r>
            <a:r>
              <a:rPr sz="2000" b="0" dirty="0" err="1">
                <a:solidFill>
                  <a:srgbClr val="1A232E"/>
                </a:solidFill>
                <a:latin typeface="Calibri"/>
              </a:rPr>
              <a:t>esparso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1" dirty="0">
                <a:solidFill>
                  <a:srgbClr val="C8A04B"/>
                </a:solidFill>
                <a:latin typeface="Calibri"/>
              </a:rPr>
              <a:t>•  </a:t>
            </a:r>
            <a:r>
              <a:rPr sz="2000" b="1" dirty="0">
                <a:solidFill>
                  <a:srgbClr val="0F1B2D"/>
                </a:solidFill>
                <a:latin typeface="Calibri"/>
              </a:rPr>
              <a:t>Cold start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 e </a:t>
            </a:r>
            <a:r>
              <a:rPr sz="2000" b="0" dirty="0" err="1">
                <a:solidFill>
                  <a:srgbClr val="1A232E"/>
                </a:solidFill>
                <a:latin typeface="Calibri"/>
              </a:rPr>
              <a:t>esparsidade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1A232E"/>
                </a:solidFill>
                <a:latin typeface="Calibri"/>
              </a:rPr>
              <a:t>são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 a </a:t>
            </a:r>
            <a:r>
              <a:rPr sz="2000" b="0" dirty="0" err="1">
                <a:solidFill>
                  <a:srgbClr val="1A232E"/>
                </a:solidFill>
                <a:latin typeface="Calibri"/>
              </a:rPr>
              <a:t>regra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, </a:t>
            </a:r>
            <a:r>
              <a:rPr sz="2000" b="0" dirty="0" err="1">
                <a:solidFill>
                  <a:srgbClr val="1A232E"/>
                </a:solidFill>
                <a:latin typeface="Calibri"/>
              </a:rPr>
              <a:t>não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 a </a:t>
            </a:r>
            <a:r>
              <a:rPr sz="2000" b="0" dirty="0" err="1">
                <a:solidFill>
                  <a:srgbClr val="1A232E"/>
                </a:solidFill>
                <a:latin typeface="Calibri"/>
              </a:rPr>
              <a:t>exceção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, </a:t>
            </a:r>
            <a:r>
              <a:rPr sz="2000" b="0" dirty="0" err="1">
                <a:solidFill>
                  <a:srgbClr val="1A232E"/>
                </a:solidFill>
                <a:latin typeface="Calibri"/>
              </a:rPr>
              <a:t>nesse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1A232E"/>
                </a:solidFill>
                <a:latin typeface="Calibri"/>
              </a:rPr>
              <a:t>cenário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1" dirty="0">
                <a:solidFill>
                  <a:srgbClr val="C8A04B"/>
                </a:solidFill>
                <a:latin typeface="Calibri"/>
              </a:rPr>
              <a:t>•  </a:t>
            </a:r>
            <a:r>
              <a:rPr sz="2000" b="0" dirty="0" err="1">
                <a:solidFill>
                  <a:srgbClr val="1A232E"/>
                </a:solidFill>
                <a:latin typeface="Calibri"/>
              </a:rPr>
              <a:t>Regras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 de </a:t>
            </a:r>
            <a:r>
              <a:rPr sz="2000" b="0" dirty="0" err="1">
                <a:solidFill>
                  <a:srgbClr val="1A232E"/>
                </a:solidFill>
                <a:latin typeface="Calibri"/>
              </a:rPr>
              <a:t>associação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1A232E"/>
                </a:solidFill>
                <a:latin typeface="Calibri"/>
              </a:rPr>
              <a:t>operam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1A232E"/>
                </a:solidFill>
                <a:latin typeface="Calibri"/>
              </a:rPr>
              <a:t>direto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1A232E"/>
                </a:solidFill>
                <a:latin typeface="Calibri"/>
              </a:rPr>
              <a:t>sobre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 </a:t>
            </a:r>
            <a:r>
              <a:rPr sz="2000" b="1" dirty="0">
                <a:solidFill>
                  <a:srgbClr val="0F1B2D"/>
                </a:solidFill>
                <a:latin typeface="Calibri"/>
              </a:rPr>
              <a:t>coocorrência </a:t>
            </a:r>
            <a:r>
              <a:rPr sz="2000" b="1" dirty="0" err="1">
                <a:solidFill>
                  <a:srgbClr val="0F1B2D"/>
                </a:solidFill>
                <a:latin typeface="Calibri"/>
              </a:rPr>
              <a:t>em</a:t>
            </a:r>
            <a:r>
              <a:rPr sz="2000" b="1" dirty="0">
                <a:solidFill>
                  <a:srgbClr val="0F1B2D"/>
                </a:solidFill>
                <a:latin typeface="Calibri"/>
              </a:rPr>
              <a:t> </a:t>
            </a:r>
            <a:r>
              <a:rPr sz="2000" b="1" dirty="0" err="1">
                <a:solidFill>
                  <a:srgbClr val="0F1B2D"/>
                </a:solidFill>
                <a:latin typeface="Calibri"/>
              </a:rPr>
              <a:t>transações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: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700" b="1" dirty="0">
                <a:solidFill>
                  <a:srgbClr val="C8A04B"/>
                </a:solidFill>
                <a:latin typeface="Calibri"/>
              </a:rPr>
              <a:t>–  </a:t>
            </a:r>
            <a:r>
              <a:rPr sz="1700" b="0" dirty="0" err="1">
                <a:solidFill>
                  <a:srgbClr val="5A6672"/>
                </a:solidFill>
                <a:latin typeface="Calibri"/>
              </a:rPr>
              <a:t>Não</a:t>
            </a:r>
            <a:r>
              <a:rPr sz="1700" b="0" dirty="0">
                <a:solidFill>
                  <a:srgbClr val="5A6672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5A6672"/>
                </a:solidFill>
                <a:latin typeface="Calibri"/>
              </a:rPr>
              <a:t>precisam</a:t>
            </a:r>
            <a:r>
              <a:rPr sz="1700" b="0" dirty="0">
                <a:solidFill>
                  <a:srgbClr val="5A6672"/>
                </a:solidFill>
                <a:latin typeface="Calibri"/>
              </a:rPr>
              <a:t> de </a:t>
            </a:r>
            <a:r>
              <a:rPr sz="1700" b="0" dirty="0" err="1">
                <a:solidFill>
                  <a:srgbClr val="5A6672"/>
                </a:solidFill>
                <a:latin typeface="Calibri"/>
              </a:rPr>
              <a:t>notas</a:t>
            </a:r>
            <a:r>
              <a:rPr sz="1700" b="0" dirty="0">
                <a:solidFill>
                  <a:srgbClr val="5A6672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5A6672"/>
                </a:solidFill>
                <a:latin typeface="Calibri"/>
              </a:rPr>
              <a:t>nem</a:t>
            </a:r>
            <a:r>
              <a:rPr sz="1700" b="0" dirty="0">
                <a:solidFill>
                  <a:srgbClr val="5A6672"/>
                </a:solidFill>
                <a:latin typeface="Calibri"/>
              </a:rPr>
              <a:t> de </a:t>
            </a:r>
            <a:r>
              <a:rPr sz="1700" b="0" dirty="0" err="1">
                <a:solidFill>
                  <a:srgbClr val="5A6672"/>
                </a:solidFill>
                <a:latin typeface="Calibri"/>
              </a:rPr>
              <a:t>muitos</a:t>
            </a:r>
            <a:r>
              <a:rPr sz="1700" b="0" dirty="0">
                <a:solidFill>
                  <a:srgbClr val="5A6672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5A6672"/>
                </a:solidFill>
                <a:latin typeface="Calibri"/>
              </a:rPr>
              <a:t>clientes</a:t>
            </a:r>
            <a:endParaRPr sz="1700" b="0" dirty="0">
              <a:solidFill>
                <a:srgbClr val="5A6672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700" b="1" dirty="0">
                <a:solidFill>
                  <a:srgbClr val="C8A04B"/>
                </a:solidFill>
                <a:latin typeface="Calibri"/>
              </a:rPr>
              <a:t>–  </a:t>
            </a:r>
            <a:r>
              <a:rPr sz="1700" b="0" dirty="0" err="1">
                <a:solidFill>
                  <a:srgbClr val="5A6672"/>
                </a:solidFill>
                <a:latin typeface="Calibri"/>
              </a:rPr>
              <a:t>Resultado</a:t>
            </a:r>
            <a:r>
              <a:rPr sz="1700" b="0" dirty="0">
                <a:solidFill>
                  <a:srgbClr val="5A6672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5A6672"/>
                </a:solidFill>
                <a:latin typeface="Calibri"/>
              </a:rPr>
              <a:t>interpretável</a:t>
            </a:r>
            <a:r>
              <a:rPr sz="1700" b="0" dirty="0">
                <a:solidFill>
                  <a:srgbClr val="5A6672"/>
                </a:solidFill>
                <a:latin typeface="Calibri"/>
              </a:rPr>
              <a:t> pela </a:t>
            </a:r>
            <a:r>
              <a:rPr sz="1700" b="0" dirty="0" err="1">
                <a:solidFill>
                  <a:srgbClr val="5A6672"/>
                </a:solidFill>
                <a:latin typeface="Calibri"/>
              </a:rPr>
              <a:t>equipe</a:t>
            </a:r>
            <a:r>
              <a:rPr sz="1700" b="0" dirty="0">
                <a:solidFill>
                  <a:srgbClr val="5A6672"/>
                </a:solidFill>
                <a:latin typeface="Calibri"/>
              </a:rPr>
              <a:t> de </a:t>
            </a:r>
            <a:r>
              <a:rPr sz="1700" b="0" dirty="0" err="1">
                <a:solidFill>
                  <a:srgbClr val="5A6672"/>
                </a:solidFill>
                <a:latin typeface="Calibri"/>
              </a:rPr>
              <a:t>vendas</a:t>
            </a:r>
            <a:endParaRPr sz="1700" b="0" dirty="0">
              <a:solidFill>
                <a:srgbClr val="5A6672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700" b="1" dirty="0">
                <a:solidFill>
                  <a:srgbClr val="C8A04B"/>
                </a:solidFill>
                <a:latin typeface="Calibri"/>
              </a:rPr>
              <a:t>–  </a:t>
            </a:r>
            <a:r>
              <a:rPr sz="1700" b="0" dirty="0" err="1">
                <a:solidFill>
                  <a:srgbClr val="5A6672"/>
                </a:solidFill>
                <a:latin typeface="Calibri"/>
              </a:rPr>
              <a:t>Baixo</a:t>
            </a:r>
            <a:r>
              <a:rPr sz="1700" b="0" dirty="0">
                <a:solidFill>
                  <a:srgbClr val="5A6672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5A6672"/>
                </a:solidFill>
                <a:latin typeface="Calibri"/>
              </a:rPr>
              <a:t>custo</a:t>
            </a:r>
            <a:r>
              <a:rPr sz="1700" b="0" dirty="0">
                <a:solidFill>
                  <a:srgbClr val="5A6672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5A6672"/>
                </a:solidFill>
                <a:latin typeface="Calibri"/>
              </a:rPr>
              <a:t>computacional</a:t>
            </a:r>
            <a:r>
              <a:rPr sz="1700" b="0" dirty="0">
                <a:solidFill>
                  <a:srgbClr val="5A6672"/>
                </a:solidFill>
                <a:latin typeface="Calibri"/>
              </a:rPr>
              <a:t> no volume </a:t>
            </a:r>
            <a:r>
              <a:rPr sz="1700" b="0" dirty="0" err="1">
                <a:solidFill>
                  <a:srgbClr val="5A6672"/>
                </a:solidFill>
                <a:latin typeface="Calibri"/>
              </a:rPr>
              <a:t>estudado</a:t>
            </a:r>
            <a:endParaRPr sz="1700" b="0" dirty="0">
              <a:solidFill>
                <a:srgbClr val="5A6672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1" dirty="0">
                <a:solidFill>
                  <a:srgbClr val="C8A04B"/>
                </a:solidFill>
                <a:latin typeface="Calibri"/>
              </a:rPr>
              <a:t>•  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Lacuna </a:t>
            </a:r>
            <a:r>
              <a:rPr sz="2000" b="0" dirty="0" err="1">
                <a:solidFill>
                  <a:srgbClr val="1A232E"/>
                </a:solidFill>
                <a:latin typeface="Calibri"/>
              </a:rPr>
              <a:t>acadêmica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: </a:t>
            </a:r>
            <a:r>
              <a:rPr sz="2000" b="0" dirty="0" err="1">
                <a:solidFill>
                  <a:srgbClr val="1A232E"/>
                </a:solidFill>
                <a:latin typeface="Calibri"/>
              </a:rPr>
              <a:t>maioria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 dos </a:t>
            </a:r>
            <a:r>
              <a:rPr sz="2000" b="0" dirty="0" err="1">
                <a:solidFill>
                  <a:srgbClr val="1A232E"/>
                </a:solidFill>
                <a:latin typeface="Calibri"/>
              </a:rPr>
              <a:t>estudos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1A232E"/>
                </a:solidFill>
                <a:latin typeface="Calibri"/>
              </a:rPr>
              <a:t>foca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 B2C de </a:t>
            </a:r>
            <a:r>
              <a:rPr sz="2000" b="1" dirty="0" err="1">
                <a:solidFill>
                  <a:srgbClr val="0F1B2D"/>
                </a:solidFill>
                <a:latin typeface="Calibri"/>
              </a:rPr>
              <a:t>grande</a:t>
            </a:r>
            <a:r>
              <a:rPr sz="2000" b="1" dirty="0">
                <a:solidFill>
                  <a:srgbClr val="0F1B2D"/>
                </a:solidFill>
                <a:latin typeface="Calibri"/>
              </a:rPr>
              <a:t> volume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F1B2D"/>
                </a:solidFill>
                <a:latin typeface="Calibri"/>
              </a:rPr>
              <a:t>Metodologia e dados reais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459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8A04B"/>
                </a:solidFill>
                <a:latin typeface="Calibri"/>
              </a:rPr>
              <a:t>CAPÍTULO 3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07008"/>
            <a:ext cx="2194560" cy="38100"/>
          </a:xfrm>
          <a:prstGeom prst="rect">
            <a:avLst/>
          </a:prstGeom>
          <a:solidFill>
            <a:srgbClr val="C8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A6672"/>
                </a:solidFill>
                <a:latin typeface="Calibri"/>
              </a:rPr>
              <a:t>Felipe Pereira  •  Sistema de Recomendação B2B com Regras de Associação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8A04B"/>
                </a:solidFill>
                <a:latin typeface="Calibri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C8A04B"/>
                </a:solidFill>
                <a:latin typeface="Calibri"/>
              </a:rPr>
              <a:t>•  </a:t>
            </a:r>
            <a:r>
              <a:rPr sz="2000" b="0">
                <a:solidFill>
                  <a:srgbClr val="1A232E"/>
                </a:solidFill>
                <a:latin typeface="Calibri"/>
              </a:rPr>
              <a:t>Pesquisa </a:t>
            </a:r>
            <a:r>
              <a:rPr sz="2000" b="1">
                <a:solidFill>
                  <a:srgbClr val="0F1B2D"/>
                </a:solidFill>
                <a:latin typeface="Calibri"/>
              </a:rPr>
              <a:t>aplicada</a:t>
            </a:r>
            <a:r>
              <a:rPr sz="2000" b="0">
                <a:solidFill>
                  <a:srgbClr val="1A232E"/>
                </a:solidFill>
                <a:latin typeface="Calibri"/>
              </a:rPr>
              <a:t>, quantitativa, estudo de caso único.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C8A04B"/>
                </a:solidFill>
                <a:latin typeface="Calibri"/>
              </a:rPr>
              <a:t>•  </a:t>
            </a:r>
            <a:r>
              <a:rPr sz="2000" b="0">
                <a:solidFill>
                  <a:srgbClr val="1A232E"/>
                </a:solidFill>
                <a:latin typeface="Calibri"/>
              </a:rPr>
              <a:t>Método: </a:t>
            </a:r>
            <a:r>
              <a:rPr sz="2000" b="1">
                <a:solidFill>
                  <a:srgbClr val="0F1B2D"/>
                </a:solidFill>
                <a:latin typeface="Calibri"/>
              </a:rPr>
              <a:t>Design Science Research</a:t>
            </a:r>
            <a:r>
              <a:rPr sz="2000" b="0">
                <a:solidFill>
                  <a:srgbClr val="1A232E"/>
                </a:solidFill>
                <a:latin typeface="Calibri"/>
              </a:rPr>
              <a:t> (artefato + avaliação).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C8A04B"/>
                </a:solidFill>
                <a:latin typeface="Calibri"/>
              </a:rPr>
              <a:t>•  </a:t>
            </a:r>
            <a:r>
              <a:rPr sz="2000" b="0">
                <a:solidFill>
                  <a:srgbClr val="1A232E"/>
                </a:solidFill>
                <a:latin typeface="Calibri"/>
              </a:rPr>
              <a:t>Dados reais de venda da Quasar Barber: 29/04 a 18/06/2026.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023360"/>
            <a:ext cx="2148840" cy="155448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4251960"/>
            <a:ext cx="2148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C8A04B"/>
                </a:solidFill>
                <a:latin typeface="Calibri"/>
              </a:rPr>
              <a:t>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transações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98648" y="4023360"/>
            <a:ext cx="2148840" cy="155448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898648" y="4251960"/>
            <a:ext cx="2148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C8A04B"/>
                </a:solidFill>
                <a:latin typeface="Calibri"/>
              </a:rPr>
              <a:t>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98648" y="5074920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clientes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216" y="4023360"/>
            <a:ext cx="2148840" cy="155448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57216" y="4251960"/>
            <a:ext cx="2148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C8A04B"/>
                </a:solidFill>
                <a:latin typeface="Calibri"/>
              </a:rPr>
              <a:t>29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216" y="5074920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produtos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15784" y="4023360"/>
            <a:ext cx="2148840" cy="155448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15784" y="4251960"/>
            <a:ext cx="2148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C8A04B"/>
                </a:solidFill>
                <a:latin typeface="Calibri"/>
              </a:rPr>
              <a:t>52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15784" y="5074920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itens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74352" y="4023360"/>
            <a:ext cx="2148840" cy="155448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74352" y="4251960"/>
            <a:ext cx="2148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C8A04B"/>
                </a:solidFill>
                <a:latin typeface="Calibri"/>
              </a:rPr>
              <a:t>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74352" y="5074920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multi-item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Calibri"/>
              </a:rPr>
              <a:t>Apenas 14 cestas multi-item geram regras — a esparsidade é intrínseca ao B2B.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F1B2D"/>
                </a:solidFill>
                <a:latin typeface="Calibri"/>
              </a:rPr>
              <a:t>Arquitetura do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459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8A04B"/>
                </a:solidFill>
                <a:latin typeface="Calibri"/>
              </a:rPr>
              <a:t>CAPÍTULO 4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07008"/>
            <a:ext cx="2194560" cy="38100"/>
          </a:xfrm>
          <a:prstGeom prst="rect">
            <a:avLst/>
          </a:prstGeom>
          <a:solidFill>
            <a:srgbClr val="C8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A6672"/>
                </a:solidFill>
                <a:latin typeface="Calibri"/>
              </a:rPr>
              <a:t>Felipe Pereira  •  Sistema de Recomendação B2B com Regras de Associação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8A04B"/>
                </a:solidFill>
                <a:latin typeface="Calibri"/>
              </a:rPr>
              <a:t>10</a:t>
            </a:r>
          </a:p>
        </p:txBody>
      </p:sp>
      <p:pic>
        <p:nvPicPr>
          <p:cNvPr id="9" name="Picture 8" descr="figura1-arquitet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5577" y="1508760"/>
            <a:ext cx="6701246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F1B2D"/>
                </a:solidFill>
                <a:latin typeface="Calibri"/>
              </a:rPr>
              <a:t>Protocolo de validação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459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8A04B"/>
                </a:solidFill>
                <a:latin typeface="Calibri"/>
              </a:rPr>
              <a:t>CAPÍTULO 3  •  POR QUE LOOCV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07008"/>
            <a:ext cx="2194560" cy="38100"/>
          </a:xfrm>
          <a:prstGeom prst="rect">
            <a:avLst/>
          </a:prstGeom>
          <a:solidFill>
            <a:srgbClr val="C8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A6672"/>
                </a:solidFill>
                <a:latin typeface="Calibri"/>
              </a:rPr>
              <a:t>Felipe Pereira  •  Sistema de Recomendação B2B com Regras de Associação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8A04B"/>
                </a:solidFill>
                <a:latin typeface="Calibr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45920"/>
            <a:ext cx="1097280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1">
                <a:solidFill>
                  <a:srgbClr val="C8A04B"/>
                </a:solidFill>
                <a:latin typeface="Calibri"/>
              </a:rPr>
              <a:t>•  </a:t>
            </a:r>
            <a:r>
              <a:rPr sz="1900" b="1">
                <a:solidFill>
                  <a:srgbClr val="0F1B2D"/>
                </a:solidFill>
                <a:latin typeface="Calibri"/>
              </a:rPr>
              <a:t>Holdout 80/20 descartado:</a:t>
            </a:r>
            <a:r>
              <a:rPr sz="1900" b="0">
                <a:solidFill>
                  <a:srgbClr val="1A232E"/>
                </a:solidFill>
                <a:latin typeface="Calibri"/>
              </a:rPr>
              <a:t> em 30 transações, sobram só </a:t>
            </a:r>
            <a:r>
              <a:rPr sz="1900" b="1">
                <a:solidFill>
                  <a:srgbClr val="0F1B2D"/>
                </a:solidFill>
                <a:latin typeface="Calibri"/>
              </a:rPr>
              <a:t>3</a:t>
            </a:r>
            <a:r>
              <a:rPr sz="1900" b="0">
                <a:solidFill>
                  <a:srgbClr val="1A232E"/>
                </a:solidFill>
                <a:latin typeface="Calibri"/>
              </a:rPr>
              <a:t> cestas avaliáveis no teste → instável.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1">
                <a:solidFill>
                  <a:srgbClr val="C8A04B"/>
                </a:solidFill>
                <a:latin typeface="Calibri"/>
              </a:rPr>
              <a:t>•  </a:t>
            </a:r>
            <a:r>
              <a:rPr sz="1900" b="1">
                <a:solidFill>
                  <a:srgbClr val="0F1B2D"/>
                </a:solidFill>
                <a:latin typeface="Calibri"/>
              </a:rPr>
              <a:t>LOOCV (Leave-One-Out):</a:t>
            </a:r>
            <a:r>
              <a:rPr sz="1900" b="0">
                <a:solidFill>
                  <a:srgbClr val="1A232E"/>
                </a:solidFill>
                <a:latin typeface="Calibri"/>
              </a:rPr>
              <a:t> N rodadas, treina com N-1, testa 1. Aproveita todos os dados.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1">
                <a:solidFill>
                  <a:srgbClr val="C8A04B"/>
                </a:solidFill>
                <a:latin typeface="Calibri"/>
              </a:rPr>
              <a:t>•  </a:t>
            </a:r>
            <a:r>
              <a:rPr sz="1900" b="0">
                <a:solidFill>
                  <a:srgbClr val="1A232E"/>
                </a:solidFill>
                <a:latin typeface="Calibri"/>
              </a:rPr>
              <a:t>Esquema </a:t>
            </a:r>
            <a:r>
              <a:rPr sz="1900" b="1">
                <a:solidFill>
                  <a:srgbClr val="0F1B2D"/>
                </a:solidFill>
                <a:latin typeface="Calibri"/>
              </a:rPr>
              <a:t>esconder-1-item</a:t>
            </a:r>
            <a:r>
              <a:rPr sz="1900" b="0">
                <a:solidFill>
                  <a:srgbClr val="1A232E"/>
                </a:solidFill>
                <a:latin typeface="Calibri"/>
              </a:rPr>
              <a:t>: oculta um produto da cesta, sistema tenta recuperá-lo no Top-3.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1">
                <a:solidFill>
                  <a:srgbClr val="C8A04B"/>
                </a:solidFill>
                <a:latin typeface="Calibri"/>
              </a:rPr>
              <a:t>•  </a:t>
            </a:r>
            <a:r>
              <a:rPr sz="1900" b="1">
                <a:solidFill>
                  <a:srgbClr val="0F1B2D"/>
                </a:solidFill>
                <a:latin typeface="Calibri"/>
              </a:rPr>
              <a:t>Teto da Precision = 1/N ≈ 0,33:</a:t>
            </a:r>
            <a:r>
              <a:rPr sz="1900" b="0">
                <a:solidFill>
                  <a:srgbClr val="1A232E"/>
                </a:solidFill>
                <a:latin typeface="Calibri"/>
              </a:rPr>
              <a:t> 1 produto a achar, até 3 recomendados.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C8A04B"/>
                </a:solidFill>
                <a:latin typeface="Calibri"/>
              </a:rPr>
              <a:t>–  </a:t>
            </a:r>
            <a:r>
              <a:rPr sz="1600" b="0">
                <a:solidFill>
                  <a:srgbClr val="5A6672"/>
                </a:solidFill>
                <a:latin typeface="Calibri"/>
              </a:rPr>
              <a:t>→ Recall e F1 são os indicadores mais informativos.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F1B2D"/>
                </a:solidFill>
                <a:latin typeface="Calibri"/>
              </a:rPr>
              <a:t>Resultados: regras descobertas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459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8A04B"/>
                </a:solidFill>
                <a:latin typeface="Calibri"/>
              </a:rPr>
              <a:t>CAPÍTULO 5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07008"/>
            <a:ext cx="2194560" cy="38100"/>
          </a:xfrm>
          <a:prstGeom prst="rect">
            <a:avLst/>
          </a:prstGeom>
          <a:solidFill>
            <a:srgbClr val="C8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A6672"/>
                </a:solidFill>
                <a:latin typeface="Calibri"/>
              </a:rPr>
              <a:t>Felipe Pereira  •  Sistema de Recomendação B2B com Regras de Associação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8A04B"/>
                </a:solidFill>
                <a:latin typeface="Calibr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7680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C8A04B"/>
                </a:solidFill>
                <a:latin typeface="Calibri"/>
              </a:rPr>
              <a:t>44 regras geradas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1A232E"/>
                </a:solidFill>
                <a:latin typeface="Calibri"/>
              </a:rPr>
              <a:t>confiança média 76,51%  •  lift médio 12,41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120640"/>
            <a:ext cx="7680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A6672"/>
                </a:solidFill>
                <a:latin typeface="Calibri"/>
              </a:rPr>
              <a:t>Lift alto coincide com baixo suporte (pares raros): interpretar junto ao domínio.</a:t>
            </a:r>
          </a:p>
        </p:txBody>
      </p:sp>
      <p:pic>
        <p:nvPicPr>
          <p:cNvPr id="12" name="Picture 11" descr="figura3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9244" y="484631"/>
            <a:ext cx="3725972" cy="591312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03920" y="6355080"/>
            <a:ext cx="33807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A6672"/>
                </a:solidFill>
                <a:latin typeface="Calibri"/>
              </a:rPr>
              <a:t>Painel do sistema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F1B2D"/>
                </a:solidFill>
                <a:latin typeface="Calibri"/>
              </a:rPr>
              <a:t>Resultados: validação LOOCV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459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8A04B"/>
                </a:solidFill>
                <a:latin typeface="Calibri"/>
              </a:rPr>
              <a:t>CAPÍTULO 5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07008"/>
            <a:ext cx="2194560" cy="38100"/>
          </a:xfrm>
          <a:prstGeom prst="rect">
            <a:avLst/>
          </a:prstGeom>
          <a:solidFill>
            <a:srgbClr val="C8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A6672"/>
                </a:solidFill>
                <a:latin typeface="Calibri"/>
              </a:rPr>
              <a:t>Felipe Pereira  •  Sistema de Recomendação B2B com Regras de Associação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8A04B"/>
                </a:solidFill>
                <a:latin typeface="Calibri"/>
              </a:rP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37360"/>
            <a:ext cx="3611880" cy="210312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3611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Precision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14600"/>
            <a:ext cx="3611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C8A04B"/>
                </a:solidFill>
                <a:latin typeface="Calibri"/>
              </a:rPr>
              <a:t>26,39%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91840"/>
            <a:ext cx="3611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C9CFD6"/>
                </a:solidFill>
                <a:latin typeface="Calibri"/>
              </a:rPr>
              <a:t>próx. ao teto 0,33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16552" y="1737360"/>
            <a:ext cx="3611880" cy="210312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16552" y="1965960"/>
            <a:ext cx="3611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Recall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6552" y="2514600"/>
            <a:ext cx="3611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C8A04B"/>
                </a:solidFill>
                <a:latin typeface="Calibri"/>
              </a:rPr>
              <a:t>44,44%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2" y="3291840"/>
            <a:ext cx="3611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C9CFD6"/>
                </a:solidFill>
                <a:latin typeface="Calibri"/>
              </a:rPr>
              <a:t>16 de 36 sub-testes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93024" y="1737360"/>
            <a:ext cx="3611880" cy="210312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93024" y="1965960"/>
            <a:ext cx="3611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F1-Score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2514600"/>
            <a:ext cx="3611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C8A04B"/>
                </a:solidFill>
                <a:latin typeface="Calibri"/>
              </a:rPr>
              <a:t>31,94%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3291840"/>
            <a:ext cx="3611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C9CFD6"/>
                </a:solidFill>
                <a:latin typeface="Calibri"/>
              </a:rPr>
              <a:t>média harmônica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206240"/>
            <a:ext cx="1097280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C8A04B"/>
                </a:solidFill>
                <a:latin typeface="Calibri"/>
              </a:rPr>
              <a:t>•  </a:t>
            </a:r>
            <a:r>
              <a:rPr sz="1800" b="0">
                <a:solidFill>
                  <a:srgbClr val="1A232E"/>
                </a:solidFill>
                <a:latin typeface="Calibri"/>
              </a:rPr>
              <a:t>14 transações avaliadas, 36 sub-testes acumulados.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C8A04B"/>
                </a:solidFill>
                <a:latin typeface="Calibri"/>
              </a:rPr>
              <a:t>•  </a:t>
            </a:r>
            <a:r>
              <a:rPr sz="1800" b="0">
                <a:solidFill>
                  <a:srgbClr val="1A232E"/>
                </a:solidFill>
                <a:latin typeface="Calibri"/>
              </a:rPr>
              <a:t>Recall 44,44%: cesta completada em quase metade dos casos, sem notas de produto.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C8A04B"/>
                </a:solidFill>
                <a:latin typeface="Calibri"/>
              </a:rPr>
              <a:t>•  </a:t>
            </a:r>
            <a:r>
              <a:rPr sz="1800" b="0">
                <a:solidFill>
                  <a:srgbClr val="1A232E"/>
                </a:solidFill>
                <a:latin typeface="Calibri"/>
              </a:rPr>
              <a:t>Holdout 80/20 daria só 22,22% sobre 3 casos → LOOCV é mais robusto.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F1B2D"/>
                </a:solidFill>
                <a:latin typeface="Calibri"/>
              </a:rPr>
              <a:t>Aderência ao domínio e hipótese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459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8A04B"/>
                </a:solidFill>
                <a:latin typeface="Calibri"/>
              </a:rPr>
              <a:t>CAPÍTULO 5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07008"/>
            <a:ext cx="2194560" cy="38100"/>
          </a:xfrm>
          <a:prstGeom prst="rect">
            <a:avLst/>
          </a:prstGeom>
          <a:solidFill>
            <a:srgbClr val="C8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A6672"/>
                </a:solidFill>
                <a:latin typeface="Calibri"/>
              </a:rPr>
              <a:t>Felipe Pereira  •  Sistema de Recomendação B2B com Regras de Associação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8A04B"/>
                </a:solidFill>
                <a:latin typeface="Calibr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150810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900" b="1" dirty="0">
                <a:solidFill>
                  <a:srgbClr val="C8A04B"/>
                </a:solidFill>
                <a:latin typeface="Calibri"/>
              </a:rPr>
              <a:t>•  </a:t>
            </a:r>
            <a:r>
              <a:rPr sz="1900" b="0" dirty="0" err="1">
                <a:solidFill>
                  <a:srgbClr val="1A232E"/>
                </a:solidFill>
                <a:latin typeface="Calibri"/>
              </a:rPr>
              <a:t>Regras</a:t>
            </a:r>
            <a:r>
              <a:rPr sz="1900" b="0" dirty="0">
                <a:solidFill>
                  <a:srgbClr val="1A232E"/>
                </a:solidFill>
                <a:latin typeface="Calibri"/>
              </a:rPr>
              <a:t> de </a:t>
            </a:r>
            <a:r>
              <a:rPr sz="1900" b="0" dirty="0" err="1">
                <a:solidFill>
                  <a:srgbClr val="1A232E"/>
                </a:solidFill>
                <a:latin typeface="Calibri"/>
              </a:rPr>
              <a:t>maior</a:t>
            </a:r>
            <a:r>
              <a:rPr sz="1900" b="0" dirty="0">
                <a:solidFill>
                  <a:srgbClr val="1A232E"/>
                </a:solidFill>
                <a:latin typeface="Calibri"/>
              </a:rPr>
              <a:t> lift </a:t>
            </a:r>
            <a:r>
              <a:rPr sz="1900" b="0" dirty="0" err="1">
                <a:solidFill>
                  <a:srgbClr val="1A232E"/>
                </a:solidFill>
                <a:latin typeface="Calibri"/>
              </a:rPr>
              <a:t>fazem</a:t>
            </a:r>
            <a:r>
              <a:rPr sz="1900" b="0" dirty="0">
                <a:solidFill>
                  <a:srgbClr val="1A232E"/>
                </a:solidFill>
                <a:latin typeface="Calibri"/>
              </a:rPr>
              <a:t> </a:t>
            </a:r>
            <a:r>
              <a:rPr sz="1900" b="1" dirty="0" err="1">
                <a:solidFill>
                  <a:srgbClr val="0F1B2D"/>
                </a:solidFill>
                <a:latin typeface="Calibri"/>
              </a:rPr>
              <a:t>sentido</a:t>
            </a:r>
            <a:r>
              <a:rPr sz="1900" b="1" dirty="0">
                <a:solidFill>
                  <a:srgbClr val="0F1B2D"/>
                </a:solidFill>
                <a:latin typeface="Calibri"/>
              </a:rPr>
              <a:t> </a:t>
            </a:r>
            <a:r>
              <a:rPr sz="1900" b="1" dirty="0" err="1">
                <a:solidFill>
                  <a:srgbClr val="0F1B2D"/>
                </a:solidFill>
                <a:latin typeface="Calibri"/>
              </a:rPr>
              <a:t>comercial</a:t>
            </a:r>
            <a:r>
              <a:rPr sz="1900" b="0" dirty="0">
                <a:solidFill>
                  <a:srgbClr val="1A232E"/>
                </a:solidFill>
                <a:latin typeface="Calibri"/>
              </a:rPr>
              <a:t>: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 dirty="0">
                <a:solidFill>
                  <a:srgbClr val="C8A04B"/>
                </a:solidFill>
                <a:latin typeface="Calibri"/>
              </a:rPr>
              <a:t>–  </a:t>
            </a:r>
            <a:r>
              <a:rPr sz="1600" b="0" dirty="0" err="1">
                <a:solidFill>
                  <a:srgbClr val="5A6672"/>
                </a:solidFill>
                <a:latin typeface="Calibri"/>
              </a:rPr>
              <a:t>Rotina</a:t>
            </a:r>
            <a:r>
              <a:rPr sz="1600" b="0" dirty="0">
                <a:solidFill>
                  <a:srgbClr val="5A6672"/>
                </a:solidFill>
                <a:latin typeface="Calibri"/>
              </a:rPr>
              <a:t> de </a:t>
            </a:r>
            <a:r>
              <a:rPr sz="1600" b="0" dirty="0" err="1">
                <a:solidFill>
                  <a:srgbClr val="5A6672"/>
                </a:solidFill>
                <a:latin typeface="Calibri"/>
              </a:rPr>
              <a:t>barba</a:t>
            </a:r>
            <a:r>
              <a:rPr sz="1600" b="0" dirty="0">
                <a:solidFill>
                  <a:srgbClr val="5A6672"/>
                </a:solidFill>
                <a:latin typeface="Calibri"/>
              </a:rPr>
              <a:t>: shampoo + </a:t>
            </a:r>
            <a:r>
              <a:rPr sz="1600" b="0" dirty="0" err="1">
                <a:solidFill>
                  <a:srgbClr val="5A6672"/>
                </a:solidFill>
                <a:latin typeface="Calibri"/>
              </a:rPr>
              <a:t>óleo</a:t>
            </a:r>
            <a:r>
              <a:rPr sz="1600" b="0" dirty="0">
                <a:solidFill>
                  <a:srgbClr val="5A6672"/>
                </a:solidFill>
                <a:latin typeface="Calibri"/>
              </a:rPr>
              <a:t> + </a:t>
            </a:r>
            <a:r>
              <a:rPr sz="1600" b="0" dirty="0" err="1">
                <a:solidFill>
                  <a:srgbClr val="5A6672"/>
                </a:solidFill>
                <a:latin typeface="Calibri"/>
              </a:rPr>
              <a:t>bálsamo</a:t>
            </a:r>
            <a:r>
              <a:rPr sz="1600" b="0" dirty="0">
                <a:solidFill>
                  <a:srgbClr val="5A6672"/>
                </a:solidFill>
                <a:latin typeface="Calibri"/>
              </a:rPr>
              <a:t> + </a:t>
            </a:r>
            <a:r>
              <a:rPr sz="1600" b="0" dirty="0" err="1">
                <a:solidFill>
                  <a:srgbClr val="5A6672"/>
                </a:solidFill>
                <a:latin typeface="Calibri"/>
              </a:rPr>
              <a:t>pós-barba</a:t>
            </a:r>
            <a:endParaRPr sz="1600" b="0" dirty="0">
              <a:solidFill>
                <a:srgbClr val="5A6672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 dirty="0">
                <a:solidFill>
                  <a:srgbClr val="C8A04B"/>
                </a:solidFill>
                <a:latin typeface="Calibri"/>
              </a:rPr>
              <a:t>–  </a:t>
            </a:r>
            <a:r>
              <a:rPr sz="1600" b="0" dirty="0" err="1">
                <a:solidFill>
                  <a:srgbClr val="5A6672"/>
                </a:solidFill>
                <a:latin typeface="Calibri"/>
              </a:rPr>
              <a:t>Coerência</a:t>
            </a:r>
            <a:r>
              <a:rPr sz="1600" b="0" dirty="0">
                <a:solidFill>
                  <a:srgbClr val="5A6672"/>
                </a:solidFill>
                <a:latin typeface="Calibri"/>
              </a:rPr>
              <a:t> de </a:t>
            </a:r>
            <a:r>
              <a:rPr sz="1600" b="0" dirty="0" err="1">
                <a:solidFill>
                  <a:srgbClr val="5A6672"/>
                </a:solidFill>
                <a:latin typeface="Calibri"/>
              </a:rPr>
              <a:t>marca</a:t>
            </a:r>
            <a:r>
              <a:rPr sz="1600" b="0" dirty="0">
                <a:solidFill>
                  <a:srgbClr val="5A6672"/>
                </a:solidFill>
                <a:latin typeface="Calibri"/>
              </a:rPr>
              <a:t>: </a:t>
            </a:r>
            <a:r>
              <a:rPr sz="1600" b="0" dirty="0" err="1">
                <a:solidFill>
                  <a:srgbClr val="5A6672"/>
                </a:solidFill>
                <a:latin typeface="Calibri"/>
              </a:rPr>
              <a:t>linhas</a:t>
            </a:r>
            <a:r>
              <a:rPr sz="1600" b="0" dirty="0">
                <a:solidFill>
                  <a:srgbClr val="5A6672"/>
                </a:solidFill>
                <a:latin typeface="Calibri"/>
              </a:rPr>
              <a:t> QOD e Fox for Men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 dirty="0">
                <a:solidFill>
                  <a:srgbClr val="C8A04B"/>
                </a:solidFill>
                <a:latin typeface="Calibri"/>
              </a:rPr>
              <a:t>–  </a:t>
            </a:r>
            <a:r>
              <a:rPr sz="1600" b="0" dirty="0" err="1">
                <a:solidFill>
                  <a:srgbClr val="5A6672"/>
                </a:solidFill>
                <a:latin typeface="Calibri"/>
              </a:rPr>
              <a:t>Acessórios</a:t>
            </a:r>
            <a:r>
              <a:rPr sz="1600" b="0" dirty="0">
                <a:solidFill>
                  <a:srgbClr val="5A6672"/>
                </a:solidFill>
                <a:latin typeface="Calibri"/>
              </a:rPr>
              <a:t> de </a:t>
            </a:r>
            <a:r>
              <a:rPr sz="1600" b="0" dirty="0" err="1">
                <a:solidFill>
                  <a:srgbClr val="5A6672"/>
                </a:solidFill>
                <a:latin typeface="Calibri"/>
              </a:rPr>
              <a:t>função</a:t>
            </a:r>
            <a:r>
              <a:rPr sz="1600" b="0" dirty="0">
                <a:solidFill>
                  <a:srgbClr val="5A6672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5A6672"/>
                </a:solidFill>
                <a:latin typeface="Calibri"/>
              </a:rPr>
              <a:t>equivalente</a:t>
            </a:r>
            <a:r>
              <a:rPr sz="1600" b="0" dirty="0">
                <a:solidFill>
                  <a:srgbClr val="5A6672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5A6672"/>
                </a:solidFill>
                <a:latin typeface="Calibri"/>
              </a:rPr>
              <a:t>compr</a:t>
            </a:r>
            <a:r>
              <a:rPr lang="pt-BR" sz="1600" dirty="0">
                <a:solidFill>
                  <a:srgbClr val="5A6672"/>
                </a:solidFill>
                <a:latin typeface="Calibri"/>
              </a:rPr>
              <a:t>ados</a:t>
            </a:r>
            <a:r>
              <a:rPr sz="1600" b="0" dirty="0">
                <a:solidFill>
                  <a:srgbClr val="5A6672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5A6672"/>
                </a:solidFill>
                <a:latin typeface="Calibri"/>
              </a:rPr>
              <a:t>juntos</a:t>
            </a:r>
            <a:endParaRPr sz="1600" b="0" dirty="0">
              <a:solidFill>
                <a:srgbClr val="5A6672"/>
              </a:solidFill>
              <a:latin typeface="Calibri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40080" y="4023360"/>
            <a:ext cx="10972800" cy="192024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1042416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C8A04B"/>
                </a:solidFill>
                <a:latin typeface="Calibri"/>
              </a:rPr>
              <a:t>H1 não rejeitada.  </a:t>
            </a:r>
            <a:r>
              <a:rPr sz="1800" b="0">
                <a:solidFill>
                  <a:srgbClr val="FFFFFF"/>
                </a:solidFill>
                <a:latin typeface="Calibri"/>
              </a:rPr>
              <a:t>Lift médio 12,41 ≫ 1 afasta o acaso; pares de maior lift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não coincidem com os mais vendidos → carregam informação além da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frequência, contrariando H0 (baseline de popularidade).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dirty="0" err="1">
                <a:solidFill>
                  <a:srgbClr val="0F1B2D"/>
                </a:solidFill>
                <a:latin typeface="Calibri"/>
              </a:rPr>
              <a:t>Conclusão</a:t>
            </a:r>
            <a:endParaRPr sz="3000" b="1" dirty="0">
              <a:solidFill>
                <a:srgbClr val="0F1B2D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16459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8A04B"/>
                </a:solidFill>
                <a:latin typeface="Calibri"/>
              </a:rPr>
              <a:t>CAPÍTULO 6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07008"/>
            <a:ext cx="2194560" cy="38100"/>
          </a:xfrm>
          <a:prstGeom prst="rect">
            <a:avLst/>
          </a:prstGeom>
          <a:solidFill>
            <a:srgbClr val="C8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A6672"/>
                </a:solidFill>
                <a:latin typeface="Calibri"/>
              </a:rPr>
              <a:t>Felipe Pereira  •  Sistema de Recomendação B2B com Regras de Associação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8A04B"/>
                </a:solidFill>
                <a:latin typeface="Calibr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45920"/>
            <a:ext cx="1097280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dirty="0">
                <a:solidFill>
                  <a:srgbClr val="C8A04B"/>
                </a:solidFill>
                <a:latin typeface="Calibri"/>
              </a:rPr>
              <a:t>•  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Sim: </a:t>
            </a:r>
            <a:r>
              <a:rPr sz="2000" b="0" dirty="0" err="1">
                <a:solidFill>
                  <a:srgbClr val="1A232E"/>
                </a:solidFill>
                <a:latin typeface="Calibri"/>
              </a:rPr>
              <a:t>regras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 de </a:t>
            </a:r>
            <a:r>
              <a:rPr sz="2000" b="0" dirty="0" err="1">
                <a:solidFill>
                  <a:srgbClr val="1A232E"/>
                </a:solidFill>
                <a:latin typeface="Calibri"/>
              </a:rPr>
              <a:t>associação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1A232E"/>
                </a:solidFill>
                <a:latin typeface="Calibri"/>
              </a:rPr>
              <a:t>geram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1A232E"/>
                </a:solidFill>
                <a:latin typeface="Calibri"/>
              </a:rPr>
              <a:t>recomendações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1A232E"/>
                </a:solidFill>
                <a:latin typeface="Calibri"/>
              </a:rPr>
              <a:t>relevantes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1A232E"/>
                </a:solidFill>
                <a:latin typeface="Calibri"/>
              </a:rPr>
              <a:t>em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 B2B de </a:t>
            </a:r>
            <a:r>
              <a:rPr sz="2000" b="0" dirty="0" err="1">
                <a:solidFill>
                  <a:srgbClr val="1A232E"/>
                </a:solidFill>
                <a:latin typeface="Calibri"/>
              </a:rPr>
              <a:t>baixo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 volume — </a:t>
            </a:r>
            <a:r>
              <a:rPr sz="2000" b="1" dirty="0">
                <a:solidFill>
                  <a:srgbClr val="0F1B2D"/>
                </a:solidFill>
                <a:latin typeface="Calibri"/>
              </a:rPr>
              <a:t>com </a:t>
            </a:r>
            <a:r>
              <a:rPr sz="2000" b="1" dirty="0" err="1">
                <a:solidFill>
                  <a:srgbClr val="0F1B2D"/>
                </a:solidFill>
                <a:latin typeface="Calibri"/>
              </a:rPr>
              <a:t>ressalva</a:t>
            </a:r>
            <a:r>
              <a:rPr sz="2000" b="1" dirty="0">
                <a:solidFill>
                  <a:srgbClr val="0F1B2D"/>
                </a:solidFill>
                <a:latin typeface="Calibri"/>
              </a:rPr>
              <a:t> de </a:t>
            </a:r>
            <a:r>
              <a:rPr sz="2000" b="1" dirty="0" err="1">
                <a:solidFill>
                  <a:srgbClr val="0F1B2D"/>
                </a:solidFill>
                <a:latin typeface="Calibri"/>
              </a:rPr>
              <a:t>escala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dirty="0">
                <a:solidFill>
                  <a:srgbClr val="C8A04B"/>
                </a:solidFill>
                <a:latin typeface="Calibri"/>
              </a:rPr>
              <a:t>•  </a:t>
            </a:r>
            <a:r>
              <a:rPr sz="2000" b="0" dirty="0" err="1">
                <a:solidFill>
                  <a:srgbClr val="1A232E"/>
                </a:solidFill>
                <a:latin typeface="Calibri"/>
              </a:rPr>
              <a:t>Artefato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 </a:t>
            </a:r>
            <a:r>
              <a:rPr sz="2000" b="1" dirty="0" err="1">
                <a:solidFill>
                  <a:srgbClr val="0F1B2D"/>
                </a:solidFill>
                <a:latin typeface="Calibri"/>
              </a:rPr>
              <a:t>completo</a:t>
            </a:r>
            <a:r>
              <a:rPr sz="2000" b="1" dirty="0">
                <a:solidFill>
                  <a:srgbClr val="0F1B2D"/>
                </a:solidFill>
                <a:latin typeface="Calibri"/>
              </a:rPr>
              <a:t> e </a:t>
            </a:r>
            <a:r>
              <a:rPr sz="2000" b="1" dirty="0" err="1">
                <a:solidFill>
                  <a:srgbClr val="0F1B2D"/>
                </a:solidFill>
                <a:latin typeface="Calibri"/>
              </a:rPr>
              <a:t>reproduzível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, de </a:t>
            </a:r>
            <a:r>
              <a:rPr sz="2000" b="0" dirty="0" err="1">
                <a:solidFill>
                  <a:srgbClr val="1A232E"/>
                </a:solidFill>
                <a:latin typeface="Calibri"/>
              </a:rPr>
              <a:t>baixo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1A232E"/>
                </a:solidFill>
                <a:latin typeface="Calibri"/>
              </a:rPr>
              <a:t>custo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, </a:t>
            </a:r>
            <a:r>
              <a:rPr sz="2000" b="0" dirty="0" err="1">
                <a:solidFill>
                  <a:srgbClr val="1A232E"/>
                </a:solidFill>
                <a:latin typeface="Calibri"/>
              </a:rPr>
              <a:t>sobre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 dados reais.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dirty="0">
                <a:solidFill>
                  <a:srgbClr val="C8A04B"/>
                </a:solidFill>
                <a:latin typeface="Calibri"/>
              </a:rPr>
              <a:t>•  </a:t>
            </a:r>
            <a:r>
              <a:rPr sz="2000" b="0" dirty="0" err="1">
                <a:solidFill>
                  <a:srgbClr val="1A232E"/>
                </a:solidFill>
                <a:latin typeface="Calibri"/>
              </a:rPr>
              <a:t>Contribuição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1A232E"/>
                </a:solidFill>
                <a:latin typeface="Calibri"/>
              </a:rPr>
              <a:t>metodológica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: </a:t>
            </a:r>
            <a:r>
              <a:rPr sz="2000" b="1" dirty="0">
                <a:solidFill>
                  <a:srgbClr val="0F1B2D"/>
                </a:solidFill>
                <a:latin typeface="Calibri"/>
              </a:rPr>
              <a:t>LOOCV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 + </a:t>
            </a:r>
            <a:r>
              <a:rPr sz="2000" b="0" dirty="0" err="1">
                <a:solidFill>
                  <a:srgbClr val="1A232E"/>
                </a:solidFill>
                <a:latin typeface="Calibri"/>
              </a:rPr>
              <a:t>leitura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1A232E"/>
                </a:solidFill>
                <a:latin typeface="Calibri"/>
              </a:rPr>
              <a:t>honesta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 do </a:t>
            </a:r>
            <a:r>
              <a:rPr sz="2000" b="1" dirty="0" err="1">
                <a:solidFill>
                  <a:srgbClr val="0F1B2D"/>
                </a:solidFill>
                <a:latin typeface="Calibri"/>
              </a:rPr>
              <a:t>teto</a:t>
            </a:r>
            <a:r>
              <a:rPr sz="2000" b="1" dirty="0">
                <a:solidFill>
                  <a:srgbClr val="0F1B2D"/>
                </a:solidFill>
                <a:latin typeface="Calibri"/>
              </a:rPr>
              <a:t> da Precision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dirty="0">
                <a:solidFill>
                  <a:srgbClr val="C8A04B"/>
                </a:solidFill>
                <a:latin typeface="Calibri"/>
              </a:rPr>
              <a:t>•  </a:t>
            </a:r>
            <a:r>
              <a:rPr sz="2000" b="0" dirty="0" err="1">
                <a:solidFill>
                  <a:srgbClr val="1A232E"/>
                </a:solidFill>
                <a:latin typeface="Calibri"/>
              </a:rPr>
              <a:t>Recomendações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1A232E"/>
                </a:solidFill>
                <a:latin typeface="Calibri"/>
              </a:rPr>
              <a:t>como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 </a:t>
            </a:r>
            <a:r>
              <a:rPr sz="2000" b="1" dirty="0" err="1">
                <a:solidFill>
                  <a:srgbClr val="0F1B2D"/>
                </a:solidFill>
                <a:latin typeface="Calibri"/>
              </a:rPr>
              <a:t>apoio</a:t>
            </a:r>
            <a:r>
              <a:rPr sz="2000" b="1" dirty="0">
                <a:solidFill>
                  <a:srgbClr val="0F1B2D"/>
                </a:solidFill>
                <a:latin typeface="Calibri"/>
              </a:rPr>
              <a:t> à </a:t>
            </a:r>
            <a:r>
              <a:rPr sz="2000" b="1" dirty="0" err="1">
                <a:solidFill>
                  <a:srgbClr val="0F1B2D"/>
                </a:solidFill>
                <a:latin typeface="Calibri"/>
              </a:rPr>
              <a:t>decisão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, </a:t>
            </a:r>
            <a:r>
              <a:rPr sz="2000" b="0" dirty="0" err="1">
                <a:solidFill>
                  <a:srgbClr val="1A232E"/>
                </a:solidFill>
                <a:latin typeface="Calibri"/>
              </a:rPr>
              <a:t>não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1A232E"/>
                </a:solidFill>
                <a:latin typeface="Calibri"/>
              </a:rPr>
              <a:t>prescrição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1A232E"/>
                </a:solidFill>
                <a:latin typeface="Calibri"/>
              </a:rPr>
              <a:t>automática</a:t>
            </a:r>
            <a:r>
              <a:rPr sz="2000" b="0" dirty="0">
                <a:solidFill>
                  <a:srgbClr val="1A232E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F1B2D"/>
                </a:solidFill>
                <a:latin typeface="Calibri"/>
              </a:rPr>
              <a:t>Trabalhos futuros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459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8A04B"/>
                </a:solidFill>
                <a:latin typeface="Calibri"/>
              </a:rPr>
              <a:t>CAPÍTULO 6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07008"/>
            <a:ext cx="2194560" cy="38100"/>
          </a:xfrm>
          <a:prstGeom prst="rect">
            <a:avLst/>
          </a:prstGeom>
          <a:solidFill>
            <a:srgbClr val="C8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A6672"/>
                </a:solidFill>
                <a:latin typeface="Calibri"/>
              </a:rPr>
              <a:t>Felipe Pereira  •  Sistema de Recomendação B2B com Regras de Associação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8A04B"/>
                </a:solidFill>
                <a:latin typeface="Calibr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7280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800"/>
              </a:spcAft>
            </a:pPr>
            <a:r>
              <a:rPr sz="2200" b="1">
                <a:solidFill>
                  <a:srgbClr val="C8A04B"/>
                </a:solidFill>
                <a:latin typeface="Calibri"/>
              </a:rPr>
              <a:t>•  </a:t>
            </a:r>
            <a:r>
              <a:rPr sz="2200" b="1">
                <a:solidFill>
                  <a:srgbClr val="0F1B2D"/>
                </a:solidFill>
                <a:latin typeface="Calibri"/>
              </a:rPr>
              <a:t>Mais dados:</a:t>
            </a:r>
            <a:r>
              <a:rPr sz="2200" b="0">
                <a:solidFill>
                  <a:srgbClr val="1A232E"/>
                </a:solidFill>
                <a:latin typeface="Calibri"/>
              </a:rPr>
              <a:t> histórico maior → métricas mais estáveis.</a:t>
            </a:r>
          </a:p>
          <a:p>
            <a:pPr algn="l">
              <a:spcBef>
                <a:spcPts val="0"/>
              </a:spcBef>
              <a:spcAft>
                <a:spcPts val="1800"/>
              </a:spcAft>
            </a:pPr>
            <a:r>
              <a:rPr sz="2200" b="1">
                <a:solidFill>
                  <a:srgbClr val="C8A04B"/>
                </a:solidFill>
                <a:latin typeface="Calibri"/>
              </a:rPr>
              <a:t>•  </a:t>
            </a:r>
            <a:r>
              <a:rPr sz="2200" b="1">
                <a:solidFill>
                  <a:srgbClr val="0F1B2D"/>
                </a:solidFill>
                <a:latin typeface="Calibri"/>
              </a:rPr>
              <a:t>Apriori / FP-Growth completos:</a:t>
            </a:r>
            <a:r>
              <a:rPr sz="2200" b="0">
                <a:solidFill>
                  <a:srgbClr val="1A232E"/>
                </a:solidFill>
                <a:latin typeface="Calibri"/>
              </a:rPr>
              <a:t> regras multi-item (3+ produtos).</a:t>
            </a:r>
          </a:p>
          <a:p>
            <a:pPr algn="l">
              <a:spcBef>
                <a:spcPts val="0"/>
              </a:spcBef>
              <a:spcAft>
                <a:spcPts val="1800"/>
              </a:spcAft>
            </a:pPr>
            <a:r>
              <a:rPr sz="2200" b="1">
                <a:solidFill>
                  <a:srgbClr val="C8A04B"/>
                </a:solidFill>
                <a:latin typeface="Calibri"/>
              </a:rPr>
              <a:t>•  </a:t>
            </a:r>
            <a:r>
              <a:rPr sz="2200" b="1">
                <a:solidFill>
                  <a:srgbClr val="0F1B2D"/>
                </a:solidFill>
                <a:latin typeface="Calibri"/>
              </a:rPr>
              <a:t>Deploy em produção:</a:t>
            </a:r>
            <a:r>
              <a:rPr sz="2200" b="0">
                <a:solidFill>
                  <a:srgbClr val="1A232E"/>
                </a:solidFill>
                <a:latin typeface="Calibri"/>
              </a:rPr>
              <a:t> recomendação no momento do pedido.</a:t>
            </a:r>
          </a:p>
          <a:p>
            <a:pPr algn="l">
              <a:spcBef>
                <a:spcPts val="0"/>
              </a:spcBef>
              <a:spcAft>
                <a:spcPts val="1800"/>
              </a:spcAft>
            </a:pPr>
            <a:r>
              <a:rPr sz="2200" b="1">
                <a:solidFill>
                  <a:srgbClr val="C8A04B"/>
                </a:solidFill>
                <a:latin typeface="Calibri"/>
              </a:rPr>
              <a:t>•  </a:t>
            </a:r>
            <a:r>
              <a:rPr sz="2200" b="1">
                <a:solidFill>
                  <a:srgbClr val="0F1B2D"/>
                </a:solidFill>
                <a:latin typeface="Calibri"/>
              </a:rPr>
              <a:t>Teste A/B:</a:t>
            </a:r>
            <a:r>
              <a:rPr sz="2200" b="0">
                <a:solidFill>
                  <a:srgbClr val="1A232E"/>
                </a:solidFill>
                <a:latin typeface="Calibri"/>
              </a:rPr>
              <a:t> medir efeito real no ticket médio.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F1B2D"/>
                </a:solidFill>
                <a:latin typeface="Calibri"/>
              </a:rPr>
              <a:t>Referências principais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459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8A04B"/>
                </a:solidFill>
                <a:latin typeface="Calibri"/>
              </a:rPr>
              <a:t>ABNT NBR 6023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07008"/>
            <a:ext cx="2194560" cy="38100"/>
          </a:xfrm>
          <a:prstGeom prst="rect">
            <a:avLst/>
          </a:prstGeom>
          <a:solidFill>
            <a:srgbClr val="C8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A6672"/>
                </a:solidFill>
                <a:latin typeface="Calibri"/>
              </a:rPr>
              <a:t>Felipe Pereira  •  Sistema de Recomendação B2B com Regras de Associação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8A04B"/>
                </a:solidFill>
                <a:latin typeface="Calibr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109728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C8A04B"/>
                </a:solidFill>
                <a:latin typeface="Calibri"/>
              </a:rPr>
              <a:t>•  </a:t>
            </a:r>
            <a:r>
              <a:rPr sz="1300" b="0">
                <a:solidFill>
                  <a:srgbClr val="1A232E"/>
                </a:solidFill>
                <a:latin typeface="Calibri"/>
              </a:rPr>
              <a:t>AGRAWAL, R.; SRIKANT, R. Fast algorithms for mining association rules. In: VLDB, 1994. p. 487-499.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C8A04B"/>
                </a:solidFill>
                <a:latin typeface="Calibri"/>
              </a:rPr>
              <a:t>•  </a:t>
            </a:r>
            <a:r>
              <a:rPr sz="1300" b="0">
                <a:solidFill>
                  <a:srgbClr val="1A232E"/>
                </a:solidFill>
                <a:latin typeface="Calibri"/>
              </a:rPr>
              <a:t>AGRAWAL, R.; IMIELIŃSKI, T.; SWAMI, A. Mining association rules between sets of items in large databases. In: ACM SIGMOD, 1993. p. 207-216.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C8A04B"/>
                </a:solidFill>
                <a:latin typeface="Calibri"/>
              </a:rPr>
              <a:t>•  </a:t>
            </a:r>
            <a:r>
              <a:rPr sz="1300" b="0">
                <a:solidFill>
                  <a:srgbClr val="1A232E"/>
                </a:solidFill>
                <a:latin typeface="Calibri"/>
              </a:rPr>
              <a:t>HAN, J.; PEI, J.; YIN, Y. Mining frequent patterns without candidate generation. In: ACM SIGMOD, 2000. p. 1-12.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C8A04B"/>
                </a:solidFill>
                <a:latin typeface="Calibri"/>
              </a:rPr>
              <a:t>•  </a:t>
            </a:r>
            <a:r>
              <a:rPr sz="1300" b="0">
                <a:solidFill>
                  <a:srgbClr val="1A232E"/>
                </a:solidFill>
                <a:latin typeface="Calibri"/>
              </a:rPr>
              <a:t>ADOMAVICIUS, G.; TUZHILIN, A. Toward the next generation of recommender systems. IEEE TKDE, v. 17, n. 6, p. 734-749, 2005.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C8A04B"/>
                </a:solidFill>
                <a:latin typeface="Calibri"/>
              </a:rPr>
              <a:t>•  </a:t>
            </a:r>
            <a:r>
              <a:rPr sz="1300" b="0">
                <a:solidFill>
                  <a:srgbClr val="1A232E"/>
                </a:solidFill>
                <a:latin typeface="Calibri"/>
              </a:rPr>
              <a:t>SARWAR, B. et al. Item-based collaborative filtering recommendation algorithms. In: WWW, 2001. p. 285-295.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C8A04B"/>
                </a:solidFill>
                <a:latin typeface="Calibri"/>
              </a:rPr>
              <a:t>•  </a:t>
            </a:r>
            <a:r>
              <a:rPr sz="1300" b="0">
                <a:solidFill>
                  <a:srgbClr val="1A232E"/>
                </a:solidFill>
                <a:latin typeface="Calibri"/>
              </a:rPr>
              <a:t>HAN, J.; KAMBER, M.; PEI, J. Data mining: concepts and techniques. 3. ed. Morgan Kaufmann, 2011.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C8A04B"/>
                </a:solidFill>
                <a:latin typeface="Calibri"/>
              </a:rPr>
              <a:t>•  </a:t>
            </a:r>
            <a:r>
              <a:rPr sz="1300" b="0">
                <a:solidFill>
                  <a:srgbClr val="1A232E"/>
                </a:solidFill>
                <a:latin typeface="Calibri"/>
              </a:rPr>
              <a:t>HEVNER, A. R. et al. Design science in information systems research. MIS Quarterly, v. 28, n. 1, p. 75-105, 2004.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C8A04B"/>
                </a:solidFill>
                <a:latin typeface="Calibri"/>
              </a:rPr>
              <a:t>•  </a:t>
            </a:r>
            <a:r>
              <a:rPr sz="1300" b="0">
                <a:solidFill>
                  <a:srgbClr val="1A232E"/>
                </a:solidFill>
                <a:latin typeface="Calibri"/>
              </a:rPr>
              <a:t>POWERS, D. M. W. Evaluation: from precision, recall and F-measure to ROC... J. Machine Learning Tech., v. 2, n. 1, 2011.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A6672"/>
                </a:solidFill>
                <a:latin typeface="Calibri"/>
              </a:rPr>
              <a:t>Lista completa (23 referências) no capítulo Referências da monografia.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91440"/>
          </a:xfrm>
          <a:prstGeom prst="rect">
            <a:avLst/>
          </a:prstGeom>
          <a:solidFill>
            <a:srgbClr val="C8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800" b="1">
                <a:solidFill>
                  <a:srgbClr val="FFFFFF"/>
                </a:solidFill>
                <a:latin typeface="Calibri"/>
              </a:rPr>
              <a:t>Obrigado.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7472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C8A04B"/>
                </a:solidFill>
                <a:latin typeface="Calibri"/>
              </a:rPr>
              <a:t>Felipe Pereira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9CFD6"/>
                </a:solidFill>
                <a:latin typeface="Calibri"/>
              </a:rPr>
              <a:t>Sistema de Recomendação B2B com Regras de Associação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A6672"/>
                </a:solidFill>
                <a:latin typeface="Calibri"/>
              </a:rPr>
              <a:t>Quasar Barber  •  Codó-MA  •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2526</TotalTime>
  <Words>4042</Words>
  <Application>Microsoft Office PowerPoint</Application>
  <PresentationFormat>Widescreen</PresentationFormat>
  <Paragraphs>267</Paragraphs>
  <Slides>18</Slides>
  <Notes>18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subject/>
  <dc:creator/>
  <cp:keywords/>
  <dc:description>generated using python-pptx</dc:description>
  <cp:lastModifiedBy>Felipe Ferreira</cp:lastModifiedBy>
  <cp:revision>9</cp:revision>
  <dcterms:created xsi:type="dcterms:W3CDTF">2013-01-27T09:14:16Z</dcterms:created>
  <dcterms:modified xsi:type="dcterms:W3CDTF">2026-07-07T18:39:05Z</dcterms:modified>
  <cp:category/>
</cp:coreProperties>
</file>