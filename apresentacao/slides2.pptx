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74" r:id="rId12"/>
    <p:sldId id="268" r:id="rId13"/>
    <p:sldId id="269" r:id="rId14"/>
    <p:sldId id="275" r:id="rId15"/>
    <p:sldId id="276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1EA"/>
    <a:srgbClr val="C8A04B"/>
    <a:srgbClr val="111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306" autoAdjust="0"/>
  </p:normalViewPr>
  <p:slideViewPr>
    <p:cSldViewPr snapToGrid="0" snapToObjects="1">
      <p:cViewPr varScale="1">
        <p:scale>
          <a:sx n="95" d="100"/>
          <a:sy n="95" d="100"/>
        </p:scale>
        <p:origin x="115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84B748-1D13-4A1F-8063-4BC2BA8CF7B1}" type="datetimeFigureOut">
              <a:rPr lang="pt-BR" smtClean="0"/>
              <a:t>07/07/2026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D9E62-5FC1-47F7-98F4-A2E33E4F32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252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Bom dia. Meu nome é Felipe Pereira e vou apresentar meu trabalho de conclusão de curso: um sistema de recomendação de produtos para distribuição B2B usando regras de associação. O estudo de caso é a Quasar Barber, uma distribuidora de produtos de barbearia que eu mesmo administro, em Codó, no Maranhão. “Este trabalho foi desenvolvido sob a orientação do Professor Mestre François Barbosa, aqui no Instituto Federal do Maranhão, Campus Caxias. Nosso foco é demonstrar como a Ciência da Computação pode trazer soluções inovadoras para desafios de negócios, mesmo em contextos de dados limitados. Agradeço a presença da banca examinadora e de todos os presentes. Vamos agora ao roteiro da nossa apresentação.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respire, não comece correndo. Olhe para a banca antes de avançar.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864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"Para começar, este é o caminho que vou seguir. Começaremos com a contextualização do problema de pesquisa, essencial para entender o cenário. Em seguida abordaremos a pergunta de pesquisa, a hipótese e os objetivos. Passo rápido pela fundamentação, falo da metodologia e dos dados reais, norteou o desenvolvimento, mostro a arquitetura do sistema, explico como validei, apresento os resultados e fecho com a conclusão e o que dá para fazer adiante .“Isso nos leva diretamente à pergunta central da nossa pesquisa.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não detalhe cada item, é só o mapa. Avance.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546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Quasar Barber é uma distribuidora pequena. Catálogo grande, mas poucos clientes. E aí mora o problema: a decisão de oferecer um produto junto com outro, a venda casada, é tomada no feeling do vendedor. Quem lembra, sugere. Quem não lembra, deixa de vender."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"Esse cenário B2B é bem diferente do varejo que a gente conhece, tipo Amazon ou Netflix. Lá tem milhões de clientes e nota de produto. Aqui não. São poucos clientes, volume baixo e nenhuma avaliação. A matriz de cliente por produto fica vazia na maior parte. Isso derruba a filtragem colaborativa, que é a técnica mais comum de recomendação, porque ela precisa de muita gente avaliando muito item."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grande desafio, então, é transformar a intuição dos vendedores em recomendações baseadas em dados auditáveis. Isso nos leva diretamente à pergunta central da nossa pesquisa.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oportunidade é olhar para o que eu já tenho: o histórico de vendas. Dá para minerar esse histórico e descobrir quais produtos costumam sair juntos.“ 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este slide vende o problema. Fale com convicção, é a sua empresa.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5109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pergunta que guia tudo está nessa caixa: é possível gerar recomendações úteis e estatisticamente relevantes para uma distribuidora pequena usando só regras de associação, mesmo com poucas transações?"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minha hipótese, a H1, é que sim. Regras com confiança a partir de 0,30 e suporte a partir de 0,02, ordenadas por lift, produzem sugestões de venda casada que fazem sentido para o negócio. A hipótese nula, a H0, é o contrário: que as regras seriam indistinguíveis do acaso e não passariam de um simples ranking dos produtos mais vendidos."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leia a pergunta com calma, é o coração do trabalho. Guarde os termos confiança, suporte e lift, eles voltam no próximo bloco.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6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objetivo geral foi desenvolver e validar um sistema de recomendação baseado em Market Basket Analysis, com relevância estatística que dá para medir."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"Para chegar lá, foram seis objetivos específicos que ficaram divididos assim: temos a parte teórica: revisar a literatura e modelar a base de dados, parte prática: implementar  as regras e construir a interface web, até chegar na análise: validar e analisar as regras do ponto de vista comercial."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não leia os seis um por um devagar. Agrupe: "da teoria até a análise de negócio". Avance.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9123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justificativa tem três lados. No lado acadêmico, quase tudo que se estuda é B2C de grande volume. B2B esparso é uma lacuna, e é justo onde a filtragem colaborativa não funciona. No lado prático, é uma empresa real, com uma dor real, e o sistema ajuda a equipe a vender com base em dado, não em memória. E no lado técnico, é uma arquitetura completa, reproduzível e barata, que cabe numa empresa pequena sem nenhuma estrutura de Big Data."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este é o argumento de relevância. A banca gosta de ver o "por que importa".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7768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Entender as Regras de Associação é crucial para o nosso sistema. Elas são a base para transformar dados brutos em conhecimento acionável. A Análise de Cesta de Compras nos permite identificar padrões como 'quem compra A, também compra B', o que é fundamental para o cross-sell.</a:t>
            </a: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validar essas regras, usamos três métricas principais. O Suporte mede a frequência de um par de itens nas transações, filtrando o que é realmente relevante. A Confiança indica a probabilidade de um item ser comprado dado que outro já foi, mostrando a força da associação. E o Lift, que é o mais importante, revela o quanto a compra de um item aumenta a chance de comprar outro, diferenciando associações reais do mero acaso. Essas métricas nos dão a segurança estatística para as recomendações. Com essa compreensão das regras, podemos agora avançar para a metodologia que guiou o desenvolvimento do nosso sistema. 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“Entender essas métricas foi crucial para o projeto, pois em um cenário de baixo volume como o da Quasar Barber, o Lift nos permitiu separar o 'ruído' estatístico das oportunidades reais de venda casada que a equipe de vendas pode explorar."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aponte para cada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ao falar. Estes três conceitos são a base de tudo que vem depois.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---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827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Avançando para a Metodologia, este trabalho se define como uma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pesquisa aplicada e quantitativa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conduzida sob a forma de um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estudo de caso único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método científico adotado foi a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 Science Research (DSR)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Escolhemos a DSR porque ela é fundamentalmente orientada à solução de problemas, focando no ciclo de criação de um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artefato tecnológico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que é o nosso sistema — seguido de uma fase de avaliação rigorosa.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 são dados reais, não simulados. São as vendas da Quasar Barber entre 29 de abril e 18 de junho de 2026. Olhem os números: 30 transações, 26 clientes, 29 produtos, 52 itens vendidos. E o número que mais importa: só 14 cestas têm dois ou mais produtos. São essas 14 que geram regra. As outras 16 são compra de um item só."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"Eu quero ser honesto com a banca aqui: essa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esparsidade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não é um defeito do meu recorte, é a cara do B2B pequeno. O trabalho todo é sobre fazer recomendação funcionar nessa condição difícil."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pause nos números, deixe a banca ler. O "14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multi-item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é o gancho para entender as limitações depois.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5578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"Esta é a arquitetura, em camadas, ela foi projetada para ser simples,  na frente, a interface em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onde o usuário busca um produto e vê as recomendações. Essa interface conversa com uma API REST em Node com Express. A API tem a camada de serviço, que é onde roda o algoritmo de regras e a geração do Top-N, com um cache opcional em Redis para acelerar consultas repetidas. E no fim, o banco no Supabase, que é PostgreSQL, guardando clientes, produtos, vendas e itens."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 ponto que eu destaco é que tudo isso usa ferramenta gratuita ou de baixo custo. Roda numa máquina modesta."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percorra o diagrama com a mão, de cima para baixo ou da frente para o banco. Não decore nome de biblioteca, conte o fluxo.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7457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"Antes dos resultados, preciso explicar como eu validei, porque essa foi uma decisão importante do trabalho."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 primeira ideia seria separar 80% para treino e 20% para teste. Eu testei e descartei. Com 30 transações, esse teste sobra com só 3 cestas avaliáveis. Tirar conclusão de 3 casos é instável, não dá."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 isso, optamos pelo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LOOCV (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Leave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-Out Cross-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Neste protocolo, realizamos N rodadas, onde em cada uma treinamos o modelo com N-1 dados e testamos no único dado que ficou de fora. Isso nos permite aproveitar a base completa tanto para treino quanto para teste, garantindo robustez estatística.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nosso esquema de teste foi o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'esconder-1-item'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nós ocultamos propositalmente um produto de uma cesta real e pedimos ao sistema para tentar recuperá-lo dentro de uma recomendação 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Top-3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 tem um detalhe que muda a leitura dos números. Como eu escondo só um produto e o sistema sugere até três, a precisão máxima possível já é um terço, mais ou menos 0,33. Por isso, neste trabalho, o Recall e o F1 são os indicadores que mais dizem alguma coisa."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este é o slide mais técnico. Vá devagar. Se a banca for cobrar metodologia, é aqui que você mostra rigor. O teto de 0,33 antecipa a defesa da precisão baixa no próximo slide.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8917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 resultados da extração de regras foram bastante promissores, com 44 regras de associação descobertas. As métricas globais demonstram a força dessas associações. Tivemos uma Confiança Média de 76,51%, o que indica que as regras são bastante confiáveis. 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impressionante ainda é o Lift Médio de 12,41. Isso significa que a compra de um item aumenta em mais de doze vezes a chance de comprar o item associado, comparado ao acaso.</a:t>
            </a:r>
          </a:p>
          <a:p>
            <a:r>
              <a:rPr lang="pt-BR" dirty="0"/>
              <a:t>E isso não ficou só num relatório. Aqui do lado está o sistema rodando. Quando eu busco um produto, por exemplo o </a:t>
            </a:r>
            <a:r>
              <a:rPr lang="pt-BR" dirty="0" err="1"/>
              <a:t>after</a:t>
            </a:r>
            <a:r>
              <a:rPr lang="pt-BR" dirty="0"/>
              <a:t> </a:t>
            </a:r>
            <a:r>
              <a:rPr lang="pt-BR" dirty="0" err="1"/>
              <a:t>shave</a:t>
            </a:r>
            <a:r>
              <a:rPr lang="pt-BR" dirty="0"/>
              <a:t> da QOD, ele me devolve na hora as recomendações, cada uma com a confiança, o suporte e o lift, além dos gráficos que organizam as regras e mostram a relação entre lift e suporte. É a ferramenta que a equipe de vendas usaria no balcão.	</a:t>
            </a: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mostre a tabela e depois aponte o print do dashboard à direita, prova de que o sistema existe e roda.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 de 44,44%: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Este é o nosso resultado mais expressivo. Ele significa que, em quase metade dos casos, o sistema foi capaz de prever corretamente um item que o cliente realmente comprou, mesmo sem ter nenhuma avaliação prévia de produtos ou perfil de usuário.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Precision de 26,39%: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Embora o número pareça menor, ele está extremamente próximo do nosso 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teto estrutural de 33%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Como o sistema recomenda 3 itens e o objetivo é acertar 1 item oculto, matematicamente a precisão máxima possível seria 0,33. Portanto, chegar a 26% demonstra uma alta aderência do modelo.</a:t>
            </a:r>
          </a:p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F1-Score de 31,94%: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Que é a média harmônica que valida o equilíbrio entre as duas métricas anteriores.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concluir este ponto, é importante notar que se tivéssemos usado o método comum de Holdout,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teríamos testado apenas 3 casos, o que poderia gerar um resultado enganoso de 22%. O uso do LOOCV nos dá a segurança de que esses 44% de Recall são um reflexo fiel e robusto da capacidade do sistema em um cenário B2B de baixo volume.“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aponte cada métrica nos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Defenda a precisão com calma, não como desculpa. O Recall é a sua vitória, fale com firmeza.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785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"Número não basta, a regra tem que fazer sentido para quem conhece o negócio, que nesse caso sou eu. E faz. As regras de maior lift batem com a prática: a rotina de barba, shampoo com óleo, bálsamo e pós-barba saindo juntos. A coerência de marca, com as linhas QOD e Fox for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 os acessórios de função parecida comprados na mesma cesta."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Observamos associações particularmente fortes, como 'Shampoo Silver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Boost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implica Bálsamo Fortalecedor', com um Lift de 30,0. </a:t>
            </a:r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0049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conclusao. Mensagem central: a resposta a pergunta de pesquisa e afirmativa, com ressalvas. Ancore no Recall de 44,44% (16 de 36 subtestes) e no lift medio de 12,41. Explique que as evidencias favorecem H1 e enfraquecem H0 porque os pares de maior lift nao sao os produtos mais vendidos. Feche com a ressalva de escala (14 transacoes: apoio a decisao, nao prescricao) e os tres trabalhos futuros, destacando o teste A/B como o passo que ligaria a relevancia estatistica ao efeito economico.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"Respondendo a pergunta lá do começo: sim, dá para gerar recomendação relevante em B2B de baixo volume só com regras de associação, com uma ressalva de escala que eu faço questão de manter."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"As contribuições foram três. Um artefato completo e reproduzível, barato, rodando sobre dado real. Uma contribuição de método, a LOOCV com a leitura honesta do teto da precisão. E o entendimento de que essas recomendações são apoio à decisão do vendedor, não uma ordem automática. potencializando a intuição humana com dados auditáveis.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tom de fechamento. Mais devagar, mais firme. Você está consolidando.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9756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"O próprio recorte aponta a continuação. Primeiro, mais dados: com histórico maior, as métricas ficam mais estáveis. Segundo, implementar o Apriori ou o FP-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Growth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completos, para capturar regras com três ou mais produtos juntos. Terceiro, colocar em produção, com a recomendação chegando na hora do pedido. E quarto, fechar o ciclo com um teste A/B, medindo o efeito real no ticket médio."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rápido e otimista, mas sem floreio. Mostra que você sabe o tamanho real do que fez e o que vem depois.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29314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"Essas são as referências centrais do trabalho. Os artigos do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Agrawal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que fundam as regras de associação e o Apriori, o Han com o FP-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Growth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Adomavicius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taxonomia de recomendação, e 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 parte de métricas. A lista completa, com as 23 referências, está no capítulo de Referências da monografia."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não leia referência por referência. Cite duas ou três e siga. Slide de apoio.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502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Era isso. Obrigado pela atenção. Fico à disposição da banca para as perguntas."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Deixa: pare, respire, sorria. Não saia correndo do slide. Espere a banca.</a:t>
            </a:r>
          </a:p>
          <a:p>
            <a:b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AD9E62-5FC1-47F7-98F4-A2E33E4F32F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623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548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pt-BR" sz="1500" b="1" dirty="0">
                <a:solidFill>
                  <a:srgbClr val="FFFFFF"/>
                </a:solidFill>
                <a:latin typeface="Calibri"/>
              </a:rPr>
              <a:t>INSTITUTO FEDERAL DE EDUCAÇÃO, CIÊNCIA E TECNOLOGIA – IFMA CAMPUS CAXIAS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pt-BR" sz="1300" b="0" dirty="0">
                <a:solidFill>
                  <a:srgbClr val="C9CFD6"/>
                </a:solidFill>
                <a:latin typeface="Calibri"/>
              </a:rPr>
              <a:t>Curso de Bacharelado em Ciência da Computação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 dirty="0">
                <a:solidFill>
                  <a:srgbClr val="FFFFFF"/>
                </a:solidFill>
                <a:latin typeface="Calibri"/>
              </a:rPr>
              <a:t>Sistema de </a:t>
            </a:r>
            <a:r>
              <a:rPr sz="3800" b="1" dirty="0" err="1">
                <a:solidFill>
                  <a:srgbClr val="FFFFFF"/>
                </a:solidFill>
                <a:latin typeface="Calibri"/>
              </a:rPr>
              <a:t>Recomendação</a:t>
            </a:r>
            <a:r>
              <a:rPr sz="3800" b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3800" b="1" dirty="0" err="1">
                <a:solidFill>
                  <a:srgbClr val="FFFFFF"/>
                </a:solidFill>
                <a:latin typeface="Calibri"/>
              </a:rPr>
              <a:t>Produtos</a:t>
            </a:r>
            <a:r>
              <a:rPr sz="3800" b="1" dirty="0">
                <a:solidFill>
                  <a:srgbClr val="FFFFFF"/>
                </a:solidFill>
                <a:latin typeface="Calibri"/>
              </a:rPr>
              <a:t> para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800" b="1" dirty="0" err="1">
                <a:solidFill>
                  <a:srgbClr val="FFFFFF"/>
                </a:solidFill>
                <a:latin typeface="Calibri"/>
              </a:rPr>
              <a:t>Distribuição</a:t>
            </a:r>
            <a:r>
              <a:rPr sz="3800" b="1" dirty="0">
                <a:solidFill>
                  <a:srgbClr val="FFFFFF"/>
                </a:solidFill>
                <a:latin typeface="Calibri"/>
              </a:rPr>
              <a:t> B2B </a:t>
            </a:r>
            <a:r>
              <a:rPr sz="3800" b="1" dirty="0" err="1">
                <a:solidFill>
                  <a:srgbClr val="FFFFFF"/>
                </a:solidFill>
                <a:latin typeface="Calibri"/>
              </a:rPr>
              <a:t>Utilizando</a:t>
            </a:r>
            <a:r>
              <a:rPr sz="38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Calibri"/>
              </a:rPr>
              <a:t>Regras</a:t>
            </a:r>
            <a:r>
              <a:rPr sz="3800" b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3800" b="1" dirty="0" err="1">
                <a:solidFill>
                  <a:srgbClr val="FFFFFF"/>
                </a:solidFill>
                <a:latin typeface="Calibri"/>
              </a:rPr>
              <a:t>Associação</a:t>
            </a:r>
            <a:endParaRPr sz="3800" b="1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dirty="0" err="1">
                <a:solidFill>
                  <a:srgbClr val="C8A04B"/>
                </a:solidFill>
                <a:latin typeface="Calibri"/>
              </a:rPr>
              <a:t>Estudo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de Caso </a:t>
            </a:r>
            <a:r>
              <a:rPr sz="2200" b="1" dirty="0" err="1">
                <a:solidFill>
                  <a:srgbClr val="C8A04B"/>
                </a:solidFill>
                <a:latin typeface="Calibri"/>
              </a:rPr>
              <a:t>na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Quasar Barber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49240"/>
            <a:ext cx="10515600" cy="93358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dirty="0">
                <a:solidFill>
                  <a:srgbClr val="FFFFFF"/>
                </a:solidFill>
                <a:latin typeface="Calibri"/>
              </a:rPr>
              <a:t>Felipe Pereira</a:t>
            </a:r>
            <a:r>
              <a:rPr lang="pt-BR" sz="2000" b="1" dirty="0">
                <a:solidFill>
                  <a:srgbClr val="FFFFFF"/>
                </a:solidFill>
                <a:latin typeface="Calibri"/>
              </a:rPr>
              <a:t> Ferreira</a:t>
            </a:r>
            <a:endParaRPr sz="2000" b="1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 err="1">
                <a:solidFill>
                  <a:srgbClr val="C9CFD6"/>
                </a:solidFill>
                <a:latin typeface="Calibri"/>
              </a:rPr>
              <a:t>Trabalho</a:t>
            </a:r>
            <a:r>
              <a:rPr sz="1500" b="0" dirty="0">
                <a:solidFill>
                  <a:srgbClr val="C9CFD6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C9CFD6"/>
                </a:solidFill>
                <a:latin typeface="Calibri"/>
              </a:rPr>
              <a:t>Conclusão</a:t>
            </a:r>
            <a:r>
              <a:rPr sz="1500" b="0" dirty="0">
                <a:solidFill>
                  <a:srgbClr val="C9CFD6"/>
                </a:solidFill>
                <a:latin typeface="Calibri"/>
              </a:rPr>
              <a:t> de </a:t>
            </a:r>
            <a:r>
              <a:rPr sz="1500" b="0" dirty="0" err="1">
                <a:solidFill>
                  <a:srgbClr val="C9CFD6"/>
                </a:solidFill>
                <a:latin typeface="Calibri"/>
              </a:rPr>
              <a:t>Curso</a:t>
            </a:r>
            <a:r>
              <a:rPr sz="1500" b="0" dirty="0">
                <a:solidFill>
                  <a:srgbClr val="C9CFD6"/>
                </a:solidFill>
                <a:latin typeface="Calibri"/>
              </a:rPr>
              <a:t>  —  </a:t>
            </a:r>
            <a:r>
              <a:rPr sz="1500" b="0" dirty="0" err="1">
                <a:solidFill>
                  <a:srgbClr val="C9CFD6"/>
                </a:solidFill>
                <a:latin typeface="Calibri"/>
              </a:rPr>
              <a:t>Ciência</a:t>
            </a:r>
            <a:r>
              <a:rPr sz="1500" b="0" dirty="0">
                <a:solidFill>
                  <a:srgbClr val="C9CFD6"/>
                </a:solidFill>
                <a:latin typeface="Calibri"/>
              </a:rPr>
              <a:t> da </a:t>
            </a:r>
            <a:r>
              <a:rPr sz="1500" b="0" dirty="0" err="1">
                <a:solidFill>
                  <a:srgbClr val="C9CFD6"/>
                </a:solidFill>
                <a:latin typeface="Calibri"/>
              </a:rPr>
              <a:t>Computação</a:t>
            </a:r>
            <a:endParaRPr sz="1500" b="0" dirty="0">
              <a:solidFill>
                <a:srgbClr val="C9CFD6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dirty="0" err="1">
                <a:solidFill>
                  <a:srgbClr val="5A6672"/>
                </a:solidFill>
                <a:latin typeface="Calibri"/>
              </a:rPr>
              <a:t>Orientador</a:t>
            </a:r>
            <a:r>
              <a:rPr sz="1300" b="0" dirty="0">
                <a:solidFill>
                  <a:srgbClr val="5A6672"/>
                </a:solidFill>
                <a:latin typeface="Calibri"/>
              </a:rPr>
              <a:t>(a): </a:t>
            </a:r>
            <a:r>
              <a:rPr lang="pt-BR" sz="1300" dirty="0">
                <a:solidFill>
                  <a:srgbClr val="5A6672"/>
                </a:solidFill>
                <a:latin typeface="Calibri"/>
              </a:rPr>
              <a:t>François Fernandes Ribeiro Barbosa</a:t>
            </a:r>
            <a:r>
              <a:rPr sz="1300" b="0" dirty="0">
                <a:solidFill>
                  <a:srgbClr val="5A6672"/>
                </a:solidFill>
                <a:latin typeface="Calibri"/>
              </a:rPr>
              <a:t>   |   </a:t>
            </a:r>
            <a:r>
              <a:rPr lang="pt-BR" sz="1300" b="0" dirty="0">
                <a:solidFill>
                  <a:srgbClr val="5A6672"/>
                </a:solidFill>
                <a:latin typeface="Calibri"/>
              </a:rPr>
              <a:t>Caxias - MA</a:t>
            </a:r>
            <a:r>
              <a:rPr sz="1300" b="0" dirty="0">
                <a:solidFill>
                  <a:srgbClr val="5A6672"/>
                </a:solidFill>
                <a:latin typeface="Calibri"/>
              </a:rPr>
              <a:t>, 2026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756C8BB-1CA9-40B5-A5CC-3B59426A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9790" y="428738"/>
            <a:ext cx="2675676" cy="623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Roteiro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APRESENTAÇÃO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38779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pt-BR" sz="2200" b="1" dirty="0">
                <a:solidFill>
                  <a:srgbClr val="C8A04B"/>
                </a:solidFill>
                <a:latin typeface="Calibri"/>
              </a:rPr>
              <a:t>1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lang="pt-BR" sz="2200" b="1" dirty="0">
                <a:solidFill>
                  <a:srgbClr val="C8A04B"/>
                </a:solidFill>
                <a:latin typeface="Calibri"/>
              </a:rPr>
              <a:t>-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Contexto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 e </a:t>
            </a:r>
            <a:r>
              <a:rPr lang="pt-BR" sz="2200" b="0" dirty="0">
                <a:solidFill>
                  <a:srgbClr val="1A232E"/>
                </a:solidFill>
                <a:latin typeface="Calibri"/>
              </a:rPr>
              <a:t>P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roblema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 de </a:t>
            </a:r>
            <a:r>
              <a:rPr lang="pt-BR" sz="2200" dirty="0">
                <a:solidFill>
                  <a:srgbClr val="1A232E"/>
                </a:solidFill>
                <a:latin typeface="Calibri"/>
              </a:rPr>
              <a:t>P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esquisa</a:t>
            </a:r>
            <a:endParaRPr sz="2200" b="0" dirty="0">
              <a:solidFill>
                <a:srgbClr val="1A232E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pt-BR" sz="2200" b="1" dirty="0">
                <a:solidFill>
                  <a:srgbClr val="C8A04B"/>
                </a:solidFill>
                <a:latin typeface="Calibri"/>
              </a:rPr>
              <a:t>2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lang="pt-BR" sz="2200" b="1" dirty="0">
                <a:solidFill>
                  <a:srgbClr val="C8A04B"/>
                </a:solidFill>
                <a:latin typeface="Calibri"/>
              </a:rPr>
              <a:t>- 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Pergunta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, </a:t>
            </a:r>
            <a:r>
              <a:rPr lang="pt-BR" sz="2200" b="0" dirty="0">
                <a:solidFill>
                  <a:srgbClr val="1A232E"/>
                </a:solidFill>
                <a:latin typeface="Calibri"/>
              </a:rPr>
              <a:t>H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ipótese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 e </a:t>
            </a:r>
            <a:r>
              <a:rPr lang="pt-BR" sz="2200" dirty="0">
                <a:solidFill>
                  <a:srgbClr val="1A232E"/>
                </a:solidFill>
                <a:latin typeface="Calibri"/>
              </a:rPr>
              <a:t>O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bjetivos</a:t>
            </a:r>
            <a:endParaRPr sz="2200" b="0" dirty="0">
              <a:solidFill>
                <a:srgbClr val="1A232E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pt-BR" sz="2200" b="1" dirty="0">
                <a:solidFill>
                  <a:srgbClr val="C8A04B"/>
                </a:solidFill>
                <a:latin typeface="Calibri"/>
              </a:rPr>
              <a:t>3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lang="pt-BR" sz="2200" b="1" dirty="0">
                <a:solidFill>
                  <a:srgbClr val="C8A04B"/>
                </a:solidFill>
                <a:latin typeface="Calibri"/>
              </a:rPr>
              <a:t>–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Fundamentação</a:t>
            </a:r>
            <a:r>
              <a:rPr lang="pt-BR" sz="2200" b="0" dirty="0">
                <a:solidFill>
                  <a:srgbClr val="1A232E"/>
                </a:solidFill>
                <a:latin typeface="Calibri"/>
              </a:rPr>
              <a:t> Teórica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: </a:t>
            </a:r>
            <a:r>
              <a:rPr lang="pt-BR" sz="2200" b="0" dirty="0">
                <a:solidFill>
                  <a:srgbClr val="1A232E"/>
                </a:solidFill>
                <a:latin typeface="Calibri"/>
              </a:rPr>
              <a:t>R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egras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 de </a:t>
            </a:r>
            <a:r>
              <a:rPr lang="pt-BR" sz="2200" b="0" dirty="0">
                <a:solidFill>
                  <a:srgbClr val="1A232E"/>
                </a:solidFill>
                <a:latin typeface="Calibri"/>
              </a:rPr>
              <a:t>A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ssociação</a:t>
            </a:r>
            <a:endParaRPr sz="2200" b="0" dirty="0">
              <a:solidFill>
                <a:srgbClr val="1A232E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lang="pt-BR" sz="2200" b="1" dirty="0">
                <a:solidFill>
                  <a:srgbClr val="C8A04B"/>
                </a:solidFill>
                <a:latin typeface="Calibri"/>
              </a:rPr>
              <a:t>4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lang="pt-BR" sz="2200" b="1" dirty="0">
                <a:solidFill>
                  <a:srgbClr val="C8A04B"/>
                </a:solidFill>
                <a:latin typeface="Calibri"/>
              </a:rPr>
              <a:t>-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Metodologia</a:t>
            </a:r>
            <a:r>
              <a:rPr lang="pt-BR" sz="2200" dirty="0">
                <a:solidFill>
                  <a:srgbClr val="1A232E"/>
                </a:solidFill>
              </a:rPr>
              <a:t>: </a:t>
            </a:r>
            <a:r>
              <a:rPr lang="pt-BR" sz="2200" dirty="0"/>
              <a:t>Design </a:t>
            </a:r>
            <a:r>
              <a:rPr lang="pt-BR" sz="2200" dirty="0">
                <a:solidFill>
                  <a:srgbClr val="1A232E"/>
                </a:solidFill>
              </a:rPr>
              <a:t>Science</a:t>
            </a:r>
            <a:r>
              <a:rPr lang="pt-BR" sz="2200" dirty="0"/>
              <a:t> Research (DSR)</a:t>
            </a:r>
            <a:endParaRPr sz="2200" b="0" dirty="0">
              <a:solidFill>
                <a:srgbClr val="1A232E"/>
              </a:solidFill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pt-BR" sz="2200" b="1" dirty="0">
                <a:solidFill>
                  <a:srgbClr val="C8A04B"/>
                </a:solidFill>
                <a:latin typeface="Calibri"/>
              </a:rPr>
              <a:t>5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lang="pt-BR" sz="2200" b="1" dirty="0">
                <a:solidFill>
                  <a:srgbClr val="C8A04B"/>
                </a:solidFill>
                <a:latin typeface="Calibri"/>
              </a:rPr>
              <a:t>-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Arquitetura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 do 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sistema</a:t>
            </a:r>
            <a:endParaRPr sz="2200" b="0" dirty="0">
              <a:solidFill>
                <a:srgbClr val="1A232E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pt-BR" sz="2200" b="1" dirty="0">
                <a:solidFill>
                  <a:srgbClr val="C8A04B"/>
                </a:solidFill>
                <a:latin typeface="Calibri"/>
              </a:rPr>
              <a:t>6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lang="pt-BR" sz="2200" b="1" dirty="0">
                <a:solidFill>
                  <a:srgbClr val="C8A04B"/>
                </a:solidFill>
                <a:latin typeface="Calibri"/>
              </a:rPr>
              <a:t>-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Protocolo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validação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 (LOOCV)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pt-BR" sz="2200" b="1" dirty="0">
                <a:solidFill>
                  <a:srgbClr val="C8A04B"/>
                </a:solidFill>
                <a:latin typeface="Calibri"/>
              </a:rPr>
              <a:t>7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lang="pt-BR" sz="2200" b="1" dirty="0">
                <a:solidFill>
                  <a:srgbClr val="C8A04B"/>
                </a:solidFill>
                <a:latin typeface="Calibri"/>
              </a:rPr>
              <a:t>-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Resultados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 e </a:t>
            </a:r>
            <a:r>
              <a:rPr lang="pt-BR" sz="2200" b="0" dirty="0">
                <a:solidFill>
                  <a:srgbClr val="1A232E"/>
                </a:solidFill>
                <a:latin typeface="Calibri"/>
              </a:rPr>
              <a:t>D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iscussão</a:t>
            </a:r>
            <a:endParaRPr sz="2200" b="0" dirty="0">
              <a:solidFill>
                <a:srgbClr val="1A232E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pt-BR" sz="2200" b="1" dirty="0">
                <a:solidFill>
                  <a:srgbClr val="C8A04B"/>
                </a:solidFill>
                <a:latin typeface="Calibri"/>
              </a:rPr>
              <a:t>8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lang="pt-BR" sz="2200" b="1" dirty="0">
                <a:solidFill>
                  <a:srgbClr val="C8A04B"/>
                </a:solidFill>
                <a:latin typeface="Calibri"/>
              </a:rPr>
              <a:t>-</a:t>
            </a:r>
            <a:r>
              <a:rPr sz="2200" b="1" dirty="0">
                <a:solidFill>
                  <a:srgbClr val="C8A04B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Conclusão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 e </a:t>
            </a:r>
            <a:r>
              <a:rPr lang="pt-BR" sz="2200" b="0" dirty="0">
                <a:solidFill>
                  <a:srgbClr val="1A232E"/>
                </a:solidFill>
                <a:latin typeface="Calibri"/>
              </a:rPr>
              <a:t>T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rabalhos</a:t>
            </a:r>
            <a:r>
              <a:rPr sz="22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lang="pt-BR" sz="2200" b="0" dirty="0">
                <a:solidFill>
                  <a:srgbClr val="1A232E"/>
                </a:solidFill>
                <a:latin typeface="Calibri"/>
              </a:rPr>
              <a:t>F</a:t>
            </a:r>
            <a:r>
              <a:rPr sz="2200" b="0" dirty="0" err="1">
                <a:solidFill>
                  <a:srgbClr val="1A232E"/>
                </a:solidFill>
                <a:latin typeface="Calibri"/>
              </a:rPr>
              <a:t>uturos</a:t>
            </a:r>
            <a:endParaRPr sz="2200" b="0" dirty="0">
              <a:solidFill>
                <a:srgbClr val="1A23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0F1B2D"/>
                </a:solidFill>
                <a:latin typeface="Calibri"/>
              </a:rPr>
              <a:t>Contexto</a:t>
            </a:r>
            <a:r>
              <a:rPr sz="3000" b="1" dirty="0">
                <a:solidFill>
                  <a:srgbClr val="0F1B2D"/>
                </a:solidFill>
                <a:latin typeface="Calibri"/>
              </a:rPr>
              <a:t> e </a:t>
            </a:r>
            <a:r>
              <a:rPr sz="3000" b="1" dirty="0" err="1">
                <a:solidFill>
                  <a:srgbClr val="0F1B2D"/>
                </a:solidFill>
                <a:latin typeface="Calibri"/>
              </a:rPr>
              <a:t>problema</a:t>
            </a:r>
            <a:endParaRPr sz="3000" b="1" dirty="0">
              <a:solidFill>
                <a:srgbClr val="0F1B2D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dirty="0">
                <a:solidFill>
                  <a:srgbClr val="C8A04B"/>
                </a:solidFill>
                <a:latin typeface="Calibri"/>
              </a:rPr>
              <a:t>CAPÍTULO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1064240" cy="31239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1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lang="pt-BR" sz="2000" b="1" dirty="0">
                <a:latin typeface="Calibri"/>
              </a:rPr>
              <a:t>Cenário Real</a:t>
            </a:r>
            <a:r>
              <a:rPr lang="pt-BR" b="1" dirty="0"/>
              <a:t>: </a:t>
            </a:r>
            <a:r>
              <a:rPr lang="pt-BR" dirty="0">
                <a:latin typeface="+mj-lt"/>
              </a:rPr>
              <a:t>Pequenas distribuidoras regionais possuem poucos clientes e baixo volume transacional.</a:t>
            </a:r>
            <a:endParaRPr b="0" dirty="0">
              <a:solidFill>
                <a:srgbClr val="1A232E"/>
              </a:solidFill>
              <a:latin typeface="+mj-lt"/>
            </a:endParaRPr>
          </a:p>
          <a:p>
            <a:pPr>
              <a:spcAft>
                <a:spcPts val="1200"/>
              </a:spcAft>
            </a:pPr>
            <a:r>
              <a:rPr sz="21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lang="pt-BR" sz="2000" b="1" dirty="0"/>
              <a:t>Limitação Técnica:</a:t>
            </a:r>
            <a:r>
              <a:rPr lang="pt-BR" sz="2000" dirty="0"/>
              <a:t> A filtragem colaborativa tradicional falha devido à esparsidade extrema dos dados.</a:t>
            </a:r>
          </a:p>
          <a:p>
            <a:pPr>
              <a:spcAft>
                <a:spcPts val="1200"/>
              </a:spcAft>
            </a:pPr>
            <a:r>
              <a:rPr lang="pt-BR" sz="1800" b="1" dirty="0">
                <a:solidFill>
                  <a:srgbClr val="C8A04B"/>
                </a:solidFill>
                <a:latin typeface="Calibri"/>
              </a:rPr>
              <a:t>–  </a:t>
            </a:r>
            <a:r>
              <a:rPr lang="pt-BR" sz="1800" b="0" dirty="0">
                <a:solidFill>
                  <a:srgbClr val="5A6672"/>
                </a:solidFill>
                <a:latin typeface="Calibri"/>
              </a:rPr>
              <a:t>Poucos clientes e baixo volume transacional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pt-BR" sz="1800" b="1" dirty="0">
                <a:solidFill>
                  <a:srgbClr val="C8A04B"/>
                </a:solidFill>
                <a:latin typeface="Calibri"/>
              </a:rPr>
              <a:t>–  </a:t>
            </a:r>
            <a:r>
              <a:rPr lang="pt-BR" sz="1800" b="0" dirty="0">
                <a:solidFill>
                  <a:srgbClr val="5A6672"/>
                </a:solidFill>
                <a:latin typeface="Calibri"/>
              </a:rPr>
              <a:t>Sem avaliações ou notas de produto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pt-BR" sz="1800" b="1" dirty="0">
                <a:solidFill>
                  <a:srgbClr val="C8A04B"/>
                </a:solidFill>
                <a:latin typeface="Calibri"/>
              </a:rPr>
              <a:t>–  </a:t>
            </a:r>
            <a:r>
              <a:rPr lang="pt-BR" sz="1800" b="0" dirty="0">
                <a:solidFill>
                  <a:srgbClr val="5A6672"/>
                </a:solidFill>
                <a:latin typeface="Calibri"/>
              </a:rPr>
              <a:t>Matriz usuário-item esparsa → filtragem colaborativa </a:t>
            </a:r>
            <a:r>
              <a:rPr lang="pt-BR" sz="1800" b="1" dirty="0">
                <a:solidFill>
                  <a:srgbClr val="0F1B2D"/>
                </a:solidFill>
                <a:latin typeface="Calibri"/>
              </a:rPr>
              <a:t>inviável</a:t>
            </a:r>
          </a:p>
          <a:p>
            <a:pPr>
              <a:spcAft>
                <a:spcPts val="1200"/>
              </a:spcAft>
            </a:pPr>
            <a:r>
              <a:rPr lang="pt-BR" sz="2000" b="1" dirty="0">
                <a:solidFill>
                  <a:srgbClr val="C8A04B"/>
                </a:solidFill>
              </a:rPr>
              <a:t>• </a:t>
            </a:r>
            <a:r>
              <a:rPr lang="pt-BR" sz="2000" b="1" dirty="0"/>
              <a:t>Desafio:</a:t>
            </a:r>
            <a:r>
              <a:rPr lang="pt-BR" sz="2000" dirty="0"/>
              <a:t> </a:t>
            </a:r>
            <a:r>
              <a:rPr lang="pt-BR" dirty="0"/>
              <a:t>Transformar intuição em recomendações baseadas em dados auditáveis.</a:t>
            </a:r>
            <a:endParaRPr lang="pt-BR" sz="1800" b="1" dirty="0">
              <a:solidFill>
                <a:srgbClr val="0F1B2D"/>
              </a:solidFill>
              <a:latin typeface="Calibri"/>
            </a:endParaRPr>
          </a:p>
          <a:p>
            <a:pPr>
              <a:spcAft>
                <a:spcPts val="1200"/>
              </a:spcAft>
            </a:pPr>
            <a:r>
              <a:rPr sz="21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2000" b="1" dirty="0" err="1">
                <a:solidFill>
                  <a:srgbClr val="1A232E"/>
                </a:solidFill>
                <a:latin typeface="Calibri"/>
              </a:rPr>
              <a:t>Oportunidade</a:t>
            </a:r>
            <a:r>
              <a:rPr sz="2100" b="0" dirty="0">
                <a:solidFill>
                  <a:srgbClr val="1A232E"/>
                </a:solidFill>
                <a:latin typeface="Calibri"/>
              </a:rPr>
              <a:t>: </a:t>
            </a:r>
            <a:r>
              <a:rPr lang="pt-BR" dirty="0"/>
              <a:t>Histórico de vendas contém padrões implícitos de consumo conjunto (cross-sell).</a:t>
            </a:r>
            <a:endParaRPr b="0" dirty="0">
              <a:solidFill>
                <a:srgbClr val="1A23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0F1B2D"/>
                </a:solidFill>
                <a:latin typeface="Calibri"/>
              </a:rPr>
              <a:t>Pergunta</a:t>
            </a:r>
            <a:r>
              <a:rPr sz="3000" b="1" dirty="0">
                <a:solidFill>
                  <a:srgbClr val="0F1B2D"/>
                </a:solidFill>
                <a:latin typeface="Calibri"/>
              </a:rPr>
              <a:t> de </a:t>
            </a:r>
            <a:r>
              <a:rPr sz="3000" b="1" dirty="0" err="1">
                <a:solidFill>
                  <a:srgbClr val="0F1B2D"/>
                </a:solidFill>
                <a:latin typeface="Calibri"/>
              </a:rPr>
              <a:t>pesquisa</a:t>
            </a:r>
            <a:r>
              <a:rPr sz="3000" b="1" dirty="0">
                <a:solidFill>
                  <a:srgbClr val="0F1B2D"/>
                </a:solidFill>
                <a:latin typeface="Calibri"/>
              </a:rPr>
              <a:t> e </a:t>
            </a:r>
            <a:r>
              <a:rPr sz="3000" b="1" dirty="0" err="1">
                <a:solidFill>
                  <a:srgbClr val="0F1B2D"/>
                </a:solidFill>
                <a:latin typeface="Calibri"/>
              </a:rPr>
              <a:t>hipótese</a:t>
            </a:r>
            <a:endParaRPr sz="3000" b="1" dirty="0">
              <a:solidFill>
                <a:srgbClr val="0F1B2D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1097280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10424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dirty="0">
                <a:solidFill>
                  <a:srgbClr val="FFFFFF"/>
                </a:solidFill>
                <a:latin typeface="Calibri"/>
              </a:rPr>
              <a:t>É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possível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gerar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recomendações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úteis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e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estatisticamente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relevantes</a:t>
            </a:r>
            <a:endParaRPr sz="1900" b="1" dirty="0">
              <a:solidFill>
                <a:srgbClr val="FFFFFF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dirty="0">
                <a:solidFill>
                  <a:srgbClr val="FFFFFF"/>
                </a:solidFill>
                <a:latin typeface="Calibri"/>
              </a:rPr>
              <a:t>para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uma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distribuidora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B2B de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pequeno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porte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usando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apenas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regras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 dirty="0" err="1">
                <a:solidFill>
                  <a:srgbClr val="FFFFFF"/>
                </a:solidFill>
                <a:latin typeface="Calibri"/>
              </a:rPr>
              <a:t>associação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,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mesmo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com volume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reduzido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 de </a:t>
            </a:r>
            <a:r>
              <a:rPr sz="1900" b="1" dirty="0" err="1">
                <a:solidFill>
                  <a:srgbClr val="FFFFFF"/>
                </a:solidFill>
                <a:latin typeface="Calibri"/>
              </a:rPr>
              <a:t>transações</a:t>
            </a:r>
            <a:r>
              <a:rPr sz="1900" b="1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5374"/>
            <a:ext cx="10972800" cy="16209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900" b="1" dirty="0">
                <a:solidFill>
                  <a:srgbClr val="0F1B2D"/>
                </a:solidFill>
                <a:latin typeface="Calibri"/>
              </a:rPr>
              <a:t>H1: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regras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com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confiança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≥ 0,30 e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suporte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≥ 0,02,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ranqueadas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por lift,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geram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cross-sell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coerente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com o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domínio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.</a:t>
            </a:r>
            <a:endParaRPr lang="pt-BR" sz="1900" b="0" dirty="0">
              <a:solidFill>
                <a:srgbClr val="1A232E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endParaRPr lang="pt-BR" sz="1900" dirty="0">
              <a:solidFill>
                <a:srgbClr val="1A232E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900" b="1" dirty="0">
                <a:solidFill>
                  <a:srgbClr val="0F1B2D"/>
                </a:solidFill>
                <a:latin typeface="Calibri"/>
              </a:rPr>
              <a:t>H0: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as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regras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são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indistinguíveis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do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acaso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e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não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superam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um baseline de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popularidade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dirty="0" err="1">
                <a:solidFill>
                  <a:srgbClr val="C8A04B"/>
                </a:solidFill>
                <a:latin typeface="Calibri"/>
              </a:rPr>
              <a:t>Geral</a:t>
            </a:r>
            <a:r>
              <a:rPr sz="2000" b="1" dirty="0">
                <a:solidFill>
                  <a:srgbClr val="C8A04B"/>
                </a:solidFill>
                <a:latin typeface="Calibri"/>
              </a:rPr>
              <a:t>:  </a:t>
            </a:r>
            <a:r>
              <a:rPr lang="pt-BR" sz="2000" b="0" i="1" dirty="0">
                <a:solidFill>
                  <a:srgbClr val="1A232E"/>
                </a:solidFill>
                <a:latin typeface="Calibri"/>
              </a:rPr>
              <a:t>D</a:t>
            </a:r>
            <a:r>
              <a:rPr sz="2000" b="0" i="1" dirty="0" err="1">
                <a:solidFill>
                  <a:srgbClr val="1A232E"/>
                </a:solidFill>
                <a:latin typeface="Calibri"/>
              </a:rPr>
              <a:t>esenvolver</a:t>
            </a:r>
            <a:r>
              <a:rPr sz="2000" b="0" i="1" dirty="0">
                <a:solidFill>
                  <a:srgbClr val="1A232E"/>
                </a:solidFill>
                <a:latin typeface="Calibri"/>
              </a:rPr>
              <a:t> e </a:t>
            </a:r>
            <a:r>
              <a:rPr sz="2000" b="0" i="1" dirty="0" err="1">
                <a:solidFill>
                  <a:srgbClr val="1A232E"/>
                </a:solidFill>
                <a:latin typeface="Calibri"/>
              </a:rPr>
              <a:t>validar</a:t>
            </a:r>
            <a:r>
              <a:rPr sz="2000" b="0" i="1" dirty="0">
                <a:solidFill>
                  <a:srgbClr val="1A232E"/>
                </a:solidFill>
                <a:latin typeface="Calibri"/>
              </a:rPr>
              <a:t> um </a:t>
            </a:r>
            <a:r>
              <a:rPr sz="2000" b="0" i="1" dirty="0" err="1">
                <a:solidFill>
                  <a:srgbClr val="1A232E"/>
                </a:solidFill>
                <a:latin typeface="Calibri"/>
              </a:rPr>
              <a:t>sistema</a:t>
            </a:r>
            <a:r>
              <a:rPr sz="2000" b="0" i="1" dirty="0">
                <a:solidFill>
                  <a:srgbClr val="1A232E"/>
                </a:solidFill>
                <a:latin typeface="Calibri"/>
              </a:rPr>
              <a:t> de </a:t>
            </a:r>
            <a:r>
              <a:rPr sz="2000" b="0" i="1" dirty="0" err="1">
                <a:solidFill>
                  <a:srgbClr val="1A232E"/>
                </a:solidFill>
                <a:latin typeface="Calibri"/>
              </a:rPr>
              <a:t>recomendação</a:t>
            </a:r>
            <a:r>
              <a:rPr sz="2000" b="0" i="1" dirty="0">
                <a:solidFill>
                  <a:srgbClr val="1A232E"/>
                </a:solidFill>
                <a:latin typeface="Calibri"/>
              </a:rPr>
              <a:t> B2B </a:t>
            </a:r>
            <a:r>
              <a:rPr sz="2000" b="0" i="1" dirty="0" err="1">
                <a:solidFill>
                  <a:srgbClr val="1A232E"/>
                </a:solidFill>
                <a:latin typeface="Calibri"/>
              </a:rPr>
              <a:t>baseado</a:t>
            </a:r>
            <a:r>
              <a:rPr sz="2000" b="0" i="1" dirty="0">
                <a:solidFill>
                  <a:srgbClr val="1A232E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1A232E"/>
                </a:solidFill>
                <a:latin typeface="Calibri"/>
              </a:rPr>
              <a:t>em</a:t>
            </a:r>
            <a:r>
              <a:rPr sz="2000" b="0" i="1" dirty="0">
                <a:solidFill>
                  <a:srgbClr val="1A232E"/>
                </a:solidFill>
                <a:latin typeface="Calibri"/>
              </a:rPr>
              <a:t> Market Basket Analysis, com </a:t>
            </a:r>
            <a:r>
              <a:rPr sz="2000" b="0" i="1" dirty="0" err="1">
                <a:solidFill>
                  <a:srgbClr val="1A232E"/>
                </a:solidFill>
                <a:latin typeface="Calibri"/>
              </a:rPr>
              <a:t>relevância</a:t>
            </a:r>
            <a:r>
              <a:rPr sz="2000" b="0" i="1" dirty="0">
                <a:solidFill>
                  <a:srgbClr val="1A232E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1A232E"/>
                </a:solidFill>
                <a:latin typeface="Calibri"/>
              </a:rPr>
              <a:t>estatística</a:t>
            </a:r>
            <a:r>
              <a:rPr sz="2000" b="0" i="1" dirty="0">
                <a:solidFill>
                  <a:srgbClr val="1A232E"/>
                </a:solidFill>
                <a:latin typeface="Calibri"/>
              </a:rPr>
              <a:t> </a:t>
            </a:r>
            <a:r>
              <a:rPr sz="2000" b="0" i="1" dirty="0" err="1">
                <a:solidFill>
                  <a:srgbClr val="1A232E"/>
                </a:solidFill>
                <a:latin typeface="Calibri"/>
              </a:rPr>
              <a:t>mensurável</a:t>
            </a:r>
            <a:r>
              <a:rPr sz="2000" b="0" i="1" dirty="0">
                <a:solidFill>
                  <a:srgbClr val="1A232E"/>
                </a:solidFill>
                <a:latin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dirty="0" err="1">
                <a:solidFill>
                  <a:srgbClr val="C8A04B"/>
                </a:solidFill>
                <a:latin typeface="Calibri"/>
              </a:rPr>
              <a:t>Específicos</a:t>
            </a:r>
            <a:r>
              <a:rPr sz="1800" b="1" dirty="0">
                <a:solidFill>
                  <a:srgbClr val="C8A04B"/>
                </a:solidFill>
                <a:latin typeface="Calibri"/>
              </a:rPr>
              <a:t>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Revisar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a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literatura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(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recomendação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, Apriori, support/confidence/lift).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Modelar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base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transacional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(PostgreSQL/Supabase).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Implementar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extração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regras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e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recomendação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Top-N (API REST).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Construir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interface web de consulta (React).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Validar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via LOOCV (Precision, Recall, F1).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8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Analisar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as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regras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maior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lift sob a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ótica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negócio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Justificativa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09728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109728" cy="132588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737360"/>
            <a:ext cx="2468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0F1B2D"/>
                </a:solidFill>
                <a:latin typeface="Calibri"/>
              </a:rPr>
              <a:t>Acadêmica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37360"/>
            <a:ext cx="7772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A232E"/>
                </a:solidFill>
                <a:latin typeface="Calibri"/>
              </a:rPr>
              <a:t>Maioria dos estudos foca B2C de grande volume. Lacuna em B2B esparso, onde a filtragem colaborativa falha.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109728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337560"/>
            <a:ext cx="109728" cy="132588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2468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0F1B2D"/>
                </a:solidFill>
                <a:latin typeface="Calibri"/>
              </a:rPr>
              <a:t>Prática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7772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dirty="0" err="1">
                <a:solidFill>
                  <a:srgbClr val="1A232E"/>
                </a:solidFill>
                <a:latin typeface="Calibri"/>
              </a:rPr>
              <a:t>Empresa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 real do </a:t>
            </a:r>
            <a:r>
              <a:rPr sz="1700" b="0" dirty="0" err="1">
                <a:solidFill>
                  <a:srgbClr val="1A232E"/>
                </a:solidFill>
                <a:latin typeface="Calibri"/>
              </a:rPr>
              <a:t>autor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. </a:t>
            </a:r>
            <a:r>
              <a:rPr sz="1700" b="0" dirty="0" err="1">
                <a:solidFill>
                  <a:srgbClr val="1A232E"/>
                </a:solidFill>
                <a:latin typeface="Calibri"/>
              </a:rPr>
              <a:t>Apoia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 a </a:t>
            </a:r>
            <a:r>
              <a:rPr sz="1700" b="0" dirty="0" err="1">
                <a:solidFill>
                  <a:srgbClr val="1A232E"/>
                </a:solidFill>
                <a:latin typeface="Calibri"/>
              </a:rPr>
              <a:t>equipe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 de </a:t>
            </a:r>
            <a:r>
              <a:rPr sz="1700" b="0" dirty="0" err="1">
                <a:solidFill>
                  <a:srgbClr val="1A232E"/>
                </a:solidFill>
                <a:latin typeface="Calibri"/>
              </a:rPr>
              <a:t>vendas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 com </a:t>
            </a:r>
            <a:r>
              <a:rPr sz="1700" b="0" dirty="0" err="1">
                <a:solidFill>
                  <a:srgbClr val="1A232E"/>
                </a:solidFill>
                <a:latin typeface="Calibri"/>
              </a:rPr>
              <a:t>sugestões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232E"/>
                </a:solidFill>
                <a:latin typeface="Calibri"/>
              </a:rPr>
              <a:t>baseadas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232E"/>
                </a:solidFill>
                <a:latin typeface="Calibri"/>
              </a:rPr>
              <a:t>em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 dados, </a:t>
            </a:r>
            <a:r>
              <a:rPr sz="1700" b="0" dirty="0" err="1">
                <a:solidFill>
                  <a:srgbClr val="1A232E"/>
                </a:solidFill>
                <a:latin typeface="Calibri"/>
              </a:rPr>
              <a:t>não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232E"/>
                </a:solidFill>
                <a:latin typeface="Calibri"/>
              </a:rPr>
              <a:t>em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700" b="0" dirty="0" err="1">
                <a:solidFill>
                  <a:srgbClr val="1A232E"/>
                </a:solidFill>
                <a:latin typeface="Calibri"/>
              </a:rPr>
              <a:t>intuição</a:t>
            </a:r>
            <a:r>
              <a:rPr sz="1700" b="0" dirty="0">
                <a:solidFill>
                  <a:srgbClr val="1A232E"/>
                </a:solidFill>
                <a:latin typeface="Calibri"/>
              </a:rPr>
              <a:t>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1097280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09728" cy="132588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937760"/>
            <a:ext cx="2468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0F1B2D"/>
                </a:solidFill>
                <a:latin typeface="Calibri"/>
              </a:rPr>
              <a:t>Técnica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937760"/>
            <a:ext cx="77724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1A232E"/>
                </a:solidFill>
                <a:latin typeface="Calibri"/>
              </a:rPr>
              <a:t>Arquitetura completa, reproduzível e de baixo custo, viável para pequenas empresas sem Big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Regras de associação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2  •  MARKET BASKET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2268"/>
            <a:ext cx="10972800" cy="16158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lang="pt-BR" b="1" dirty="0">
                <a:solidFill>
                  <a:srgbClr val="C8A04B"/>
                </a:solidFill>
              </a:rPr>
              <a:t>•  </a:t>
            </a:r>
            <a:r>
              <a:rPr lang="en-US" sz="2200" b="1" dirty="0" err="1">
                <a:solidFill>
                  <a:srgbClr val="111827"/>
                </a:solidFill>
                <a:ea typeface="Inter Black" pitchFamily="34" charset="-122"/>
                <a:cs typeface="Inter Black" pitchFamily="34" charset="-120"/>
              </a:rPr>
              <a:t>Conceito</a:t>
            </a:r>
            <a:r>
              <a:rPr lang="en-US" sz="2000" b="1" dirty="0">
                <a:solidFill>
                  <a:srgbClr val="111827"/>
                </a:solidFill>
                <a:ea typeface="Inter Black" pitchFamily="34" charset="-122"/>
                <a:cs typeface="Inter Black" pitchFamily="34" charset="-120"/>
              </a:rPr>
              <a:t>:</a:t>
            </a:r>
            <a:r>
              <a:rPr lang="en-US" sz="2000" dirty="0">
                <a:solidFill>
                  <a:srgbClr val="374151"/>
                </a:solidFill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ea typeface="Inter Medium" pitchFamily="34" charset="-122"/>
                <a:cs typeface="Inter Medium" pitchFamily="34" charset="-120"/>
              </a:rPr>
              <a:t>Análise</a:t>
            </a:r>
            <a:r>
              <a:rPr lang="en-US" sz="2000" dirty="0">
                <a:ea typeface="Inter Medium" pitchFamily="34" charset="-122"/>
                <a:cs typeface="Inter Medium" pitchFamily="34" charset="-120"/>
              </a:rPr>
              <a:t> de </a:t>
            </a:r>
            <a:r>
              <a:rPr lang="en-US" sz="2000" dirty="0" err="1">
                <a:ea typeface="Inter Medium" pitchFamily="34" charset="-122"/>
                <a:cs typeface="Inter Medium" pitchFamily="34" charset="-120"/>
              </a:rPr>
              <a:t>Cesta</a:t>
            </a:r>
            <a:r>
              <a:rPr lang="en-US" sz="2000" dirty="0">
                <a:ea typeface="Inter Medium" pitchFamily="34" charset="-122"/>
                <a:cs typeface="Inter Medium" pitchFamily="34" charset="-120"/>
              </a:rPr>
              <a:t> de </a:t>
            </a:r>
            <a:r>
              <a:rPr lang="en-US" sz="2000" dirty="0" err="1">
                <a:ea typeface="Inter Medium" pitchFamily="34" charset="-122"/>
                <a:cs typeface="Inter Medium" pitchFamily="34" charset="-120"/>
              </a:rPr>
              <a:t>Compras</a:t>
            </a:r>
            <a:r>
              <a:rPr lang="en-US" sz="2000" dirty="0"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ea typeface="Inter Medium" pitchFamily="34" charset="-122"/>
                <a:cs typeface="Inter Medium" pitchFamily="34" charset="-120"/>
              </a:rPr>
              <a:t>focada</a:t>
            </a:r>
            <a:r>
              <a:rPr lang="en-US" sz="2000" dirty="0">
                <a:ea typeface="Inter Medium" pitchFamily="34" charset="-122"/>
                <a:cs typeface="Inter Medium" pitchFamily="34" charset="-120"/>
              </a:rPr>
              <a:t> </a:t>
            </a:r>
            <a:r>
              <a:rPr sz="2000" b="0" dirty="0" err="1"/>
              <a:t>padrão</a:t>
            </a:r>
            <a:r>
              <a:rPr sz="2000" b="0" dirty="0"/>
              <a:t> A ⇒ B. </a:t>
            </a:r>
            <a:endParaRPr lang="pt-BR" sz="2000" b="0" dirty="0"/>
          </a:p>
          <a:p>
            <a:pPr>
              <a:spcAft>
                <a:spcPts val="600"/>
              </a:spcAft>
            </a:pPr>
            <a:endParaRPr lang="pt-BR" sz="2000" b="0" dirty="0">
              <a:solidFill>
                <a:srgbClr val="1A232E"/>
              </a:solidFill>
            </a:endParaRPr>
          </a:p>
          <a:p>
            <a:pPr>
              <a:spcAft>
                <a:spcPts val="600"/>
              </a:spcAft>
            </a:pPr>
            <a:r>
              <a:rPr lang="pt-BR" b="1" dirty="0">
                <a:solidFill>
                  <a:srgbClr val="C8A04B"/>
                </a:solidFill>
              </a:rPr>
              <a:t>•  </a:t>
            </a:r>
            <a:r>
              <a:rPr lang="pt-BR" sz="2200" b="1" dirty="0"/>
              <a:t>Objetivo</a:t>
            </a:r>
            <a:r>
              <a:rPr lang="pt-BR" b="1" dirty="0"/>
              <a:t>:</a:t>
            </a:r>
            <a:r>
              <a:rPr lang="pt-BR" sz="2000" dirty="0"/>
              <a:t> </a:t>
            </a:r>
            <a:r>
              <a:rPr lang="pt-BR" sz="2000" dirty="0">
                <a:ea typeface="Inter Medium" pitchFamily="34" charset="-122"/>
              </a:rPr>
              <a:t>Transformar</a:t>
            </a:r>
            <a:r>
              <a:rPr lang="pt-BR" sz="2000" dirty="0"/>
              <a:t> transações brutas em conhecimento estratégico para cross-sell.</a:t>
            </a:r>
          </a:p>
          <a:p>
            <a:pPr>
              <a:spcAft>
                <a:spcPts val="600"/>
              </a:spcAft>
            </a:pPr>
            <a:endParaRPr sz="2000" b="0" dirty="0">
              <a:solidFill>
                <a:srgbClr val="1A232E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" y="2926080"/>
            <a:ext cx="361188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1871" y="2930161"/>
            <a:ext cx="3611880" cy="109728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3246120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dirty="0">
                <a:solidFill>
                  <a:srgbClr val="0F1B2D"/>
                </a:solidFill>
                <a:latin typeface="Calibri"/>
              </a:rPr>
              <a:t>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3192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dirty="0" err="1">
                <a:solidFill>
                  <a:srgbClr val="C8A04B"/>
                </a:solidFill>
                <a:latin typeface="Calibri"/>
              </a:rPr>
              <a:t>freq</a:t>
            </a:r>
            <a:r>
              <a:rPr sz="1600" b="1" dirty="0">
                <a:solidFill>
                  <a:srgbClr val="C8A04B"/>
                </a:solidFill>
                <a:latin typeface="Calibri"/>
              </a:rPr>
              <a:t>(A∩B) /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5262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 dirty="0" err="1">
                <a:solidFill>
                  <a:srgbClr val="5A6672"/>
                </a:solidFill>
                <a:latin typeface="Calibri"/>
              </a:rPr>
              <a:t>Quão</a:t>
            </a:r>
            <a:r>
              <a:rPr sz="1500" b="0" dirty="0">
                <a:solidFill>
                  <a:srgbClr val="5A6672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5A6672"/>
                </a:solidFill>
                <a:latin typeface="Calibri"/>
              </a:rPr>
              <a:t>comum</a:t>
            </a:r>
            <a:r>
              <a:rPr sz="1500" b="0" dirty="0">
                <a:solidFill>
                  <a:srgbClr val="5A6672"/>
                </a:solidFill>
                <a:latin typeface="Calibri"/>
              </a:rPr>
              <a:t> é o par. Filtra </a:t>
            </a:r>
            <a:r>
              <a:rPr sz="1500" b="0" dirty="0" err="1">
                <a:solidFill>
                  <a:srgbClr val="5A6672"/>
                </a:solidFill>
                <a:latin typeface="Calibri"/>
              </a:rPr>
              <a:t>raros</a:t>
            </a:r>
            <a:r>
              <a:rPr sz="1500" b="0" dirty="0">
                <a:solidFill>
                  <a:srgbClr val="5A6672"/>
                </a:solidFill>
                <a:latin typeface="Calibri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926080"/>
            <a:ext cx="361188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51960" y="2926080"/>
            <a:ext cx="3611880" cy="109728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3246120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F1B2D"/>
                </a:solidFill>
                <a:latin typeface="Calibri"/>
              </a:rPr>
              <a:t>Confidence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93192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04B"/>
                </a:solidFill>
                <a:latin typeface="Calibri"/>
              </a:rPr>
              <a:t>freq(A∩B) / freq(A)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5262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Dado A, probabilidade de B. Força da regra.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28432" y="3024654"/>
            <a:ext cx="3505200" cy="23703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28432" y="2926080"/>
            <a:ext cx="3611880" cy="109728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28432" y="3209544"/>
            <a:ext cx="3611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0F1B2D"/>
                </a:solidFill>
                <a:latin typeface="Calibri"/>
              </a:rPr>
              <a:t>Lift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931920"/>
            <a:ext cx="3246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C8A04B"/>
                </a:solidFill>
                <a:latin typeface="Calibri"/>
              </a:rPr>
              <a:t>confidence / support(B)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4526280"/>
            <a:ext cx="3154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&gt; 1 = associação real, não acaso.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Metodologia e dados reais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12721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 dirty="0" err="1">
                <a:solidFill>
                  <a:srgbClr val="1A232E"/>
                </a:solidFill>
                <a:latin typeface="Calibri"/>
              </a:rPr>
              <a:t>Pesquisa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0F1B2D"/>
                </a:solidFill>
                <a:latin typeface="Calibri"/>
              </a:rPr>
              <a:t>aplicada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1A232E"/>
                </a:solidFill>
                <a:latin typeface="Calibri"/>
              </a:rPr>
              <a:t>quantitativa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, </a:t>
            </a:r>
            <a:r>
              <a:rPr sz="2000" b="0" dirty="0" err="1">
                <a:solidFill>
                  <a:srgbClr val="1A232E"/>
                </a:solidFill>
                <a:latin typeface="Calibri"/>
              </a:rPr>
              <a:t>estudo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 de </a:t>
            </a:r>
            <a:r>
              <a:rPr sz="2000" b="0" dirty="0" err="1">
                <a:solidFill>
                  <a:srgbClr val="1A232E"/>
                </a:solidFill>
                <a:latin typeface="Calibri"/>
              </a:rPr>
              <a:t>caso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1A232E"/>
                </a:solidFill>
                <a:latin typeface="Calibri"/>
              </a:rPr>
              <a:t>único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.</a:t>
            </a:r>
            <a:endParaRPr lang="pt-BR" sz="2000" dirty="0">
              <a:solidFill>
                <a:srgbClr val="1A232E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 dirty="0" err="1">
                <a:solidFill>
                  <a:srgbClr val="1A232E"/>
                </a:solidFill>
                <a:latin typeface="Calibri"/>
              </a:rPr>
              <a:t>Método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: </a:t>
            </a:r>
            <a:r>
              <a:rPr sz="2000" b="1" dirty="0">
                <a:solidFill>
                  <a:srgbClr val="0F1B2D"/>
                </a:solidFill>
                <a:latin typeface="Calibri"/>
              </a:rPr>
              <a:t>Design Science Research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 (</a:t>
            </a:r>
            <a:r>
              <a:rPr sz="2000" b="0" dirty="0" err="1">
                <a:solidFill>
                  <a:srgbClr val="1A232E"/>
                </a:solidFill>
                <a:latin typeface="Calibri"/>
              </a:rPr>
              <a:t>artefato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 + </a:t>
            </a:r>
            <a:r>
              <a:rPr sz="2000" b="0" dirty="0" err="1">
                <a:solidFill>
                  <a:srgbClr val="1A232E"/>
                </a:solidFill>
                <a:latin typeface="Calibri"/>
              </a:rPr>
              <a:t>avaliação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).</a:t>
            </a:r>
            <a:endParaRPr lang="pt-BR" sz="2000" b="0" dirty="0">
              <a:solidFill>
                <a:srgbClr val="1A232E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Dados reais de </a:t>
            </a:r>
            <a:r>
              <a:rPr sz="2000" b="0" dirty="0" err="1">
                <a:solidFill>
                  <a:srgbClr val="1A232E"/>
                </a:solidFill>
                <a:latin typeface="Calibri"/>
              </a:rPr>
              <a:t>venda</a:t>
            </a:r>
            <a:r>
              <a:rPr sz="2000" b="0" dirty="0">
                <a:solidFill>
                  <a:srgbClr val="1A232E"/>
                </a:solidFill>
                <a:latin typeface="Calibri"/>
              </a:rPr>
              <a:t> da Quasar Barber: 29/04 a 18/06/2026.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23360"/>
            <a:ext cx="214884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8648" y="4023360"/>
            <a:ext cx="214884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8648" y="4251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50749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clientes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7216" y="4023360"/>
            <a:ext cx="214884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57216" y="4251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50749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produtos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15784" y="4023360"/>
            <a:ext cx="214884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15784" y="4251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4" y="50749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itens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74352" y="4023360"/>
            <a:ext cx="2148840" cy="155448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74352" y="4251960"/>
            <a:ext cx="2148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507492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multi-item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Calibri"/>
              </a:rPr>
              <a:t>Apenas 14 cestas multi-item geram regras — a esparsidade é intrínseca ao B2B.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Arquitetura do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dirty="0">
                <a:solidFill>
                  <a:srgbClr val="C8A04B"/>
                </a:solidFill>
                <a:latin typeface="Calibri"/>
              </a:rPr>
              <a:t>CAPÍTULO 4</a:t>
            </a:r>
            <a:r>
              <a:rPr lang="pt-BR" sz="1200" b="1" dirty="0">
                <a:solidFill>
                  <a:srgbClr val="C8A04B"/>
                </a:solidFill>
                <a:latin typeface="Calibri"/>
              </a:rPr>
              <a:t>. DESENVOLVIMENTO</a:t>
            </a:r>
            <a:endParaRPr sz="1200" b="1" dirty="0">
              <a:solidFill>
                <a:srgbClr val="C8A04B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dirty="0">
                <a:solidFill>
                  <a:srgbClr val="5A6672"/>
                </a:solidFill>
                <a:latin typeface="Calibri"/>
              </a:rPr>
              <a:t>Felipe Pereira  •  Sistema de </a:t>
            </a:r>
            <a:r>
              <a:rPr sz="1000" b="0" dirty="0" err="1">
                <a:solidFill>
                  <a:srgbClr val="5A6672"/>
                </a:solidFill>
                <a:latin typeface="Calibri"/>
              </a:rPr>
              <a:t>Recomendação</a:t>
            </a:r>
            <a:r>
              <a:rPr sz="1000" b="0" dirty="0">
                <a:solidFill>
                  <a:srgbClr val="5A6672"/>
                </a:solidFill>
                <a:latin typeface="Calibri"/>
              </a:rPr>
              <a:t> B2B com </a:t>
            </a:r>
            <a:r>
              <a:rPr sz="1000" b="0" dirty="0" err="1">
                <a:solidFill>
                  <a:srgbClr val="5A6672"/>
                </a:solidFill>
                <a:latin typeface="Calibri"/>
              </a:rPr>
              <a:t>Regras</a:t>
            </a:r>
            <a:r>
              <a:rPr sz="1000" b="0" dirty="0">
                <a:solidFill>
                  <a:srgbClr val="5A6672"/>
                </a:solidFill>
                <a:latin typeface="Calibri"/>
              </a:rPr>
              <a:t> de </a:t>
            </a:r>
            <a:r>
              <a:rPr sz="1000" b="0" dirty="0" err="1">
                <a:solidFill>
                  <a:srgbClr val="5A6672"/>
                </a:solidFill>
                <a:latin typeface="Calibri"/>
              </a:rPr>
              <a:t>Associação</a:t>
            </a:r>
            <a:endParaRPr sz="1000" b="0" dirty="0">
              <a:solidFill>
                <a:srgbClr val="5A667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figura1-arquite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577" y="1508760"/>
            <a:ext cx="670124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0F1B2D"/>
                </a:solidFill>
                <a:latin typeface="Calibri"/>
              </a:rPr>
              <a:t>Protocolo</a:t>
            </a:r>
            <a:r>
              <a:rPr sz="3000" b="1" dirty="0">
                <a:solidFill>
                  <a:srgbClr val="0F1B2D"/>
                </a:solidFill>
                <a:latin typeface="Calibri"/>
              </a:rPr>
              <a:t> de </a:t>
            </a:r>
            <a:r>
              <a:rPr sz="3000" b="1" dirty="0" err="1">
                <a:solidFill>
                  <a:srgbClr val="0F1B2D"/>
                </a:solidFill>
                <a:latin typeface="Calibri"/>
              </a:rPr>
              <a:t>validação</a:t>
            </a:r>
            <a:endParaRPr sz="3000" b="1" dirty="0">
              <a:solidFill>
                <a:srgbClr val="0F1B2D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dirty="0">
                <a:solidFill>
                  <a:srgbClr val="C8A04B"/>
                </a:solidFill>
                <a:latin typeface="Calibri"/>
              </a:rPr>
              <a:t>CAPÍTULO </a:t>
            </a:r>
            <a:r>
              <a:rPr lang="pt-BR" sz="1200" b="1" dirty="0">
                <a:solidFill>
                  <a:srgbClr val="C8A04B"/>
                </a:solidFill>
                <a:latin typeface="Calibri"/>
              </a:rPr>
              <a:t>5</a:t>
            </a:r>
            <a:r>
              <a:rPr sz="1200" b="1" dirty="0">
                <a:solidFill>
                  <a:srgbClr val="C8A04B"/>
                </a:solidFill>
                <a:latin typeface="Calibri"/>
              </a:rPr>
              <a:t> •  POR QUE LOOCV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dirty="0">
                <a:solidFill>
                  <a:srgbClr val="5A6672"/>
                </a:solidFill>
                <a:latin typeface="Calibri"/>
              </a:rPr>
              <a:t>Felipe Pereira  •  Sistema de </a:t>
            </a:r>
            <a:r>
              <a:rPr sz="1000" b="0" dirty="0" err="1">
                <a:solidFill>
                  <a:srgbClr val="5A6672"/>
                </a:solidFill>
                <a:latin typeface="Calibri"/>
              </a:rPr>
              <a:t>Recomendação</a:t>
            </a:r>
            <a:r>
              <a:rPr sz="1000" b="0" dirty="0">
                <a:solidFill>
                  <a:srgbClr val="5A6672"/>
                </a:solidFill>
                <a:latin typeface="Calibri"/>
              </a:rPr>
              <a:t> B2B com </a:t>
            </a:r>
            <a:r>
              <a:rPr sz="1000" b="0" dirty="0" err="1">
                <a:solidFill>
                  <a:srgbClr val="5A6672"/>
                </a:solidFill>
                <a:latin typeface="Calibri"/>
              </a:rPr>
              <a:t>Regras</a:t>
            </a:r>
            <a:r>
              <a:rPr sz="1000" b="0" dirty="0">
                <a:solidFill>
                  <a:srgbClr val="5A6672"/>
                </a:solidFill>
                <a:latin typeface="Calibri"/>
              </a:rPr>
              <a:t> de </a:t>
            </a:r>
            <a:r>
              <a:rPr sz="1000" b="0" dirty="0" err="1">
                <a:solidFill>
                  <a:srgbClr val="5A6672"/>
                </a:solidFill>
                <a:latin typeface="Calibri"/>
              </a:rPr>
              <a:t>Associação</a:t>
            </a:r>
            <a:endParaRPr sz="1000" b="0" dirty="0">
              <a:solidFill>
                <a:srgbClr val="5A667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900" b="1" dirty="0">
                <a:solidFill>
                  <a:srgbClr val="0F1B2D"/>
                </a:solidFill>
                <a:latin typeface="Calibri"/>
              </a:rPr>
              <a:t>Holdout 80/20 </a:t>
            </a:r>
            <a:r>
              <a:rPr sz="1900" b="1" dirty="0" err="1">
                <a:solidFill>
                  <a:srgbClr val="0F1B2D"/>
                </a:solidFill>
                <a:latin typeface="Calibri"/>
              </a:rPr>
              <a:t>descartado</a:t>
            </a:r>
            <a:r>
              <a:rPr sz="1900" b="1" dirty="0">
                <a:solidFill>
                  <a:srgbClr val="0F1B2D"/>
                </a:solidFill>
                <a:latin typeface="Calibri"/>
              </a:rPr>
              <a:t>: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em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30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transações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,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sobram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só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1" dirty="0">
                <a:solidFill>
                  <a:srgbClr val="0F1B2D"/>
                </a:solidFill>
                <a:latin typeface="Calibri"/>
              </a:rPr>
              <a:t>3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cestas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avaliáveis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no teste →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instável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900" b="1" dirty="0">
                <a:solidFill>
                  <a:srgbClr val="0F1B2D"/>
                </a:solidFill>
                <a:latin typeface="Calibri"/>
              </a:rPr>
              <a:t>LOOCV (Leave-One-Out):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N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rodadas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,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treina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com N-1,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testa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1.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Aproveita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todos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os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dados.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Esquema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1" dirty="0">
                <a:solidFill>
                  <a:srgbClr val="0F1B2D"/>
                </a:solidFill>
                <a:latin typeface="Calibri"/>
              </a:rPr>
              <a:t>esconder-1-item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: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oculta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um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produto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da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cesta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,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sistema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tenta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recuperá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-lo no Top-3.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9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900" b="1" dirty="0" err="1">
                <a:solidFill>
                  <a:srgbClr val="0F1B2D"/>
                </a:solidFill>
                <a:latin typeface="Calibri"/>
              </a:rPr>
              <a:t>Teto</a:t>
            </a:r>
            <a:r>
              <a:rPr sz="1900" b="1" dirty="0">
                <a:solidFill>
                  <a:srgbClr val="0F1B2D"/>
                </a:solidFill>
                <a:latin typeface="Calibri"/>
              </a:rPr>
              <a:t> da Precision = 1/N ≈ 0,33: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1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produto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a achar,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até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3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recomendados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dirty="0">
                <a:solidFill>
                  <a:srgbClr val="C8A04B"/>
                </a:solidFill>
                <a:latin typeface="Calibri"/>
              </a:rPr>
              <a:t>–  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→ Recall e F1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são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os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indicadores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mais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informativos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08850" y="0"/>
            <a:ext cx="12324356" cy="6994624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</p:pic>
      <p:sp>
        <p:nvSpPr>
          <p:cNvPr id="4" name="Text 1"/>
          <p:cNvSpPr/>
          <p:nvPr/>
        </p:nvSpPr>
        <p:spPr>
          <a:xfrm>
            <a:off x="487680" y="1114343"/>
            <a:ext cx="4960620" cy="343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88000"/>
              </a:lnSpc>
            </a:pPr>
            <a:r>
              <a:rPr lang="en-US" sz="2533" b="1" dirty="0">
                <a:solidFill>
                  <a:srgbClr val="111827"/>
                </a:solidFill>
                <a:ea typeface="Inter Black" pitchFamily="34" charset="-122"/>
                <a:cs typeface="Inter Black" pitchFamily="34" charset="-120"/>
              </a:rPr>
              <a:t>44 REGRAS GERADAS</a:t>
            </a:r>
            <a:endParaRPr lang="en-US" sz="2533" dirty="0"/>
          </a:p>
        </p:txBody>
      </p:sp>
      <p:sp>
        <p:nvSpPr>
          <p:cNvPr id="5" name="Text 2"/>
          <p:cNvSpPr/>
          <p:nvPr/>
        </p:nvSpPr>
        <p:spPr>
          <a:xfrm>
            <a:off x="571501" y="2227361"/>
            <a:ext cx="3924300" cy="502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67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76,51%</a:t>
            </a:r>
            <a:endParaRPr lang="en-US" sz="3267" dirty="0"/>
          </a:p>
        </p:txBody>
      </p:sp>
      <p:sp>
        <p:nvSpPr>
          <p:cNvPr id="6" name="Text 3"/>
          <p:cNvSpPr/>
          <p:nvPr/>
        </p:nvSpPr>
        <p:spPr>
          <a:xfrm>
            <a:off x="571501" y="2779812"/>
            <a:ext cx="3924300" cy="1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7" dirty="0">
                <a:solidFill>
                  <a:srgbClr val="37415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CONFIANÇA MÉDIA</a:t>
            </a:r>
            <a:endParaRPr lang="en-US" sz="1267" dirty="0"/>
          </a:p>
        </p:txBody>
      </p:sp>
      <p:sp>
        <p:nvSpPr>
          <p:cNvPr id="7" name="Text 4"/>
          <p:cNvSpPr/>
          <p:nvPr/>
        </p:nvSpPr>
        <p:spPr>
          <a:xfrm>
            <a:off x="571501" y="3377505"/>
            <a:ext cx="3924300" cy="502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3267" b="1" dirty="0">
                <a:solidFill>
                  <a:srgbClr val="111827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12,41</a:t>
            </a:r>
            <a:endParaRPr lang="en-US" sz="3267" dirty="0"/>
          </a:p>
        </p:txBody>
      </p:sp>
      <p:sp>
        <p:nvSpPr>
          <p:cNvPr id="8" name="Text 5"/>
          <p:cNvSpPr/>
          <p:nvPr/>
        </p:nvSpPr>
        <p:spPr>
          <a:xfrm>
            <a:off x="571501" y="3929956"/>
            <a:ext cx="3924300" cy="1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7" dirty="0">
                <a:solidFill>
                  <a:srgbClr val="37415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LIFT MÉDIO</a:t>
            </a:r>
            <a:endParaRPr lang="en-US" sz="1267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61518" y="4439094"/>
            <a:ext cx="3924300" cy="20955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702677" y="0"/>
            <a:ext cx="6541292" cy="6613624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1" name="Shape 7"/>
          <p:cNvSpPr/>
          <p:nvPr/>
        </p:nvSpPr>
        <p:spPr>
          <a:xfrm>
            <a:off x="5913065" y="557375"/>
            <a:ext cx="381000" cy="381000"/>
          </a:xfrm>
          <a:prstGeom prst="rect">
            <a:avLst/>
          </a:prstGeom>
          <a:solidFill>
            <a:srgbClr val="C8A04B"/>
          </a:solidFill>
          <a:ln/>
        </p:spPr>
      </p:sp>
      <p:sp>
        <p:nvSpPr>
          <p:cNvPr id="12" name="Text 8"/>
          <p:cNvSpPr/>
          <p:nvPr/>
        </p:nvSpPr>
        <p:spPr>
          <a:xfrm>
            <a:off x="6017003" y="645315"/>
            <a:ext cx="173124" cy="205121"/>
          </a:xfrm>
          <a:prstGeom prst="rect">
            <a:avLst/>
          </a:prstGeom>
          <a:solidFill>
            <a:srgbClr val="C8A04B"/>
          </a:solidFill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1333" dirty="0"/>
          </a:p>
        </p:txBody>
      </p:sp>
      <p:sp>
        <p:nvSpPr>
          <p:cNvPr id="13" name="Text 9"/>
          <p:cNvSpPr/>
          <p:nvPr/>
        </p:nvSpPr>
        <p:spPr>
          <a:xfrm>
            <a:off x="6504452" y="514735"/>
            <a:ext cx="5600700" cy="53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600" b="1" dirty="0">
                <a:solidFill>
                  <a:srgbClr val="C8A04B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Associações</a:t>
            </a:r>
            <a:r>
              <a:rPr lang="en-US" sz="1600" b="1" dirty="0">
                <a:solidFill>
                  <a:srgbClr val="E11D48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 </a:t>
            </a:r>
            <a:r>
              <a:rPr lang="en-US" sz="1600" b="1" dirty="0">
                <a:solidFill>
                  <a:srgbClr val="C8A04B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Fortes:</a:t>
            </a:r>
            <a:r>
              <a:rPr lang="en-US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Regras como "Shampoo Silver Boost ⇒ Bálsamo Fortalecedor" apresentaram Lift de </a:t>
            </a:r>
            <a:r>
              <a:rPr lang="en-US" sz="1333" b="1" dirty="0">
                <a:solidFill>
                  <a:srgbClr val="C8A04B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30,0</a:t>
            </a:r>
            <a:r>
              <a:rPr lang="en-US" sz="14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.</a:t>
            </a:r>
            <a:endParaRPr lang="en-US" sz="1333" dirty="0">
              <a:latin typeface="+mj-lt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913065" y="1607441"/>
            <a:ext cx="381000" cy="381000"/>
          </a:xfrm>
          <a:prstGeom prst="rect">
            <a:avLst/>
          </a:prstGeom>
          <a:solidFill>
            <a:srgbClr val="C8A04B"/>
          </a:solidFill>
          <a:ln/>
        </p:spPr>
      </p:sp>
      <p:sp>
        <p:nvSpPr>
          <p:cNvPr id="15" name="Text 11"/>
          <p:cNvSpPr/>
          <p:nvPr/>
        </p:nvSpPr>
        <p:spPr>
          <a:xfrm>
            <a:off x="5976811" y="1695380"/>
            <a:ext cx="274264" cy="20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1333" dirty="0"/>
          </a:p>
        </p:txBody>
      </p:sp>
      <p:sp>
        <p:nvSpPr>
          <p:cNvPr id="16" name="Text 12"/>
          <p:cNvSpPr/>
          <p:nvPr/>
        </p:nvSpPr>
        <p:spPr>
          <a:xfrm>
            <a:off x="6501654" y="1544978"/>
            <a:ext cx="5600700" cy="468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333" b="1" dirty="0">
                <a:solidFill>
                  <a:srgbClr val="C8A04B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Qualidade dos Dados:</a:t>
            </a:r>
            <a:r>
              <a:rPr lang="en-US" sz="1400" dirty="0">
                <a:solidFill>
                  <a:srgbClr val="C8A04B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O alto Lift em pares raros confirma a eficácia do algoritmo em identificar nichos de consumo.</a:t>
            </a:r>
            <a:endParaRPr lang="en-US" sz="1333" dirty="0">
              <a:latin typeface="+mj-lt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5917119" y="2656964"/>
            <a:ext cx="381000" cy="381000"/>
          </a:xfrm>
          <a:prstGeom prst="rect">
            <a:avLst/>
          </a:prstGeom>
          <a:solidFill>
            <a:srgbClr val="C8A04B"/>
          </a:solidFill>
          <a:ln/>
        </p:spPr>
      </p:sp>
      <p:sp>
        <p:nvSpPr>
          <p:cNvPr id="18" name="Text 14"/>
          <p:cNvSpPr/>
          <p:nvPr/>
        </p:nvSpPr>
        <p:spPr>
          <a:xfrm>
            <a:off x="6021057" y="2744903"/>
            <a:ext cx="173124" cy="2051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1333" dirty="0"/>
          </a:p>
        </p:txBody>
      </p:sp>
      <p:sp>
        <p:nvSpPr>
          <p:cNvPr id="19" name="Text 15"/>
          <p:cNvSpPr/>
          <p:nvPr/>
        </p:nvSpPr>
        <p:spPr>
          <a:xfrm>
            <a:off x="6504452" y="2637781"/>
            <a:ext cx="5600700" cy="468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333" b="1" dirty="0">
                <a:solidFill>
                  <a:srgbClr val="C8A04B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Interatividade:</a:t>
            </a:r>
            <a:r>
              <a:rPr lang="en-US" sz="1400" dirty="0">
                <a:solidFill>
                  <a:srgbClr val="C8A04B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4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O sistema permite filtrar regras por limiares de suporte e confiança em tempo real para a equipe de vendas.</a:t>
            </a:r>
            <a:endParaRPr lang="en-US" sz="1333" dirty="0">
              <a:latin typeface="+mj-lt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0" y="6613624"/>
            <a:ext cx="12192000" cy="381000"/>
          </a:xfrm>
          <a:prstGeom prst="rect">
            <a:avLst/>
          </a:prstGeom>
          <a:solidFill>
            <a:srgbClr val="F4F1EA"/>
          </a:solidFill>
          <a:ln/>
        </p:spPr>
      </p:sp>
      <p:sp>
        <p:nvSpPr>
          <p:cNvPr id="21" name="Shape 17"/>
          <p:cNvSpPr/>
          <p:nvPr/>
        </p:nvSpPr>
        <p:spPr>
          <a:xfrm>
            <a:off x="0" y="6613624"/>
            <a:ext cx="12192000" cy="9525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22" name="Text 18"/>
          <p:cNvSpPr/>
          <p:nvPr/>
        </p:nvSpPr>
        <p:spPr>
          <a:xfrm>
            <a:off x="571501" y="6723162"/>
            <a:ext cx="5079207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dirty="0"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Felipe Pereira Ferreira • Sistema de Recomendação B2B • IFMA Campus Caxias</a:t>
            </a:r>
            <a:endParaRPr lang="en-US" sz="1000" dirty="0"/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20252EED-CD5C-49C7-9716-EA9742431C8C}"/>
              </a:ext>
            </a:extLst>
          </p:cNvPr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dirty="0">
                <a:solidFill>
                  <a:srgbClr val="C8A04B"/>
                </a:solidFill>
                <a:latin typeface="Calibri"/>
              </a:rPr>
              <a:t>CAPÍTULO 5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BD750871-4AD1-4357-ADAE-CDC43CD69AD4}"/>
              </a:ext>
            </a:extLst>
          </p:cNvPr>
          <p:cNvSpPr txBox="1"/>
          <p:nvPr/>
        </p:nvSpPr>
        <p:spPr>
          <a:xfrm>
            <a:off x="317528" y="471903"/>
            <a:ext cx="5130772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0F1B2D"/>
                </a:solidFill>
                <a:latin typeface="Calibri"/>
              </a:rPr>
              <a:t>Resultados</a:t>
            </a:r>
            <a:r>
              <a:rPr sz="3000" b="1" dirty="0">
                <a:solidFill>
                  <a:srgbClr val="0F1B2D"/>
                </a:solidFill>
                <a:latin typeface="Calibri"/>
              </a:rPr>
              <a:t>: </a:t>
            </a:r>
            <a:r>
              <a:rPr sz="3000" b="1" dirty="0" err="1">
                <a:solidFill>
                  <a:srgbClr val="0F1B2D"/>
                </a:solidFill>
                <a:latin typeface="Calibri"/>
              </a:rPr>
              <a:t>regras</a:t>
            </a:r>
            <a:r>
              <a:rPr sz="3000" b="1" dirty="0">
                <a:solidFill>
                  <a:srgbClr val="0F1B2D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0F1B2D"/>
                </a:solidFill>
                <a:latin typeface="Calibri"/>
              </a:rPr>
              <a:t>descobertas</a:t>
            </a:r>
            <a:endParaRPr sz="3000" b="1" dirty="0">
              <a:solidFill>
                <a:srgbClr val="0F1B2D"/>
              </a:solidFill>
              <a:latin typeface="Calibri"/>
            </a:endParaRP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D4285A33-3426-4255-B376-E657B9FC91A7}"/>
              </a:ext>
            </a:extLst>
          </p:cNvPr>
          <p:cNvSpPr/>
          <p:nvPr/>
        </p:nvSpPr>
        <p:spPr>
          <a:xfrm>
            <a:off x="-108850" y="19050"/>
            <a:ext cx="215991" cy="6994624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11" descr="figura3-dashboard.png">
            <a:extLst>
              <a:ext uri="{FF2B5EF4-FFF2-40B4-BE49-F238E27FC236}">
                <a16:creationId xmlns:a16="http://schemas.microsoft.com/office/drawing/2014/main" id="{C1C7A4DF-03FE-4455-BE49-36E3305BB5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2678" y="19051"/>
            <a:ext cx="6646746" cy="6604098"/>
          </a:xfrm>
          <a:prstGeom prst="rect">
            <a:avLst/>
          </a:prstGeom>
        </p:spPr>
      </p:pic>
      <p:graphicFrame>
        <p:nvGraphicFramePr>
          <p:cNvPr id="27" name="Table 9">
            <a:extLst>
              <a:ext uri="{FF2B5EF4-FFF2-40B4-BE49-F238E27FC236}">
                <a16:creationId xmlns:a16="http://schemas.microsoft.com/office/drawing/2014/main" id="{DC0BBB20-8D82-47D3-B177-ED117D854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300023"/>
              </p:ext>
            </p:extLst>
          </p:nvPr>
        </p:nvGraphicFramePr>
        <p:xfrm>
          <a:off x="361518" y="3970398"/>
          <a:ext cx="4960620" cy="2564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5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7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839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Antecedente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⇒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Consequente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5400" marB="2540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Conf.</a:t>
                      </a:r>
                    </a:p>
                  </a:txBody>
                  <a:tcPr marT="25400" marB="2540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 marT="25400" marB="25400" anchor="ctr"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839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After Shave (QOD) ⇒ Café Verde Shampoo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(QOD)</a:t>
                      </a:r>
                      <a:endParaRPr sz="1400" b="0" dirty="0">
                        <a:solidFill>
                          <a:srgbClr val="1A232E"/>
                        </a:solidFill>
                        <a:latin typeface="Calibri"/>
                      </a:endParaRP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30,0</a:t>
                      </a: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839"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Shampoo 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Silver Boost (QOD) ⇒ </a:t>
                      </a:r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Bálsamo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Fortalecedor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de Barba(QOD)</a:t>
                      </a:r>
                      <a:endParaRPr sz="1400" b="0" dirty="0">
                        <a:solidFill>
                          <a:srgbClr val="1A232E"/>
                        </a:solidFill>
                        <a:latin typeface="Calibri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30,0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839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Shampoo 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para Barba (Fox For </a:t>
                      </a:r>
                      <a:r>
                        <a:rPr lang="pt-BR"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Men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) 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⇒ </a:t>
                      </a:r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Óleo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Barba (Fox for Men)</a:t>
                      </a: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15,0</a:t>
                      </a: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839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Maquiagem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Capilar (Fox For </a:t>
                      </a:r>
                      <a:r>
                        <a:rPr lang="pt-BR"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Men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) 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⇒ </a:t>
                      </a:r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Aplicador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Fibra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Capilar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(Fox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For </a:t>
                      </a:r>
                      <a:r>
                        <a:rPr lang="pt-BR"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Men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15,0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0F1B2D"/>
                </a:solidFill>
                <a:latin typeface="Calibri"/>
              </a:rPr>
              <a:t>Resultados</a:t>
            </a:r>
            <a:r>
              <a:rPr sz="3000" b="1" dirty="0">
                <a:solidFill>
                  <a:srgbClr val="0F1B2D"/>
                </a:solidFill>
                <a:latin typeface="Calibri"/>
              </a:rPr>
              <a:t>: </a:t>
            </a:r>
            <a:r>
              <a:rPr sz="3000" b="1" dirty="0" err="1">
                <a:solidFill>
                  <a:srgbClr val="0F1B2D"/>
                </a:solidFill>
                <a:latin typeface="Calibri"/>
              </a:rPr>
              <a:t>validação</a:t>
            </a:r>
            <a:r>
              <a:rPr sz="3000" b="1" dirty="0">
                <a:solidFill>
                  <a:srgbClr val="0F1B2D"/>
                </a:solidFill>
                <a:latin typeface="Calibri"/>
              </a:rPr>
              <a:t> LOOCV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dirty="0">
                <a:solidFill>
                  <a:srgbClr val="C8A04B"/>
                </a:solidFill>
                <a:latin typeface="Calibri"/>
              </a:rPr>
              <a:t>CAPÍTULO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3611880" cy="21031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26,39%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9CFD6"/>
                </a:solidFill>
                <a:latin typeface="Calibri"/>
              </a:rPr>
              <a:t>próx. ao teto 0,33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1737360"/>
            <a:ext cx="3611880" cy="21031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16552" y="1965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51460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 dirty="0">
                <a:solidFill>
                  <a:srgbClr val="C8A04B"/>
                </a:solidFill>
                <a:latin typeface="Calibri"/>
              </a:rPr>
              <a:t>44,44%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32918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9CFD6"/>
                </a:solidFill>
                <a:latin typeface="Calibri"/>
              </a:rPr>
              <a:t>16 de 36 sub-testes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737360"/>
            <a:ext cx="3611880" cy="21031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93024" y="196596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F1-Score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514600"/>
            <a:ext cx="3611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C8A04B"/>
                </a:solidFill>
                <a:latin typeface="Calibri"/>
              </a:rPr>
              <a:t>31,94%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3291840"/>
            <a:ext cx="3611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9CFD6"/>
                </a:solidFill>
                <a:latin typeface="Calibri"/>
              </a:rPr>
              <a:t>média harmônica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10972800" cy="11798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36 sub-testes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acumulados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Recall 44,44%: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cesta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completada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em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quase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metade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dos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casos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sem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notas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produto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8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Holdout 80/20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daria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só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22,22%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sobre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3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casos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→ LOOCV é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mais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A232E"/>
                </a:solidFill>
                <a:latin typeface="Calibri"/>
              </a:rPr>
              <a:t>robusto</a:t>
            </a:r>
            <a:r>
              <a:rPr sz="1800" b="0" dirty="0">
                <a:solidFill>
                  <a:srgbClr val="1A232E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Aderência ao domínio e hipótese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CAPÍTULO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1743" y="4188607"/>
            <a:ext cx="10972800" cy="15081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Regras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de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maior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lift </a:t>
            </a:r>
            <a:r>
              <a:rPr sz="1900" b="0" dirty="0" err="1">
                <a:solidFill>
                  <a:srgbClr val="1A232E"/>
                </a:solidFill>
                <a:latin typeface="Calibri"/>
              </a:rPr>
              <a:t>fazem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0F1B2D"/>
                </a:solidFill>
                <a:latin typeface="Calibri"/>
              </a:rPr>
              <a:t>sentido</a:t>
            </a:r>
            <a:r>
              <a:rPr sz="1900" b="1" dirty="0">
                <a:solidFill>
                  <a:srgbClr val="0F1B2D"/>
                </a:solidFill>
                <a:latin typeface="Calibri"/>
              </a:rPr>
              <a:t> </a:t>
            </a:r>
            <a:r>
              <a:rPr sz="1900" b="1" dirty="0" err="1">
                <a:solidFill>
                  <a:srgbClr val="0F1B2D"/>
                </a:solidFill>
                <a:latin typeface="Calibri"/>
              </a:rPr>
              <a:t>comercial</a:t>
            </a:r>
            <a:r>
              <a:rPr sz="1900" b="0" dirty="0">
                <a:solidFill>
                  <a:srgbClr val="1A232E"/>
                </a:solidFill>
                <a:latin typeface="Calibri"/>
              </a:rPr>
              <a:t>: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C8A04B"/>
                </a:solidFill>
                <a:latin typeface="Calibri"/>
              </a:rPr>
              <a:t>– 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Rotina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barba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: shampoo +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óleo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+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bálsamo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+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pós-barba</a:t>
            </a:r>
            <a:endParaRPr sz="1600" b="0" dirty="0">
              <a:solidFill>
                <a:srgbClr val="5A6672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C8A04B"/>
                </a:solidFill>
                <a:latin typeface="Calibri"/>
              </a:rPr>
              <a:t>– 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Coerência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marca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linhas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QOD e Fox for Men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 dirty="0">
                <a:solidFill>
                  <a:srgbClr val="C8A04B"/>
                </a:solidFill>
                <a:latin typeface="Calibri"/>
              </a:rPr>
              <a:t>– 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Acessórios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função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equivalente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compr</a:t>
            </a:r>
            <a:r>
              <a:rPr lang="pt-BR" sz="1600" dirty="0">
                <a:solidFill>
                  <a:srgbClr val="5A6672"/>
                </a:solidFill>
                <a:latin typeface="Calibri"/>
              </a:rPr>
              <a:t>ados</a:t>
            </a:r>
            <a:r>
              <a:rPr sz="1600" b="0" dirty="0">
                <a:solidFill>
                  <a:srgbClr val="5A6672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A6672"/>
                </a:solidFill>
                <a:latin typeface="Calibri"/>
              </a:rPr>
              <a:t>juntos</a:t>
            </a:r>
            <a:endParaRPr sz="1600" b="0" dirty="0">
              <a:solidFill>
                <a:srgbClr val="5A6672"/>
              </a:solidFill>
              <a:latin typeface="Calibri"/>
            </a:endParaRPr>
          </a:p>
        </p:txBody>
      </p:sp>
      <p:graphicFrame>
        <p:nvGraphicFramePr>
          <p:cNvPr id="14" name="Table 9">
            <a:extLst>
              <a:ext uri="{FF2B5EF4-FFF2-40B4-BE49-F238E27FC236}">
                <a16:creationId xmlns:a16="http://schemas.microsoft.com/office/drawing/2014/main" id="{F357F40B-04C1-4BC2-9522-DDA9AB50CD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320542"/>
              </p:ext>
            </p:extLst>
          </p:nvPr>
        </p:nvGraphicFramePr>
        <p:xfrm>
          <a:off x="691743" y="1389233"/>
          <a:ext cx="7680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Antecedente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⇒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Consequente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T="25400" marB="2540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Conf.</a:t>
                      </a:r>
                    </a:p>
                  </a:txBody>
                  <a:tcPr marT="25400" marB="25400" anchor="ctr"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Lift</a:t>
                      </a:r>
                    </a:p>
                  </a:txBody>
                  <a:tcPr marT="25400" marB="25400" anchor="ctr"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After Shave (QOD) ⇒ Café Verde Shampoo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(QOD)</a:t>
                      </a:r>
                      <a:endParaRPr sz="1400" b="0" dirty="0">
                        <a:solidFill>
                          <a:srgbClr val="1A232E"/>
                        </a:solidFill>
                        <a:latin typeface="Calibri"/>
                      </a:endParaRP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30,0</a:t>
                      </a: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Shampoo 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Silver Boost (QOD) ⇒ </a:t>
                      </a:r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Bálsamo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Fortalecedor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de Barba(QOD)</a:t>
                      </a:r>
                      <a:endParaRPr sz="1400" b="0" dirty="0">
                        <a:solidFill>
                          <a:srgbClr val="1A232E"/>
                        </a:solidFill>
                        <a:latin typeface="Calibri"/>
                      </a:endParaRP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30,0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Shampoo 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para Barba (Fox For </a:t>
                      </a:r>
                      <a:r>
                        <a:rPr lang="pt-BR"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Men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) 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⇒ </a:t>
                      </a:r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Óleo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Barba (Fox for Men)</a:t>
                      </a: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15,0</a:t>
                      </a:r>
                    </a:p>
                  </a:txBody>
                  <a:tcPr marT="25400" marB="25400" anchor="ctr">
                    <a:solidFill>
                      <a:srgbClr val="F4F1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Maquiagem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Capilar (Fox For </a:t>
                      </a:r>
                      <a:r>
                        <a:rPr lang="pt-BR"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Men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) 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⇒ </a:t>
                      </a:r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Aplicador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Fibra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Capilar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(Fox</a:t>
                      </a:r>
                      <a:r>
                        <a:rPr lang="pt-BR"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 For </a:t>
                      </a:r>
                      <a:r>
                        <a:rPr lang="pt-BR" sz="1400" b="0" dirty="0" err="1">
                          <a:solidFill>
                            <a:srgbClr val="1A232E"/>
                          </a:solidFill>
                          <a:latin typeface="Calibri"/>
                        </a:rPr>
                        <a:t>Men</a:t>
                      </a:r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A232E"/>
                          </a:solidFill>
                          <a:latin typeface="Calibri"/>
                        </a:rPr>
                        <a:t>1,00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1A232E"/>
                          </a:solidFill>
                          <a:latin typeface="Calibri"/>
                        </a:rPr>
                        <a:t>15,0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762001" y="1200101"/>
            <a:ext cx="3006737" cy="1122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b="1" dirty="0">
                <a:solidFill>
                  <a:srgbClr val="C8A04B"/>
                </a:solidFill>
              </a:rPr>
              <a:t>• </a:t>
            </a:r>
            <a:r>
              <a:rPr lang="en-US" b="1" dirty="0" err="1">
                <a:solidFill>
                  <a:srgbClr val="111827"/>
                </a:solidFill>
                <a:ea typeface="Inter Black" pitchFamily="34" charset="-122"/>
                <a:cs typeface="Inter Black" pitchFamily="34" charset="-120"/>
              </a:rPr>
              <a:t>Viabilidade</a:t>
            </a:r>
            <a:r>
              <a:rPr lang="en-US" b="1" dirty="0">
                <a:solidFill>
                  <a:srgbClr val="111827"/>
                </a:solidFill>
                <a:ea typeface="Inter Black" pitchFamily="34" charset="-122"/>
                <a:cs typeface="Inter Black" pitchFamily="34" charset="-120"/>
              </a:rPr>
              <a:t> Técnica:</a:t>
            </a:r>
            <a:r>
              <a:rPr lang="en-US" dirty="0">
                <a:solidFill>
                  <a:srgbClr val="374151"/>
                </a:solidFill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600" dirty="0">
                <a:solidFill>
                  <a:srgbClr val="374151"/>
                </a:solidFill>
                <a:ea typeface="Inter Medium" pitchFamily="34" charset="-122"/>
                <a:cs typeface="Inter Medium" pitchFamily="34" charset="-120"/>
              </a:rPr>
              <a:t>Regras de associação são eficazes mesmo em cenários B2B de baixo volume transacional.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337839" y="1181393"/>
            <a:ext cx="3690794" cy="91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sz="2000" b="1" dirty="0">
                <a:solidFill>
                  <a:srgbClr val="C8A04B"/>
                </a:solidFill>
              </a:rPr>
              <a:t>• </a:t>
            </a:r>
            <a:r>
              <a:rPr lang="pt-BR" dirty="0">
                <a:solidFill>
                  <a:srgbClr val="1A232E"/>
                </a:solidFill>
              </a:rPr>
              <a:t>Artefato </a:t>
            </a:r>
            <a:r>
              <a:rPr lang="pt-BR" b="1" dirty="0">
                <a:solidFill>
                  <a:srgbClr val="0F1B2D"/>
                </a:solidFill>
              </a:rPr>
              <a:t>completo e reproduzível</a:t>
            </a:r>
            <a:r>
              <a:rPr lang="pt-BR" dirty="0">
                <a:solidFill>
                  <a:srgbClr val="1A232E"/>
                </a:solidFill>
              </a:rPr>
              <a:t>, de baixo custo, sobre dados reais.</a:t>
            </a:r>
          </a:p>
          <a:p>
            <a:pPr algn="just">
              <a:lnSpc>
                <a:spcPct val="112000"/>
              </a:lnSpc>
            </a:pPr>
            <a:endParaRPr lang="en-US" sz="1600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8363108" y="1181393"/>
            <a:ext cx="3006737" cy="846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12000"/>
              </a:lnSpc>
            </a:pPr>
            <a:r>
              <a:rPr lang="pt-BR" b="1" dirty="0">
                <a:solidFill>
                  <a:srgbClr val="C8A04B"/>
                </a:solidFill>
                <a:latin typeface="+mj-lt"/>
              </a:rPr>
              <a:t>• </a:t>
            </a:r>
            <a:r>
              <a:rPr lang="en-US" b="1" dirty="0" err="1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Apoio</a:t>
            </a:r>
            <a:r>
              <a:rPr lang="en-US" b="1" dirty="0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 à Decisão:</a:t>
            </a:r>
            <a:r>
              <a:rPr lang="en-US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6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O artefato potencializa a intuição da equipe de vendas com dados auditáveis.</a:t>
            </a:r>
            <a:endParaRPr lang="en-US" sz="1600" dirty="0">
              <a:latin typeface="+mj-l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0" y="2857501"/>
            <a:ext cx="12192000" cy="36195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10" name="Shape 7"/>
          <p:cNvSpPr/>
          <p:nvPr/>
        </p:nvSpPr>
        <p:spPr>
          <a:xfrm>
            <a:off x="762000" y="3981451"/>
            <a:ext cx="381000" cy="381000"/>
          </a:xfrm>
          <a:prstGeom prst="rect">
            <a:avLst/>
          </a:prstGeom>
          <a:solidFill>
            <a:srgbClr val="C8A04B"/>
          </a:solidFill>
          <a:ln/>
        </p:spPr>
      </p:sp>
      <p:sp>
        <p:nvSpPr>
          <p:cNvPr id="11" name="Text 8"/>
          <p:cNvSpPr/>
          <p:nvPr/>
        </p:nvSpPr>
        <p:spPr>
          <a:xfrm>
            <a:off x="873953" y="4079617"/>
            <a:ext cx="15709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33501" y="3981451"/>
            <a:ext cx="4762499" cy="540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2000" b="1" dirty="0" err="1">
                <a:solidFill>
                  <a:srgbClr val="FFFFFF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Mais</a:t>
            </a:r>
            <a:r>
              <a:rPr lang="en-US" sz="2000" b="1" dirty="0">
                <a:solidFill>
                  <a:srgbClr val="FFFFFF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 dados</a:t>
            </a:r>
            <a:r>
              <a:rPr lang="en-US" sz="12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:</a:t>
            </a:r>
            <a:r>
              <a:rPr lang="en-US" sz="1267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pt-BR" sz="1600" dirty="0">
                <a:solidFill>
                  <a:srgbClr val="F4F1EA"/>
                </a:solidFill>
              </a:rPr>
              <a:t>Histórico maior → Métricas mais estáveis.</a:t>
            </a:r>
            <a:endParaRPr lang="pt-BR" sz="1600" b="1" dirty="0">
              <a:solidFill>
                <a:srgbClr val="F4F1EA"/>
              </a:solidFill>
            </a:endParaRPr>
          </a:p>
          <a:p>
            <a:pPr>
              <a:lnSpc>
                <a:spcPct val="112000"/>
              </a:lnSpc>
            </a:pP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71438" y="3981451"/>
            <a:ext cx="381000" cy="381000"/>
          </a:xfrm>
          <a:prstGeom prst="rect">
            <a:avLst/>
          </a:prstGeom>
          <a:solidFill>
            <a:srgbClr val="C8A04B"/>
          </a:solidFill>
          <a:ln/>
        </p:spPr>
      </p:sp>
      <p:sp>
        <p:nvSpPr>
          <p:cNvPr id="14" name="Text 11"/>
          <p:cNvSpPr/>
          <p:nvPr/>
        </p:nvSpPr>
        <p:spPr>
          <a:xfrm>
            <a:off x="6876978" y="4079617"/>
            <a:ext cx="169918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342940" y="3981451"/>
            <a:ext cx="3891118" cy="605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2000" b="1" dirty="0" err="1">
                <a:solidFill>
                  <a:srgbClr val="FFFFFF"/>
                </a:solidFill>
                <a:ea typeface="Inter Black" pitchFamily="34" charset="-122"/>
                <a:cs typeface="Inter Black" pitchFamily="34" charset="-120"/>
              </a:rPr>
              <a:t>Escalabilidade</a:t>
            </a:r>
            <a:r>
              <a:rPr lang="en-US" sz="2000" b="1" dirty="0">
                <a:solidFill>
                  <a:srgbClr val="FFFFFF"/>
                </a:solidFill>
                <a:ea typeface="Inter Black" pitchFamily="34" charset="-122"/>
                <a:cs typeface="Inter Black" pitchFamily="34" charset="-120"/>
              </a:rPr>
              <a:t>:</a:t>
            </a:r>
            <a:r>
              <a:rPr lang="en-US" sz="2000" dirty="0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Expansão</a:t>
            </a:r>
            <a:r>
              <a:rPr lang="en-US" sz="1600" dirty="0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 para </a:t>
            </a:r>
            <a:r>
              <a:rPr lang="en-US" sz="1600" dirty="0" err="1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algoritmos</a:t>
            </a:r>
            <a:r>
              <a:rPr lang="en-US" sz="1600" dirty="0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 multi-item (Apriori </a:t>
            </a:r>
            <a:r>
              <a:rPr lang="en-US" sz="1600" dirty="0" err="1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completo</a:t>
            </a:r>
            <a:r>
              <a:rPr lang="en-US" sz="1600" dirty="0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 e FP-Growth).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4747245"/>
            <a:ext cx="381000" cy="381000"/>
          </a:xfrm>
          <a:prstGeom prst="rect">
            <a:avLst/>
          </a:prstGeom>
          <a:solidFill>
            <a:srgbClr val="C8A04B"/>
          </a:solidFill>
          <a:ln/>
        </p:spPr>
      </p:sp>
      <p:sp>
        <p:nvSpPr>
          <p:cNvPr id="17" name="Text 14"/>
          <p:cNvSpPr/>
          <p:nvPr/>
        </p:nvSpPr>
        <p:spPr>
          <a:xfrm>
            <a:off x="873953" y="4845412"/>
            <a:ext cx="157094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333501" y="4747246"/>
            <a:ext cx="4619625" cy="605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2000" b="1" dirty="0" err="1">
                <a:solidFill>
                  <a:srgbClr val="FFFFFF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Integração</a:t>
            </a:r>
            <a:r>
              <a:rPr lang="en-US" sz="2000" b="1" dirty="0">
                <a:solidFill>
                  <a:srgbClr val="FFFFFF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:</a:t>
            </a:r>
            <a:r>
              <a:rPr lang="en-US" sz="2000" b="1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Implementação</a:t>
            </a:r>
            <a:r>
              <a:rPr lang="en-US" sz="16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direta</a:t>
            </a:r>
            <a:r>
              <a:rPr lang="en-US" sz="16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no </a:t>
            </a:r>
            <a:r>
              <a:rPr lang="en-US" sz="1600" dirty="0" err="1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fluxo</a:t>
            </a:r>
            <a:r>
              <a:rPr lang="en-US" sz="16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de </a:t>
            </a:r>
            <a:r>
              <a:rPr lang="en-US" sz="1600" dirty="0" err="1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fechamento</a:t>
            </a:r>
            <a:r>
              <a:rPr lang="en-US" sz="16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de </a:t>
            </a:r>
            <a:r>
              <a:rPr lang="en-US" sz="1600" dirty="0" err="1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pedidos</a:t>
            </a:r>
            <a:r>
              <a:rPr lang="en-US" sz="16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em</a:t>
            </a:r>
            <a:r>
              <a:rPr lang="en-US" sz="16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tempo real.</a:t>
            </a:r>
            <a:endParaRPr lang="en-US" sz="1600" dirty="0">
              <a:latin typeface="+mj-lt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771440" y="4747245"/>
            <a:ext cx="381000" cy="381000"/>
          </a:xfrm>
          <a:prstGeom prst="rect">
            <a:avLst/>
          </a:prstGeom>
          <a:solidFill>
            <a:srgbClr val="C8A04B"/>
          </a:solidFill>
          <a:ln/>
        </p:spPr>
      </p:sp>
      <p:sp>
        <p:nvSpPr>
          <p:cNvPr id="20" name="Text 17"/>
          <p:cNvSpPr/>
          <p:nvPr/>
        </p:nvSpPr>
        <p:spPr>
          <a:xfrm>
            <a:off x="6887028" y="4845412"/>
            <a:ext cx="169918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52990" y="4747246"/>
            <a:ext cx="4077010" cy="605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2000" b="1" dirty="0">
                <a:solidFill>
                  <a:srgbClr val="FFFFFF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Teste A/B:</a:t>
            </a:r>
            <a:r>
              <a:rPr lang="en-US" sz="2000" dirty="0">
                <a:solidFill>
                  <a:srgbClr val="FFFFFF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Medição</a:t>
            </a:r>
            <a:r>
              <a:rPr lang="en-US" sz="1600" dirty="0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 do </a:t>
            </a:r>
            <a:r>
              <a:rPr lang="en-US" sz="1600" dirty="0" err="1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impacto</a:t>
            </a:r>
            <a:r>
              <a:rPr lang="en-US" sz="1600" dirty="0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 real das </a:t>
            </a:r>
            <a:r>
              <a:rPr lang="en-US" sz="1600" dirty="0" err="1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recomendações</a:t>
            </a:r>
            <a:r>
              <a:rPr lang="en-US" sz="1600" dirty="0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 no ticket </a:t>
            </a:r>
            <a:r>
              <a:rPr lang="en-US" sz="1600" dirty="0" err="1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médio</a:t>
            </a:r>
            <a:r>
              <a:rPr lang="en-US" sz="1600" dirty="0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 da </a:t>
            </a:r>
            <a:r>
              <a:rPr lang="en-US" sz="1600" dirty="0" err="1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distribuidora</a:t>
            </a:r>
            <a:r>
              <a:rPr lang="en-US" sz="1600" dirty="0">
                <a:solidFill>
                  <a:srgbClr val="FFFFFF"/>
                </a:solidFill>
                <a:ea typeface="Inter Medium" pitchFamily="34" charset="-122"/>
                <a:cs typeface="Inter Medium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23" name="Text 20"/>
          <p:cNvSpPr/>
          <p:nvPr/>
        </p:nvSpPr>
        <p:spPr>
          <a:xfrm>
            <a:off x="762001" y="6586538"/>
            <a:ext cx="5079207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0" dirty="0">
                <a:solidFill>
                  <a:srgbClr val="F3F4F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Felipe Pereira Ferreira • Sistema de Recomendação B2B • IFMA Campus Caxias</a:t>
            </a:r>
            <a:endParaRPr lang="en-US" sz="1000" dirty="0"/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E45FE5BB-9DF3-419E-9A4A-9497488A3114}"/>
              </a:ext>
            </a:extLst>
          </p:cNvPr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dirty="0">
                <a:solidFill>
                  <a:srgbClr val="C8A04B"/>
                </a:solidFill>
                <a:latin typeface="Calibri"/>
              </a:rPr>
              <a:t>CAPÍTULO 6</a:t>
            </a:r>
          </a:p>
        </p:txBody>
      </p:sp>
      <p:sp>
        <p:nvSpPr>
          <p:cNvPr id="26" name="Rectangle 2">
            <a:extLst>
              <a:ext uri="{FF2B5EF4-FFF2-40B4-BE49-F238E27FC236}">
                <a16:creationId xmlns:a16="http://schemas.microsoft.com/office/drawing/2014/main" id="{A9781ADF-9E36-472A-87F7-134A834FD58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3">
            <a:extLst>
              <a:ext uri="{FF2B5EF4-FFF2-40B4-BE49-F238E27FC236}">
                <a16:creationId xmlns:a16="http://schemas.microsoft.com/office/drawing/2014/main" id="{299D417A-B1AD-4278-B395-8C5E033D1CA7}"/>
              </a:ext>
            </a:extLst>
          </p:cNvPr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0F1B2D"/>
                </a:solidFill>
                <a:latin typeface="Calibri"/>
              </a:rPr>
              <a:t>Conclusão</a:t>
            </a:r>
            <a:endParaRPr sz="3000" b="1" dirty="0">
              <a:solidFill>
                <a:srgbClr val="0F1B2D"/>
              </a:solidFill>
              <a:latin typeface="Calibri"/>
            </a:endParaRPr>
          </a:p>
        </p:txBody>
      </p:sp>
      <p:sp>
        <p:nvSpPr>
          <p:cNvPr id="29" name="TextBox 3">
            <a:extLst>
              <a:ext uri="{FF2B5EF4-FFF2-40B4-BE49-F238E27FC236}">
                <a16:creationId xmlns:a16="http://schemas.microsoft.com/office/drawing/2014/main" id="{8200D59B-464F-4235-94BD-237EFE2D6114}"/>
              </a:ext>
            </a:extLst>
          </p:cNvPr>
          <p:cNvSpPr txBox="1"/>
          <p:nvPr/>
        </p:nvSpPr>
        <p:spPr>
          <a:xfrm>
            <a:off x="661035" y="3056223"/>
            <a:ext cx="1115568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F4F1EA"/>
                </a:solidFill>
                <a:latin typeface="Calibri"/>
              </a:rPr>
              <a:t>Trabalhos</a:t>
            </a:r>
            <a:r>
              <a:rPr sz="3000" b="1" dirty="0">
                <a:solidFill>
                  <a:srgbClr val="F4F1EA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F4F1EA"/>
                </a:solidFill>
                <a:latin typeface="Calibri"/>
              </a:rPr>
              <a:t>futuros</a:t>
            </a:r>
            <a:endParaRPr sz="3000" b="1" dirty="0">
              <a:solidFill>
                <a:srgbClr val="F4F1E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4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21208" y="7772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associação geram recomendações úteis e verificáveis mesmo no B2B de baixo volume.</a:t>
            </a:r>
            <a:endParaRPr lang="en-US" sz="1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B46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à pergunta de pesquisa: afirmativa, com ressalvas.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44,44%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844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— o produto oculto voltou entre as sugestões em 16 de 36 subtestes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28803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12,41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0" y="358444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MÉDIO — muito acima de 1: as associações não são fruto do acaso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evidências favorecem H1 e enfraquecem H0: </a:t>
            </a:r>
            <a:r>
              <a:rPr lang="en-US" sz="13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pares de maior lift não coincidem com os produtos mais vendidos, logo as regras carregam informação além da simples frequência de venda.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aderentes à prática comercial: linhas QOD e Fox for Men, produtos de uma mesma rotina de cuidado.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Felipe Pereira Ferreira  •  Sistema de Recomendação B2B  •  IFMA Campus Caxias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86600" y="457200"/>
            <a:ext cx="4617720" cy="5943600"/>
          </a:xfrm>
          <a:prstGeom prst="roundRect">
            <a:avLst>
              <a:gd name="adj" fmla="val 2772"/>
            </a:avLst>
          </a:prstGeom>
          <a:solidFill>
            <a:srgbClr val="262626"/>
          </a:solidFill>
          <a:ln/>
          <a:effectLst>
            <a:outerShdw blurRad="1143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60920" y="777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89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CONTRIBUIÇÕES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60920" y="1115568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Artefato funcional, reprodutível e de baixo custo, sem dependência de infraestrutura de Big Data.</a:t>
            </a:r>
            <a:endParaRPr lang="en-US" sz="120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2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Contribuição metodológica: LOOCV como validação e o teto da Precision (1/N ≈ 0,33) documentado.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60920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89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RESSALVA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60920" y="3054096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conclusão se apoia em 14 transações avaliáveis: as recomendações são apoio à decisão da equipe de vendas, não prescrição automática.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6092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893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 FUTUROS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60920" y="4562856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Acumular mais dados e reavaliar os limiares.</a:t>
            </a:r>
            <a:endParaRPr lang="en-US" sz="1200" dirty="0"/>
          </a:p>
          <a:p>
            <a:pPr marL="203200" indent="-203200">
              <a:lnSpc>
                <a:spcPct val="102000"/>
              </a:lnSpc>
              <a:spcAft>
                <a:spcPts val="7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Generalizar para itemsets maiores (Apriori/FP-Growth).</a:t>
            </a:r>
            <a:endParaRPr lang="en-US" sz="1200" dirty="0"/>
          </a:p>
          <a:p>
            <a:pPr marL="203200" indent="-203200">
              <a:lnSpc>
                <a:spcPct val="102000"/>
              </a:lnSpc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rgbClr val="F4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Levar à produção e medir o impacto com teste A/B (ticket médio).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0F1B2D"/>
                </a:solidFill>
                <a:latin typeface="Calibri"/>
              </a:rPr>
              <a:t>Conclusão</a:t>
            </a:r>
            <a:endParaRPr sz="3000" b="1" dirty="0">
              <a:solidFill>
                <a:srgbClr val="0F1B2D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dirty="0">
                <a:solidFill>
                  <a:srgbClr val="C8A04B"/>
                </a:solidFill>
                <a:latin typeface="Calibri"/>
              </a:rPr>
              <a:t>CAPÍTULO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0972800" cy="4197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</a:pPr>
            <a:r>
              <a:rPr sz="20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lang="en-US" sz="2200" b="1" dirty="0" err="1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Viabilidade</a:t>
            </a:r>
            <a:r>
              <a:rPr lang="en-US" sz="2200" b="1" dirty="0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 Técnica:</a:t>
            </a:r>
            <a:r>
              <a:rPr lang="en-US" sz="22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Regras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de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associação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são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eficazes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mesmo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em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cenários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B2B de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baixo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volume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transacional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112000"/>
              </a:lnSpc>
            </a:pPr>
            <a:r>
              <a:rPr sz="2000" b="1" dirty="0">
                <a:solidFill>
                  <a:srgbClr val="C8A04B"/>
                </a:solidFill>
                <a:latin typeface="+mj-lt"/>
              </a:rPr>
              <a:t>•  </a:t>
            </a:r>
            <a:r>
              <a:rPr lang="en-US" sz="2200" b="1" dirty="0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H1 </a:t>
            </a:r>
            <a:r>
              <a:rPr lang="en-US" sz="2200" b="1" dirty="0" err="1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Confirmada</a:t>
            </a:r>
            <a:r>
              <a:rPr lang="en-US" b="1" dirty="0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: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As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recomendações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geradas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possuem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aderência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comercial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e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superam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a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aleatoriedade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endParaRPr lang="en-US" sz="2000" dirty="0">
              <a:solidFill>
                <a:srgbClr val="374151"/>
              </a:solidFill>
              <a:latin typeface="+mj-lt"/>
              <a:ea typeface="Inter Medium" pitchFamily="34" charset="-122"/>
            </a:endParaRPr>
          </a:p>
          <a:p>
            <a:pPr>
              <a:lnSpc>
                <a:spcPct val="112000"/>
              </a:lnSpc>
            </a:pPr>
            <a:endParaRPr lang="en-US" dirty="0">
              <a:latin typeface="+mj-lt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 dirty="0">
                <a:solidFill>
                  <a:srgbClr val="C8A04B"/>
                </a:solidFill>
                <a:latin typeface="+mj-lt"/>
              </a:rPr>
              <a:t>•  </a:t>
            </a:r>
            <a:r>
              <a:rPr sz="2200" b="1" dirty="0" err="1">
                <a:solidFill>
                  <a:srgbClr val="1A232E"/>
                </a:solidFill>
                <a:latin typeface="+mj-lt"/>
              </a:rPr>
              <a:t>Contribuição</a:t>
            </a:r>
            <a:r>
              <a:rPr sz="2200" b="1" dirty="0">
                <a:solidFill>
                  <a:srgbClr val="1A232E"/>
                </a:solidFill>
                <a:latin typeface="+mj-lt"/>
              </a:rPr>
              <a:t> </a:t>
            </a:r>
            <a:r>
              <a:rPr sz="2200" b="1" dirty="0" err="1">
                <a:solidFill>
                  <a:srgbClr val="1A232E"/>
                </a:solidFill>
                <a:latin typeface="+mj-lt"/>
              </a:rPr>
              <a:t>metodológica</a:t>
            </a:r>
            <a:r>
              <a:rPr sz="2200" b="1" dirty="0">
                <a:solidFill>
                  <a:srgbClr val="1A232E"/>
                </a:solidFill>
                <a:latin typeface="+mj-lt"/>
              </a:rPr>
              <a:t>: </a:t>
            </a:r>
            <a:r>
              <a:rPr sz="2000" b="1" dirty="0">
                <a:solidFill>
                  <a:srgbClr val="0F1B2D"/>
                </a:solidFill>
                <a:latin typeface="+mj-lt"/>
              </a:rPr>
              <a:t>LOOCV</a:t>
            </a:r>
            <a:r>
              <a:rPr sz="2000" b="0" dirty="0">
                <a:solidFill>
                  <a:srgbClr val="1A232E"/>
                </a:solidFill>
                <a:latin typeface="+mj-lt"/>
              </a:rPr>
              <a:t> + </a:t>
            </a:r>
            <a:r>
              <a:rPr sz="2000" b="0" dirty="0" err="1">
                <a:solidFill>
                  <a:srgbClr val="1A232E"/>
                </a:solidFill>
                <a:latin typeface="+mj-lt"/>
              </a:rPr>
              <a:t>leitura</a:t>
            </a:r>
            <a:r>
              <a:rPr sz="2000" b="0" dirty="0">
                <a:solidFill>
                  <a:srgbClr val="1A232E"/>
                </a:solidFill>
                <a:latin typeface="+mj-lt"/>
              </a:rPr>
              <a:t> </a:t>
            </a:r>
            <a:r>
              <a:rPr sz="2000" b="0" dirty="0" err="1">
                <a:solidFill>
                  <a:srgbClr val="1A232E"/>
                </a:solidFill>
                <a:latin typeface="+mj-lt"/>
              </a:rPr>
              <a:t>honesta</a:t>
            </a:r>
            <a:r>
              <a:rPr sz="2000" b="0" dirty="0">
                <a:solidFill>
                  <a:srgbClr val="1A232E"/>
                </a:solidFill>
                <a:latin typeface="+mj-lt"/>
              </a:rPr>
              <a:t> do </a:t>
            </a:r>
            <a:r>
              <a:rPr sz="2000" b="1" dirty="0" err="1">
                <a:solidFill>
                  <a:srgbClr val="0F1B2D"/>
                </a:solidFill>
                <a:latin typeface="+mj-lt"/>
              </a:rPr>
              <a:t>teto</a:t>
            </a:r>
            <a:r>
              <a:rPr sz="2000" b="1" dirty="0">
                <a:solidFill>
                  <a:srgbClr val="0F1B2D"/>
                </a:solidFill>
                <a:latin typeface="+mj-lt"/>
              </a:rPr>
              <a:t> da Precision</a:t>
            </a:r>
            <a:r>
              <a:rPr sz="2000" b="0" dirty="0">
                <a:solidFill>
                  <a:srgbClr val="1A232E"/>
                </a:solidFill>
                <a:latin typeface="+mj-lt"/>
              </a:rPr>
              <a:t>.</a:t>
            </a:r>
            <a:endParaRPr lang="pt-BR" sz="2000" b="0" dirty="0">
              <a:solidFill>
                <a:srgbClr val="1A232E"/>
              </a:solidFill>
              <a:latin typeface="+mj-lt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endParaRPr sz="2000" b="0" dirty="0">
              <a:solidFill>
                <a:srgbClr val="1A232E"/>
              </a:solidFill>
              <a:latin typeface="+mj-lt"/>
            </a:endParaRPr>
          </a:p>
          <a:p>
            <a:pPr>
              <a:lnSpc>
                <a:spcPct val="112000"/>
              </a:lnSpc>
            </a:pPr>
            <a:r>
              <a:rPr sz="2000" b="1" dirty="0">
                <a:solidFill>
                  <a:srgbClr val="C8A04B"/>
                </a:solidFill>
                <a:latin typeface="+mj-lt"/>
              </a:rPr>
              <a:t>•  </a:t>
            </a:r>
            <a:r>
              <a:rPr lang="en-US" sz="2200" b="1" dirty="0" err="1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Apoio</a:t>
            </a:r>
            <a:r>
              <a:rPr lang="en-US" sz="2200" b="1" dirty="0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 à </a:t>
            </a:r>
            <a:r>
              <a:rPr lang="en-US" sz="2200" b="1" dirty="0" err="1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Decisão</a:t>
            </a:r>
            <a:r>
              <a:rPr lang="en-US" sz="2200" b="1" dirty="0">
                <a:solidFill>
                  <a:srgbClr val="111827"/>
                </a:solidFill>
                <a:latin typeface="+mj-lt"/>
                <a:ea typeface="Inter Black" pitchFamily="34" charset="-122"/>
                <a:cs typeface="Inter Black" pitchFamily="34" charset="-120"/>
              </a:rPr>
              <a:t>:</a:t>
            </a:r>
            <a:r>
              <a:rPr lang="en-US" sz="22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O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artefato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potencializa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a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intuição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da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equipe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de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vendas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 com dados </a:t>
            </a:r>
            <a:r>
              <a:rPr lang="en-US" sz="2000" dirty="0" err="1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auditáveis</a:t>
            </a:r>
            <a:r>
              <a:rPr lang="en-US" sz="2000" dirty="0">
                <a:solidFill>
                  <a:srgbClr val="374151"/>
                </a:solidFill>
                <a:latin typeface="+mj-lt"/>
                <a:ea typeface="Inter Medium" pitchFamily="34" charset="-122"/>
                <a:cs typeface="Inter Medium" pitchFamily="34" charset="-120"/>
              </a:rPr>
              <a:t>.</a:t>
            </a:r>
            <a:endParaRPr lang="en-US" sz="2000" dirty="0">
              <a:latin typeface="+mj-lt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endParaRPr sz="2000" b="0" dirty="0">
              <a:solidFill>
                <a:srgbClr val="1A23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0F1B2D"/>
                </a:solidFill>
                <a:latin typeface="Calibri"/>
              </a:rPr>
              <a:t>Trabalhos</a:t>
            </a:r>
            <a:r>
              <a:rPr sz="3000" b="1" dirty="0">
                <a:solidFill>
                  <a:srgbClr val="0F1B2D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0F1B2D"/>
                </a:solidFill>
                <a:latin typeface="Calibri"/>
              </a:rPr>
              <a:t>futuros</a:t>
            </a:r>
            <a:endParaRPr sz="3000" b="1" dirty="0">
              <a:solidFill>
                <a:srgbClr val="0F1B2D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dirty="0">
                <a:solidFill>
                  <a:srgbClr val="C8A04B"/>
                </a:solidFill>
                <a:latin typeface="Calibri"/>
              </a:rPr>
              <a:t>CAPÍTULO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0972800" cy="267150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</a:pPr>
            <a:r>
              <a:rPr lang="pt-BR" sz="2200" b="1" dirty="0">
                <a:solidFill>
                  <a:srgbClr val="C8A04B"/>
                </a:solidFill>
              </a:rPr>
              <a:t>•  </a:t>
            </a:r>
            <a:r>
              <a:rPr lang="pt-BR" sz="2200" b="1" dirty="0">
                <a:solidFill>
                  <a:srgbClr val="0F1B2D"/>
                </a:solidFill>
              </a:rPr>
              <a:t>Mais dados:</a:t>
            </a:r>
            <a:r>
              <a:rPr lang="pt-BR" sz="2200" dirty="0">
                <a:solidFill>
                  <a:srgbClr val="1A232E"/>
                </a:solidFill>
              </a:rPr>
              <a:t> histórico maior → métricas mais estáveis.</a:t>
            </a:r>
            <a:endParaRPr lang="pt-BR" sz="2200" b="1" dirty="0">
              <a:solidFill>
                <a:srgbClr val="C8A04B"/>
              </a:solidFill>
              <a:latin typeface="Calibri"/>
            </a:endParaRPr>
          </a:p>
          <a:p>
            <a:pPr>
              <a:lnSpc>
                <a:spcPct val="112000"/>
              </a:lnSpc>
            </a:pPr>
            <a:endParaRPr lang="pt-BR" sz="2200" b="1" dirty="0">
              <a:solidFill>
                <a:srgbClr val="C8A04B"/>
              </a:solidFill>
              <a:latin typeface="Calibri"/>
            </a:endParaRPr>
          </a:p>
          <a:p>
            <a:pPr>
              <a:lnSpc>
                <a:spcPct val="112000"/>
              </a:lnSpc>
            </a:pPr>
            <a:r>
              <a:rPr sz="22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lang="en-US" sz="2200" b="1" dirty="0" err="1">
                <a:latin typeface="+mj-lt"/>
                <a:ea typeface="Inter Black" pitchFamily="34" charset="-122"/>
                <a:cs typeface="Inter Black" pitchFamily="34" charset="-120"/>
              </a:rPr>
              <a:t>Escalabilidade</a:t>
            </a:r>
            <a:r>
              <a:rPr lang="en-US" sz="2000" b="1" dirty="0">
                <a:latin typeface="+mj-lt"/>
                <a:ea typeface="Inter Black" pitchFamily="34" charset="-122"/>
                <a:cs typeface="Inter Black" pitchFamily="34" charset="-120"/>
              </a:rPr>
              <a:t>:</a:t>
            </a:r>
            <a:r>
              <a:rPr lang="en-US" sz="2400" dirty="0"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Expansão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para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algoritmos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multi-item (Apriori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completo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e FP-Growth).</a:t>
            </a:r>
          </a:p>
          <a:p>
            <a:pPr>
              <a:lnSpc>
                <a:spcPct val="112000"/>
              </a:lnSpc>
            </a:pPr>
            <a:endParaRPr lang="en-US" sz="2000" dirty="0">
              <a:latin typeface="+mj-lt"/>
            </a:endParaRPr>
          </a:p>
          <a:p>
            <a:pPr>
              <a:lnSpc>
                <a:spcPct val="112000"/>
              </a:lnSpc>
            </a:pPr>
            <a:r>
              <a:rPr sz="22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lang="en-US" sz="2200" b="1" dirty="0" err="1">
                <a:latin typeface="+mj-lt"/>
                <a:ea typeface="Inter Black" pitchFamily="34" charset="-122"/>
                <a:cs typeface="Inter Black" pitchFamily="34" charset="-120"/>
              </a:rPr>
              <a:t>Integração</a:t>
            </a:r>
            <a:r>
              <a:rPr lang="en-US" sz="2000" b="1" dirty="0"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:</a:t>
            </a:r>
            <a:r>
              <a:rPr lang="en-US" sz="2400" dirty="0"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Implementação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direta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no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fluxo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de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fechamento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de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pedidos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em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tempo real</a:t>
            </a:r>
            <a:r>
              <a:rPr lang="en-US" dirty="0">
                <a:latin typeface="+mj-lt"/>
                <a:ea typeface="Inter Medium" pitchFamily="34" charset="-122"/>
                <a:cs typeface="Inter Medium" pitchFamily="34" charset="-120"/>
              </a:rPr>
              <a:t>.</a:t>
            </a:r>
          </a:p>
          <a:p>
            <a:pPr>
              <a:lnSpc>
                <a:spcPct val="112000"/>
              </a:lnSpc>
            </a:pPr>
            <a:endParaRPr lang="en-US" dirty="0">
              <a:latin typeface="+mj-lt"/>
            </a:endParaRP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2200" b="1" dirty="0">
                <a:solidFill>
                  <a:srgbClr val="0F1B2D"/>
                </a:solidFill>
                <a:latin typeface="+mj-lt"/>
              </a:rPr>
              <a:t>Teste A/B:</a:t>
            </a:r>
            <a:r>
              <a:rPr sz="2200" b="0" dirty="0">
                <a:solidFill>
                  <a:srgbClr val="1A232E"/>
                </a:solidFill>
                <a:latin typeface="+mj-lt"/>
              </a:rPr>
              <a:t>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Medição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do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impacto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real das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recomendações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no ticket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médio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 da </a:t>
            </a:r>
            <a:r>
              <a:rPr lang="en-US" sz="2000" dirty="0" err="1">
                <a:latin typeface="+mj-lt"/>
                <a:ea typeface="Inter Medium" pitchFamily="34" charset="-122"/>
                <a:cs typeface="Inter Medium" pitchFamily="34" charset="-120"/>
              </a:rPr>
              <a:t>distribuidora</a:t>
            </a:r>
            <a:r>
              <a:rPr lang="en-US" sz="2000" dirty="0">
                <a:latin typeface="+mj-lt"/>
                <a:ea typeface="Inter Medium" pitchFamily="34" charset="-122"/>
                <a:cs typeface="Inter Medium" pitchFamily="34" charset="-120"/>
              </a:rPr>
              <a:t>.</a:t>
            </a:r>
            <a:endParaRPr sz="2000" b="0" dirty="0">
              <a:latin typeface="+mj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0F1B2D"/>
                </a:solidFill>
                <a:latin typeface="Calibri"/>
              </a:rPr>
              <a:t>Referências principais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8A04B"/>
                </a:solidFill>
                <a:latin typeface="Calibri"/>
              </a:rPr>
              <a:t>ABNT NBR 6023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07008"/>
            <a:ext cx="2194560" cy="3810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A6672"/>
                </a:solidFill>
                <a:latin typeface="Calibri"/>
              </a:rPr>
              <a:t>Felipe Pereira  •  Sistema de Recomendação B2B com Regras de Associação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8A04B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972800" cy="27135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232E"/>
                </a:solidFill>
                <a:latin typeface="Calibri"/>
              </a:rPr>
              <a:t>AGRAWAL, R.; SRIKANT, R. Fast algorithms for mining association rules. In: VLDB, 1994. p. 487-499.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232E"/>
                </a:solidFill>
                <a:latin typeface="Calibri"/>
              </a:rPr>
              <a:t>AGRAWAL, R.; IMIELIŃSKI, T.; SWAMI, A. Mining association rules between sets of items in large databases. In: ACM SIGMOD, 1993. p. 207-216.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232E"/>
                </a:solidFill>
                <a:latin typeface="Calibri"/>
              </a:rPr>
              <a:t>HAN, J.; PEI, J.; YIN, Y. Mining frequent patterns without candidate generation. In: ACM SIGMOD, 2000. p. 1-12.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232E"/>
                </a:solidFill>
                <a:latin typeface="Calibri"/>
              </a:rPr>
              <a:t>ADOMAVICIUS, G.; TUZHILIN, A. Toward the next generation of recommender systems. IEEE TKDE, v. 17, n. 6, p. 734-749, 2005.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232E"/>
                </a:solidFill>
                <a:latin typeface="Calibri"/>
              </a:rPr>
              <a:t>SARWAR, B. et al. Item-based collaborative filtering recommendation algorithms. In: WWW, 2001. p. 285-295.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232E"/>
                </a:solidFill>
                <a:latin typeface="Calibri"/>
              </a:rPr>
              <a:t>HAN, J.; KAMBER, M.; PEI, J. Data mining: concepts and techniques. 3. ed. Morgan Kaufmann, 2011.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232E"/>
                </a:solidFill>
                <a:latin typeface="Calibri"/>
              </a:rPr>
              <a:t>HEVNER, A. R. et al. Design science in information systems research. MIS Quarterly, v. 28, n. 1, p. 75-105, 2004.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1" dirty="0">
                <a:solidFill>
                  <a:srgbClr val="C8A04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232E"/>
                </a:solidFill>
                <a:latin typeface="Calibri"/>
              </a:rPr>
              <a:t>POWERS, D. M. W. Evaluation: from precision, recall and F-measure to ROC... J. Machine Learning Tech., v. 2, n. 1, 2011.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A6672"/>
                </a:solidFill>
                <a:latin typeface="Calibri"/>
              </a:rPr>
              <a:t>Lista completa (23 referências) no capítulo Referências da monografia.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91440"/>
          </a:xfrm>
          <a:prstGeom prst="rect">
            <a:avLst/>
          </a:prstGeom>
          <a:solidFill>
            <a:srgbClr val="C8A0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Calibri"/>
              </a:rPr>
              <a:t>Obrigado.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8A04B"/>
                </a:solidFill>
                <a:latin typeface="Calibri"/>
              </a:rPr>
              <a:t>Felipe Pereira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9CFD6"/>
                </a:solidFill>
                <a:latin typeface="Calibri"/>
              </a:rPr>
              <a:t>Sistema de Recomendação B2B com Regras de Associação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A6672"/>
                </a:solidFill>
                <a:latin typeface="Calibri"/>
              </a:rPr>
              <a:t>Quasar Barber  •  Codó-MA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3630</TotalTime>
  <Words>4647</Words>
  <Application>Microsoft Office PowerPoint</Application>
  <PresentationFormat>Widescreen</PresentationFormat>
  <Paragraphs>339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</vt:lpstr>
      <vt:lpstr>Inter Black</vt:lpstr>
      <vt:lpstr>Inter Medium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Felipe</dc:creator>
  <cp:keywords/>
  <dc:description>generated using python-pptx</dc:description>
  <cp:lastModifiedBy>Felipe Ferreira</cp:lastModifiedBy>
  <cp:revision>23</cp:revision>
  <dcterms:created xsi:type="dcterms:W3CDTF">2013-01-27T09:14:16Z</dcterms:created>
  <dcterms:modified xsi:type="dcterms:W3CDTF">2026-07-07T23:53:46Z</dcterms:modified>
  <cp:category/>
</cp:coreProperties>
</file>