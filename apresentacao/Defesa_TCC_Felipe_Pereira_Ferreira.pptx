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3" r:id="rId8"/>
    <p:sldId id="264" r:id="rId9"/>
    <p:sldId id="265" r:id="rId10"/>
    <p:sldId id="266" r:id="rId11"/>
    <p:sldId id="267" r:id="rId12"/>
    <p:sldId id="274" r:id="rId13"/>
    <p:sldId id="269" r:id="rId14"/>
    <p:sldId id="270" r:id="rId15"/>
    <p:sldId id="271"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016" autoAdjust="0"/>
  </p:normalViewPr>
  <p:slideViewPr>
    <p:cSldViewPr snapToGrid="0" snapToObjects="1">
      <p:cViewPr varScale="1">
        <p:scale>
          <a:sx n="109" d="100"/>
          <a:sy n="109" d="100"/>
        </p:scale>
        <p:origin x="1674" y="96"/>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col"/>
        <c:grouping val="clustered"/>
        <c:varyColors val="0"/>
        <c:ser>
          <c:idx val="0"/>
          <c:order val="0"/>
          <c:tx>
            <c:strRef>
              <c:f>Sheet1!$B$1</c:f>
              <c:strCache>
                <c:ptCount val="1"/>
                <c:pt idx="0">
                  <c:v>LOOCV</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1-2D88-44D0-B00A-A61F4F2E1F8E}"/>
              </c:ext>
            </c:extLst>
          </c:dPt>
          <c:dPt>
            <c:idx val="1"/>
            <c:invertIfNegative val="0"/>
            <c:bubble3D val="0"/>
            <c:spPr>
              <a:solidFill>
                <a:srgbClr val="C9962E"/>
              </a:solidFill>
              <a:effectLst/>
            </c:spPr>
            <c:extLst>
              <c:ext xmlns:c16="http://schemas.microsoft.com/office/drawing/2014/chart" uri="{C3380CC4-5D6E-409C-BE32-E72D297353CC}">
                <c16:uniqueId val="{00000003-2D88-44D0-B00A-A61F4F2E1F8E}"/>
              </c:ext>
            </c:extLst>
          </c:dPt>
          <c:dPt>
            <c:idx val="2"/>
            <c:invertIfNegative val="0"/>
            <c:bubble3D val="0"/>
            <c:spPr>
              <a:solidFill>
                <a:srgbClr val="8A97B8"/>
              </a:solidFill>
              <a:effectLst/>
            </c:spPr>
            <c:extLst>
              <c:ext xmlns:c16="http://schemas.microsoft.com/office/drawing/2014/chart" uri="{C3380CC4-5D6E-409C-BE32-E72D297353CC}">
                <c16:uniqueId val="{00000005-2D88-44D0-B00A-A61F4F2E1F8E}"/>
              </c:ext>
            </c:extLst>
          </c:dPt>
          <c:dLbls>
            <c:numFmt formatCode="0.0&quot;%&quot;" sourceLinked="0"/>
            <c:spPr>
              <a:noFill/>
              <a:ln>
                <a:noFill/>
              </a:ln>
              <a:effectLst/>
            </c:spPr>
            <c:txPr>
              <a:bodyPr/>
              <a:lstStyle/>
              <a:p>
                <a:pPr>
                  <a:defRPr sz="1200" b="0" i="0" u="none" strike="noStrike">
                    <a:solidFill>
                      <a:srgbClr val="2B2F36"/>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c:v>
                </c:pt>
                <c:pt idx="1">
                  <c:v>Recall</c:v>
                </c:pt>
                <c:pt idx="2">
                  <c:v>F1-Score</c:v>
                </c:pt>
              </c:strCache>
            </c:strRef>
          </c:cat>
          <c:val>
            <c:numRef>
              <c:f>Sheet1!$B$2:$B$4</c:f>
              <c:numCache>
                <c:formatCode>General</c:formatCode>
                <c:ptCount val="3"/>
                <c:pt idx="0">
                  <c:v>26.39</c:v>
                </c:pt>
                <c:pt idx="1">
                  <c:v>44.44</c:v>
                </c:pt>
                <c:pt idx="2">
                  <c:v>31.94</c:v>
                </c:pt>
              </c:numCache>
            </c:numRef>
          </c:val>
          <c:extLst>
            <c:ext xmlns:c16="http://schemas.microsoft.com/office/drawing/2014/chart" uri="{C3380CC4-5D6E-409C-BE32-E72D297353CC}">
              <c16:uniqueId val="{00000006-2D88-44D0-B00A-A61F4F2E1F8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pt-BR"/>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3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pt-BR"/>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1632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ROTEIRO (~40s): </a:t>
            </a:r>
            <a:r>
              <a:rPr lang="pt-BR" sz="1200" b="0" kern="1200" dirty="0">
                <a:solidFill>
                  <a:schemeClr val="tx1"/>
                </a:solidFill>
                <a:effectLst/>
                <a:latin typeface="+mn-lt"/>
                <a:ea typeface="+mn-ea"/>
                <a:cs typeface="+mn-cs"/>
              </a:rPr>
              <a:t>Bom dia. Meu nome é Felipe Pereira e vou apresentar meu trabalho de conclusão de curso: um sistema de recomendação de produtos para distribuição B2B usando regras de associação. O estudo de caso é a Quasar Barber, uma distribuidora de produtos de barbearia que eu mesmo administro, em Codó, no Maranhão. “Este trabalho foi desenvolvido sob a orientação do Professor Mestre François Barbosa, aqui no Instituto Federal do Maranhão, Campus Caxias. Nosso foco é demonstrar como a Ciência da Computação pode trazer soluções inovadoras para desafios de negócios, mesmo em contextos de dados limitados. Agradeço a presença da banca examinadora e de todos os presentes. Vamos agora ao roteiro da nossa apresentação.</a:t>
            </a:r>
          </a:p>
          <a:p>
            <a:r>
              <a:rPr lang="en-US" dirty="0"/>
              <a:t>
DICA: fale devagar, respire. Os primeiros 30 segundos definem o tom da defesa.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(~30s): A apresentação segue a estrutura da monografia, em seis blocos. Primeiro, o contexto e o problema: por que recomendar produtos é difícil em um B2B pequeno. Em seguida, a pergunta de pesquisa, as hipóteses e os objetivos. No terceiro bloco, a fundamentação teórica e o método. Depois apresento o sistema desenvolvido — arquitetura, algoritmo e interface. No quinto bloco, os resultados e a discussão. E encerro com a conclusão e os trabalhos futuros.
DICA: não gaste mais de 30 segundos aqui — é só um mapa mental para a banca.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(~1min30): O cenário deste trabalho é o de uma distribuidora B2B de pequeno porte. A Quasar Barber atende barbearias — ou seja, empresas, não o consumidor final. Isso significa três coisas: poucos clientes, nenhuma avaliação de produtos, como notas ou estrelas, e um volume de transações muito menor que o do varejo. Hoje, as decisões de venda casada são tomadas por intuição: o vendedor experiente sabe o que oferecer junto. Esse conhecimento é valioso, mas é implícito — fica na cabeça de cada vendedor, não escala com a operação e não pode ser auditado. E as técnicas clássicas de recomendação não resolvem: a filtragem colaborativa depende de uma matriz usuário-item densa, e aqui essa matriz é extremamente esparsa — o cold start deixa de ser exceção e vira a regra, como apontam Sarwar e colaboradores. A lacuna é esta: a literatura foca no B2C de alto volume, Amazon e Netflix; sobre o B2B de baixo volume — dezenas de transações, não milhões — sabe-se muito pouco. Mas o histórico de pedidos existe. A questão é: ele esconde padrões ainda não percebidos?
DICA: a pergunta final do slide é o gancho para o próximo. Faça uma pequena pausa depois dela.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(~1min15): Isso leva à pergunta que orienta todo o trabalho — e vou lê-la com calma: é possível gerar recomendações úteis e estatisticamente relevantes para uma distribuidora B2B de pequeno porte usando apenas regras de associação extraídas do histórico transacional, mesmo com volume reduzido de transações? Dessa pergunta derivam três subperguntas: quais limiares de suporte e confiança produzem regras relevantes num conjunto esparso; como o lift distingue associações reais de coincidências; e quais as limitações de validação quando há poucas transações multi-item. A hipótese de trabalho, H1, é que regras com confiança maior ou igual a 0,30 e suporte maior ou igual a 0,02, ranqueadas por lift, produzem recomendações de cross-sell coerentes com o conhecimento do negócio, mesmo em dados reduzidos. A hipótese nula, H0, diz o contrário: com baixo volume, as regras seriam indistinguíveis de coocorrências aleatórias e não superariam um baseline simples de popularidade — recomendar apenas os mais vendidos.
DICA: memorize a pergunta de pesquisa. A banca pode pedir para você repeti-la na arguição.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 O objetivo geral é desenvolver e validar um sistema de recomendação B2B baseado em regras de associação, aplicado ao histórico de vendas da Quasar Barber, com relevância estatística mensurável. Ele se desdobra em seis objetivos específicos, que espelham os capítulos da monografia: revisar a literatura de sistemas de recomendação e do algoritmo Apriori; modelar a base transacional em PostgreSQL via Supabase; implementar o algoritmo de extração de regras e a geração de recomendações Top-N em uma API REST; construir a interface web em React; validar a qualidade das recomendações por validação cruzada Leave-One-Out, com Precision, Recall e F1-Score; e, por fim, analisar as regras de maior lift sob a ótica do negócio, verificando a aderência ao conhecimento de domínio.
DICA: percorra os seis itens em ritmo constante, sem se alongar — cada um será detalhado adiante.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(~1min30): A base teórica é a Market Basket Analysis, proposta por Agrawal, Imieliński e Swami em 1993. A ideia é simples: extrair do histórico regras do tipo X implica Y — quem compra X tende a comprar Y. A grande vantagem para o meu cenário é que essa técnica não exige perfis de usuário: ela olha apenas para a coocorrência de produtos nas cestas, contornando a esparsidade que inviabiliza a filtragem colaborativa. </a:t>
            </a:r>
            <a:r>
              <a:rPr lang="pt-BR" sz="1200" b="0" kern="1200" dirty="0">
                <a:solidFill>
                  <a:schemeClr val="tx1"/>
                </a:solidFill>
                <a:effectLst/>
                <a:latin typeface="+mn-lt"/>
                <a:ea typeface="+mn-ea"/>
                <a:cs typeface="+mn-cs"/>
              </a:rPr>
              <a:t>Para validar essas regras, usamos três métricas principais. O Suporte mede a frequência de um par de itens nas transações, filtrando o que é realmente relevante. A Confiança indica a probabilidade de um item ser comprado dado que outro já foi, mostrando a força da associação. E o Lift, que é o mais importante, revela o quanto a compra de um item aumenta a chance de comprar outro, diferenciando associações reais do mero acaso. Essas métricas nos dão a segurança estatística para as recomendações. Com essa compreensão das regras, podemos agora avançar para a metodologia que guiou o desenvolvimento do nosso sistema. </a:t>
            </a:r>
          </a:p>
          <a:p>
            <a:endParaRPr lang="pt-BR" sz="1200" b="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“Entender essas métricas foi crucial para o projeto, pois em um cenário de baixo volume como o da Quasar Barber, o Lift nos permitiu separar o 'ruído' estatístico das oportunidades reais de venda casada que a equipe de vendas pode explorar."</a:t>
            </a:r>
            <a:endParaRPr lang="pt-BR" sz="1200" b="0" kern="1200" dirty="0">
              <a:solidFill>
                <a:schemeClr val="tx1"/>
              </a:solidFill>
              <a:effectLst/>
              <a:latin typeface="+mn-lt"/>
              <a:ea typeface="+mn-ea"/>
              <a:cs typeface="+mn-cs"/>
            </a:endParaRPr>
          </a:p>
          <a:p>
            <a:r>
              <a:rPr lang="en-US" dirty="0"/>
              <a:t>
DICA: o exemplo manteiga-pão é o momento mais didático da defesa — use-o com naturalidade.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 O método é a Design Science Research, na estruturação de Peffers e colaboradores — da identificação do problema até esta comunicação. Os dados são pedidos reais da Quasar Barber: 30 transações, 29 produtos, 26 clientes, pré-processados com normalização, agrupamento por pedido e categorização por heurística. Sobre a validação: o holdout tradicional de 80/20 falharia aqui, porque deixaria só cerca de 3 cestas multi-item para teste — instável demais. Por isso usei a validação cruzada Leave-One-Out: em cada rodada, oculto um produto da cesta e verifico se ele volta entre as três sugestões do sistema. E um ponto estrutural importante: como oculto 1 item e recomendo até 3, a Precision máxima possível é 1/3 — por isso Recall e F1 são os indicadores mais informativos deste estudo.
DICA: este é o slide que antecipa a pergunta mais provável da banca sobre a Precision baixa. Explique o teto de 1/3 com convicção.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(~1min15): O artefato é um sistema completo, organizado em camadas. No topo, o cliente: interface em React 18 com Vite e Chart.js, com busca por autocomplete. Abaixo, a API REST em Express, com quatro grupos de rotas: recomendações, estatísticas, validação e produtos. No centro, a camada de serviços, onde vive a lógica de negócio — o algoritmo de regras de associação, a validação LOOCV e o cache. Depois, a camada de modelos, que isola todo o acesso ao banco: uma troca de banco afetaria apenas essa camada. E na base, o PostgreSQL gerenciado pelo Supabase, com quatro tabelas: clientes, produtos, vendas e itens de venda. O par venda-produto é o que materializa a noção de 'produto presente na cesta' — o insumo direto da Market Basket Analysis. Três decisões merecem destaque: o custo — a camada gratuita do Supabase via PostgREST dispensa servidor próprio, sem nenhuma infraestrutura de Big Data; a segurança — Row Level Security, com chave pública somente leitura e chave de serviço restrita ao servidor; e a degradação graceful — o Redis é opcional: sem ele, o sistema recalcula a cada requisição, perdendo desempenho, mas nunca exatidão nem disponibilidade.
DICA: 'perde desempenho, nunca exatidão' é uma frase de efeito que resume bem a filosofia do projeto.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(~1min15): O núcleo do sistema segue este fluxo: as transações são agrupadas em cestas; para cada par de produtos A e B, o algoritmo conta as cestas com A, com B e com os dois juntos; calcula suporte, confiança e lift; aplica o filtro — confiança mínima 0,30, suporte mínimo 0,02, lift mínimo 1,0 — e gera as três melhores sugestões por produto, ordenadas por confiança. Uma decisão de projeto importante: extraio apenas regras par-a-par, um item no antecedente e um no consequente, em vez do Apriori completo. Por três razões. Primeira, a escala: a complexidade é da ordem de n vezes p ao quadrado, desprezível para dezenas de transações e produtos. Segunda, o suporte: regras com múltiplos itens teriam suporte baixo demais para serem confiáveis neste volume — seriam ruído. Terceira, o alinhamento com o objetivo: a meta é gerar Top-N para produtos individuais, e pares são exatamente essa granularidade.
DICA: se a banca citar FP-Growth, reconheça: para volumes maiores, generalizar para itemsets maiores está nos trabalhos futuros; hoje o par-a-par é o dimensionamento correto.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(~1min45): Vamos aos resultados. O conjunto final tem 30 transações, 29 produtos e 26 clientes, num total de 52 itens de venda. Dessas 30 cestas, 14 são multi-item — as que efetivamente geram regras de coocorrência; as demais, com um único produto, contribuem apenas para o suporte individual. A média é de 1,73 item por cesta, coerente com um comércio B2B de reposição. Sobre esses dados, o sistema descobriu 44 regras, com lift médio de 12,4 e confiança média de 76,5%. Na tabela, um recorte das regras de maior lift: After Shave implica Café Verde Shampoo, ambos QOD, com lift 30; Shampoo para Barba implica Óleo para Barba, ambos Fox For Men, com lift 15. E aqui faço questão de um ponto de honestidade metodológica: quando a confiança é 1,0, o lift equivale a 1 sobre o suporte do consequente. Ou seja, os maiores lifts vêm justamente dos pares mais raros — produtos que apareceram juntos em pouquíssimas cestas. Isso não invalida as regras, mas exige que o lift seja lido em conjunto com o suporte e com o conhecimento do negócio — que é exatamente o que a segunda subpergunta de pesquisa pedia.
DICA: a banca valoriza essa autocrítica. Falar da inflação do lift ANTES de ser perguntado demonstra domínio.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(~1min30): A qualidade preditiva foi estimada pelo protocolo LOOCV que descrevi na metodologia. Das 30 transações, as 14 multi-item foram avaliáveis, gerando 36 subtestes acumulados. Os resultados: Precision de 26,4%, Recall de 44,4% e F1 de 31,9%. Começo pela leitura correta da Precision: 0,264 com um teto estrutural de 0,33 significa que ela está próxima do máximo teórico. Não se deve ler esse número como 'as sugestões erram 73% das vezes' — é consequência aritmética do desenho de avaliação, um item oculto contra três sugestões. O indicador mais informativo é o Recall: em 16 dos 36 subtestes, o produto que foi deliberadamente escondido da cesta apareceu entre as três recomendações. Em outras palavras: em quase metade dos casos, o sistema completou a cesta corretamente — sem nenhuma nota de produto, sem matriz usuário-item, apenas com coocorrência. Para 14 transações avaliáveis, é um desempenho expressivo. E o confronto com o holdout confirma a escolha metodológica: 36 subtestes contra cerca de 3 casos avaliáveis — uma estimativa muito mais robusta sobre o mesmo conjunto de dados.
DICA: a frase-chave é 'o sistema completou a cesta em quase metade dos casos'. Pause depois dela.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 </a:t>
            </a:r>
            <a:r>
              <a:rPr lang="en-US" dirty="0" err="1"/>
              <a:t>Além</a:t>
            </a:r>
            <a:r>
              <a:rPr lang="en-US" dirty="0"/>
              <a:t> dos </a:t>
            </a:r>
            <a:r>
              <a:rPr lang="en-US" dirty="0" err="1"/>
              <a:t>números</a:t>
            </a:r>
            <a:r>
              <a:rPr lang="en-US" dirty="0"/>
              <a:t>, </a:t>
            </a:r>
            <a:r>
              <a:rPr lang="en-US" dirty="0" err="1"/>
              <a:t>avaliei</a:t>
            </a:r>
            <a:r>
              <a:rPr lang="en-US" dirty="0"/>
              <a:t> se as </a:t>
            </a:r>
            <a:r>
              <a:rPr lang="en-US" dirty="0" err="1"/>
              <a:t>regras</a:t>
            </a:r>
            <a:r>
              <a:rPr lang="en-US" dirty="0"/>
              <a:t> </a:t>
            </a:r>
            <a:r>
              <a:rPr lang="en-US" dirty="0" err="1"/>
              <a:t>fazem</a:t>
            </a:r>
            <a:r>
              <a:rPr lang="en-US" dirty="0"/>
              <a:t> </a:t>
            </a:r>
            <a:r>
              <a:rPr lang="en-US" dirty="0" err="1"/>
              <a:t>sentido</a:t>
            </a:r>
            <a:r>
              <a:rPr lang="en-US" dirty="0"/>
              <a:t> para </a:t>
            </a:r>
            <a:r>
              <a:rPr lang="en-US" dirty="0" err="1"/>
              <a:t>quem</a:t>
            </a:r>
            <a:r>
              <a:rPr lang="en-US" dirty="0"/>
              <a:t> </a:t>
            </a:r>
            <a:r>
              <a:rPr lang="en-US" dirty="0" err="1"/>
              <a:t>conhece</a:t>
            </a:r>
            <a:r>
              <a:rPr lang="en-US" dirty="0"/>
              <a:t> o </a:t>
            </a:r>
            <a:r>
              <a:rPr lang="en-US" dirty="0" err="1"/>
              <a:t>negócio</a:t>
            </a:r>
            <a:r>
              <a:rPr lang="en-US" dirty="0"/>
              <a:t> — no </a:t>
            </a:r>
            <a:r>
              <a:rPr lang="en-US" dirty="0" err="1"/>
              <a:t>caso</a:t>
            </a:r>
            <a:r>
              <a:rPr lang="en-US" dirty="0"/>
              <a:t>, </a:t>
            </a:r>
            <a:r>
              <a:rPr lang="en-US" dirty="0" err="1"/>
              <a:t>eu</a:t>
            </a:r>
            <a:r>
              <a:rPr lang="en-US" dirty="0"/>
              <a:t> </a:t>
            </a:r>
            <a:r>
              <a:rPr lang="en-US" dirty="0" err="1"/>
              <a:t>mesmo</a:t>
            </a:r>
            <a:r>
              <a:rPr lang="en-US" dirty="0"/>
              <a:t>, </a:t>
            </a:r>
            <a:r>
              <a:rPr lang="en-US" dirty="0" err="1"/>
              <a:t>como</a:t>
            </a:r>
            <a:r>
              <a:rPr lang="en-US" dirty="0"/>
              <a:t> </a:t>
            </a:r>
            <a:r>
              <a:rPr lang="en-US" dirty="0" err="1"/>
              <a:t>proprietário</a:t>
            </a:r>
            <a:r>
              <a:rPr lang="en-US" dirty="0"/>
              <a:t> da </a:t>
            </a:r>
            <a:r>
              <a:rPr lang="en-US" dirty="0" err="1"/>
              <a:t>distribuidora</a:t>
            </a:r>
            <a:r>
              <a:rPr lang="en-US" dirty="0"/>
              <a:t>. As regras de maior lift mostram dois padrões claros de negócio: reciprocidade funcional, produtos da mesma rotina de cuidado comprados juntos, e coerência de marca, coocorrência dentro das linhas QOD e Fox For Men, refletindo como as barbearias padronizam fornecedores. Isso sustenta H1: o lift médio de 12,4 está muito acima do esperado pelo acaso, e as regras são coerentes com a prática comercial real. E enfraquece H0: os pares de maior lift não coincidem com os produtos mais vendidos, então um baseline de popularidade não os recuperaria. A ressalva fica clara: as recomendações são apoio à decisão do vendedor, não prescrição automática — e a escala do estudo não autoriza generalização estatística ampla.
DICA: 'apoio à decisão, não prescrição automática' é a frase que protege o trabalho de críticas de overclaiming.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(~1min15): Sintetizando as contribuições em três planos. No plano do artefato: um sistema completo e reproduzível — dos dados brutos ao algoritmo, da API à interface web — dimensionado para uma pequena empresa, com ferramentas gratuitas ou de baixo custo, sem Big Data. No plano empírico: 44 regras extraídas de 30 transações, com confiança média de 76,5% e lift médio de 12,4, e padrões consistentes com a prática comercial real. E no plano metodológico: a documentação, com números, de por que o LOOCV é superior ao holdout em conjuntos pequenos, e o registro do teto estrutural da Precision — um alerta útil para quem for avaliar recomendadores nesse tipo de desenho. E respondo diretamente à pergunta de pesquisa: sim, com ressalvas. Regras de associação são viáveis para recomendação em distribuição B2B de baixo volume — como apoio à decisão da equipe de vendas, respeitada a escala reduzida do estudo.
DICA: leia a resposta final olhando para a banca, não para o slide. É o momento de maior convicção da defesa.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(~1min): Três caminhos naturais de continuidade. O primeiro é acumular mais dados: com o crescimento do histórico da distribuidora, as métricas ficam mais estáveis, o suporte das regras mais sólido, e será possível reavaliar com segurança os limiares de confiança e suporte. O segundo é generalizar o algoritmo para itemsets maiores: a restrição a pares foi decisão consciente para o volume atual; com mais dados, vale implementar o Apriori completo ou o FP-Growth para capturar padrões de três ou mais produtos comprados juntos. E o terceiro é colocar o sistema em produção, integrado ao fluxo de vendas, com um teste A/B comparando o ticket médio de pedidos apoiados por recomendação contra pedidos sem ela. É esse teste que fecharia a lacuna entre a relevância estatística verificada neste trabalho e o efeito econômico que motivou a pesquisa.
DICA: o teste A/B conecta o TCC ao negócio real — se houver tempo na arguição, é um bom tema para desenvolver.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(~15s): Estas são as principais referências que sustentaram o trabalho. Destaco três pilares: o artigo seminal de Agrawal e colegas, de 1993, que fundou as regras de associação; Sarwar e colaboradores, de 2001, que fundamentam por que a filtragem colaborativa é inviável no meu cenário; e Peffers, de 2007, que estruturou o método Design Science Research. A lista completa está nas referências da monografia, formatada conforme a ABNT.
DICA: não leia o slide — mantenha o olhar na banca e apenas gesticule para a tela. Emende direto no encerramento.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(~20s): Com isso, encerro a apresentação. Agradeço ao professor François pela orientação ao longo do trabalho, e aos professores Janderson e Gustavo pela disponibilidade em compor a banca. Agradeço também a atenção de todos, e me coloco à disposição para as perguntas e considerações da banca. Muito obrigado.
DICA: agradeça com calma, sorria e aguarde. Na arguição: ouça a pergunta inteira antes de responder; se precisar, reformule-a com suas palavras para ganhar tempo e confirmar o entendimento.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B"/>
        </a:solidFill>
        <a:effectLst/>
      </p:bgPr>
    </p:bg>
    <p:spTree>
      <p:nvGrpSpPr>
        <p:cNvPr id="1" name=""/>
        <p:cNvGrpSpPr/>
        <p:nvPr/>
      </p:nvGrpSpPr>
      <p:grpSpPr>
        <a:xfrm>
          <a:off x="0" y="0"/>
          <a:ext cx="0" cy="0"/>
          <a:chOff x="0" y="0"/>
          <a:chExt cx="0" cy="0"/>
        </a:xfrm>
      </p:grpSpPr>
      <p:sp>
        <p:nvSpPr>
          <p:cNvPr id="4" name="Text 2"/>
          <p:cNvSpPr/>
          <p:nvPr/>
        </p:nvSpPr>
        <p:spPr>
          <a:xfrm>
            <a:off x="640080" y="1417320"/>
            <a:ext cx="7863840" cy="173736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Sistema de Recomendação de Produtos</a:t>
            </a:r>
            <a:endParaRPr lang="en-US" sz="3200" dirty="0"/>
          </a:p>
          <a:p>
            <a:pPr marL="0" indent="0" algn="ctr">
              <a:buNone/>
            </a:pPr>
            <a:r>
              <a:rPr lang="en-US" sz="3200" b="1" dirty="0">
                <a:solidFill>
                  <a:srgbClr val="FFFFFF"/>
                </a:solidFill>
                <a:latin typeface="Cambria" pitchFamily="34" charset="0"/>
                <a:ea typeface="Cambria" pitchFamily="34" charset="-122"/>
                <a:cs typeface="Cambria" pitchFamily="34" charset="-120"/>
              </a:rPr>
              <a:t>para Distribuição B2B utilizando</a:t>
            </a:r>
            <a:endParaRPr lang="en-US" sz="3200" dirty="0"/>
          </a:p>
          <a:p>
            <a:pPr marL="0" indent="0" algn="ctr">
              <a:buNone/>
            </a:pPr>
            <a:r>
              <a:rPr lang="en-US" sz="3200" b="1" dirty="0">
                <a:solidFill>
                  <a:srgbClr val="FFFFFF"/>
                </a:solidFill>
                <a:latin typeface="Cambria" pitchFamily="34" charset="0"/>
                <a:ea typeface="Cambria" pitchFamily="34" charset="-122"/>
                <a:cs typeface="Cambria" pitchFamily="34" charset="-120"/>
              </a:rPr>
              <a:t>Regras de Associação</a:t>
            </a:r>
            <a:endParaRPr lang="en-US" sz="3200" dirty="0"/>
          </a:p>
        </p:txBody>
      </p:sp>
      <p:sp>
        <p:nvSpPr>
          <p:cNvPr id="5" name="Text 3"/>
          <p:cNvSpPr/>
          <p:nvPr/>
        </p:nvSpPr>
        <p:spPr>
          <a:xfrm>
            <a:off x="640080" y="3154680"/>
            <a:ext cx="7863840" cy="365760"/>
          </a:xfrm>
          <a:prstGeom prst="rect">
            <a:avLst/>
          </a:prstGeom>
          <a:noFill/>
          <a:ln/>
        </p:spPr>
        <p:txBody>
          <a:bodyPr wrap="square" lIns="0" tIns="0" rIns="0" bIns="0" rtlCol="0" anchor="ctr"/>
          <a:lstStyle/>
          <a:p>
            <a:pPr marL="0" indent="0" algn="ctr">
              <a:buNone/>
            </a:pPr>
            <a:r>
              <a:rPr lang="en-US" sz="1600" i="1" dirty="0">
                <a:solidFill>
                  <a:srgbClr val="C9962E"/>
                </a:solidFill>
                <a:latin typeface="Calibri" pitchFamily="34" charset="0"/>
                <a:ea typeface="Calibri" pitchFamily="34" charset="-122"/>
                <a:cs typeface="Calibri" pitchFamily="34" charset="-120"/>
              </a:rPr>
              <a:t>Estudo de caso na Quasar Barber</a:t>
            </a:r>
            <a:endParaRPr lang="en-US" sz="1600" dirty="0"/>
          </a:p>
        </p:txBody>
      </p:sp>
      <p:sp>
        <p:nvSpPr>
          <p:cNvPr id="6" name="Shape 4"/>
          <p:cNvSpPr/>
          <p:nvPr/>
        </p:nvSpPr>
        <p:spPr>
          <a:xfrm>
            <a:off x="3977640" y="3703320"/>
            <a:ext cx="1188720" cy="0"/>
          </a:xfrm>
          <a:prstGeom prst="line">
            <a:avLst/>
          </a:prstGeom>
          <a:noFill/>
          <a:ln w="19050">
            <a:solidFill>
              <a:srgbClr val="C9962E"/>
            </a:solidFill>
            <a:prstDash val="solid"/>
          </a:ln>
        </p:spPr>
      </p:sp>
      <p:sp>
        <p:nvSpPr>
          <p:cNvPr id="7" name="Text 5"/>
          <p:cNvSpPr/>
          <p:nvPr/>
        </p:nvSpPr>
        <p:spPr>
          <a:xfrm>
            <a:off x="640080" y="3886200"/>
            <a:ext cx="7863840" cy="640080"/>
          </a:xfrm>
          <a:prstGeom prst="rect">
            <a:avLst/>
          </a:prstGeom>
          <a:noFill/>
          <a:ln/>
        </p:spPr>
        <p:txBody>
          <a:bodyPr wrap="square" lIns="0" tIns="0" rIns="0" bIns="0" rtlCol="0" anchor="ctr"/>
          <a:lstStyle/>
          <a:p>
            <a:pPr algn="ctr"/>
            <a:r>
              <a:rPr lang="en-US" sz="1300" b="1" dirty="0">
                <a:solidFill>
                  <a:srgbClr val="D8DEEC"/>
                </a:solidFill>
                <a:latin typeface="Calibri" pitchFamily="34" charset="0"/>
                <a:ea typeface="Calibri" pitchFamily="34" charset="-122"/>
                <a:cs typeface="Calibri" pitchFamily="34" charset="-120"/>
              </a:rPr>
              <a:t>Felipe Pereira Ferreira</a:t>
            </a:r>
          </a:p>
          <a:p>
            <a:pPr algn="ctr"/>
            <a:r>
              <a:rPr lang="en-US" sz="1300" dirty="0" err="1">
                <a:solidFill>
                  <a:srgbClr val="D8DEEC"/>
                </a:solidFill>
                <a:ea typeface="Calibri" pitchFamily="34" charset="-122"/>
                <a:cs typeface="Calibri" pitchFamily="34" charset="-120"/>
              </a:rPr>
              <a:t>Trabalho</a:t>
            </a:r>
            <a:r>
              <a:rPr lang="en-US" sz="1300" dirty="0">
                <a:solidFill>
                  <a:srgbClr val="D8DEEC"/>
                </a:solidFill>
                <a:ea typeface="Calibri" pitchFamily="34" charset="-122"/>
                <a:cs typeface="Calibri" pitchFamily="34" charset="-120"/>
              </a:rPr>
              <a:t> de </a:t>
            </a:r>
            <a:r>
              <a:rPr lang="en-US" sz="1300" dirty="0" err="1">
                <a:solidFill>
                  <a:srgbClr val="D8DEEC"/>
                </a:solidFill>
                <a:ea typeface="Calibri" pitchFamily="34" charset="-122"/>
                <a:cs typeface="Calibri" pitchFamily="34" charset="-120"/>
              </a:rPr>
              <a:t>Conclusão</a:t>
            </a:r>
            <a:r>
              <a:rPr lang="en-US" sz="1300" dirty="0">
                <a:solidFill>
                  <a:srgbClr val="D8DEEC"/>
                </a:solidFill>
                <a:ea typeface="Calibri" pitchFamily="34" charset="-122"/>
                <a:cs typeface="Calibri" pitchFamily="34" charset="-120"/>
              </a:rPr>
              <a:t> de </a:t>
            </a:r>
            <a:r>
              <a:rPr lang="en-US" sz="1300" dirty="0" err="1">
                <a:solidFill>
                  <a:srgbClr val="D8DEEC"/>
                </a:solidFill>
                <a:ea typeface="Calibri" pitchFamily="34" charset="-122"/>
                <a:cs typeface="Calibri" pitchFamily="34" charset="-120"/>
              </a:rPr>
              <a:t>Curso</a:t>
            </a:r>
            <a:r>
              <a:rPr lang="en-US" sz="1300" dirty="0">
                <a:solidFill>
                  <a:srgbClr val="D8DEEC"/>
                </a:solidFill>
                <a:ea typeface="Calibri" pitchFamily="34" charset="-122"/>
                <a:cs typeface="Calibri" pitchFamily="34" charset="-120"/>
              </a:rPr>
              <a:t> – </a:t>
            </a:r>
            <a:r>
              <a:rPr lang="en-US" sz="1300" dirty="0" err="1">
                <a:solidFill>
                  <a:srgbClr val="D8DEEC"/>
                </a:solidFill>
                <a:ea typeface="Calibri" pitchFamily="34" charset="-122"/>
                <a:cs typeface="Calibri" pitchFamily="34" charset="-120"/>
              </a:rPr>
              <a:t>Ciência</a:t>
            </a:r>
            <a:r>
              <a:rPr lang="en-US" sz="1300" dirty="0">
                <a:solidFill>
                  <a:srgbClr val="D8DEEC"/>
                </a:solidFill>
                <a:ea typeface="Calibri" pitchFamily="34" charset="-122"/>
                <a:cs typeface="Calibri" pitchFamily="34" charset="-120"/>
              </a:rPr>
              <a:t> da </a:t>
            </a:r>
            <a:r>
              <a:rPr lang="en-US" sz="1300" dirty="0" err="1">
                <a:solidFill>
                  <a:srgbClr val="D8DEEC"/>
                </a:solidFill>
                <a:ea typeface="Calibri" pitchFamily="34" charset="-122"/>
                <a:cs typeface="Calibri" pitchFamily="34" charset="-120"/>
              </a:rPr>
              <a:t>Computação</a:t>
            </a:r>
            <a:endParaRPr lang="en-US" sz="1300" dirty="0"/>
          </a:p>
          <a:p>
            <a:pPr algn="ctr"/>
            <a:r>
              <a:rPr lang="en-US" sz="1300" dirty="0" err="1">
                <a:solidFill>
                  <a:srgbClr val="D8DEEC"/>
                </a:solidFill>
                <a:latin typeface="Calibri" pitchFamily="34" charset="0"/>
                <a:ea typeface="Calibri" pitchFamily="34" charset="-122"/>
                <a:cs typeface="Calibri" pitchFamily="34" charset="-120"/>
              </a:rPr>
              <a:t>Orientador</a:t>
            </a:r>
            <a:r>
              <a:rPr lang="en-US" sz="1300" dirty="0">
                <a:solidFill>
                  <a:srgbClr val="D8DEEC"/>
                </a:solidFill>
                <a:latin typeface="Calibri" pitchFamily="34" charset="0"/>
                <a:ea typeface="Calibri" pitchFamily="34" charset="-122"/>
                <a:cs typeface="Calibri" pitchFamily="34" charset="-120"/>
              </a:rPr>
              <a:t>: Prof. François Fernandes Ribeiro Barbosa</a:t>
            </a:r>
            <a:endParaRPr lang="en-US" sz="1300" dirty="0"/>
          </a:p>
        </p:txBody>
      </p:sp>
      <p:sp>
        <p:nvSpPr>
          <p:cNvPr id="8" name="Text 6"/>
          <p:cNvSpPr/>
          <p:nvPr/>
        </p:nvSpPr>
        <p:spPr>
          <a:xfrm>
            <a:off x="640080" y="4617720"/>
            <a:ext cx="7863840" cy="274320"/>
          </a:xfrm>
          <a:prstGeom prst="rect">
            <a:avLst/>
          </a:prstGeom>
          <a:noFill/>
          <a:ln/>
        </p:spPr>
        <p:txBody>
          <a:bodyPr wrap="square" lIns="0" tIns="0" rIns="0" bIns="0" rtlCol="0" anchor="ctr"/>
          <a:lstStyle/>
          <a:p>
            <a:pPr marL="0" indent="0" algn="ctr">
              <a:buNone/>
            </a:pPr>
            <a:r>
              <a:rPr lang="en-US" sz="1100" dirty="0">
                <a:solidFill>
                  <a:srgbClr val="9AA7C4"/>
                </a:solidFill>
                <a:latin typeface="Calibri" pitchFamily="34" charset="0"/>
                <a:ea typeface="Calibri" pitchFamily="34" charset="-122"/>
                <a:cs typeface="Calibri" pitchFamily="34" charset="-120"/>
              </a:rPr>
              <a:t>Caxias – MA  •  2026</a:t>
            </a:r>
            <a:endParaRPr lang="en-US" sz="1100" dirty="0"/>
          </a:p>
        </p:txBody>
      </p:sp>
      <p:sp>
        <p:nvSpPr>
          <p:cNvPr id="9" name="Text 0">
            <a:extLst>
              <a:ext uri="{FF2B5EF4-FFF2-40B4-BE49-F238E27FC236}">
                <a16:creationId xmlns:a16="http://schemas.microsoft.com/office/drawing/2014/main" id="{42D2430E-D1EE-4EDC-8E8A-5B6E8C06D330}"/>
              </a:ext>
            </a:extLst>
          </p:cNvPr>
          <p:cNvSpPr/>
          <p:nvPr/>
        </p:nvSpPr>
        <p:spPr>
          <a:xfrm>
            <a:off x="792480" y="553329"/>
            <a:ext cx="7863840" cy="274320"/>
          </a:xfrm>
          <a:prstGeom prst="rect">
            <a:avLst/>
          </a:prstGeom>
          <a:noFill/>
          <a:ln/>
        </p:spPr>
        <p:txBody>
          <a:bodyPr wrap="square" lIns="0" tIns="0" rIns="0" bIns="0" rtlCol="0" anchor="ctr"/>
          <a:lstStyle/>
          <a:p>
            <a:pPr marL="0" indent="0" algn="ctr">
              <a:buNone/>
            </a:pPr>
            <a:r>
              <a:rPr lang="en-US" sz="1100" kern="0" spc="200" dirty="0">
                <a:solidFill>
                  <a:srgbClr val="9AA7C4"/>
                </a:solidFill>
                <a:latin typeface="Calibri" pitchFamily="34" charset="0"/>
                <a:ea typeface="Calibri" pitchFamily="34" charset="-122"/>
                <a:cs typeface="Calibri" pitchFamily="34" charset="-120"/>
              </a:rPr>
              <a:t>INSTITUTO FEDERAL DE EDUCAÇÃO, CIÊNCIA E TECNOLOGIA— CAMPUS CAXIAS</a:t>
            </a:r>
            <a:endParaRPr lang="en-US" sz="1100" dirty="0"/>
          </a:p>
        </p:txBody>
      </p:sp>
      <p:sp>
        <p:nvSpPr>
          <p:cNvPr id="11" name="Text 1">
            <a:extLst>
              <a:ext uri="{FF2B5EF4-FFF2-40B4-BE49-F238E27FC236}">
                <a16:creationId xmlns:a16="http://schemas.microsoft.com/office/drawing/2014/main" id="{D2767696-D007-440E-B79E-0CC03B0F00F5}"/>
              </a:ext>
            </a:extLst>
          </p:cNvPr>
          <p:cNvSpPr/>
          <p:nvPr/>
        </p:nvSpPr>
        <p:spPr>
          <a:xfrm>
            <a:off x="783688" y="762584"/>
            <a:ext cx="7863840" cy="274320"/>
          </a:xfrm>
          <a:prstGeom prst="rect">
            <a:avLst/>
          </a:prstGeom>
          <a:noFill/>
          <a:ln/>
        </p:spPr>
        <p:txBody>
          <a:bodyPr wrap="square" lIns="0" tIns="0" rIns="0" bIns="0" rtlCol="0" anchor="ctr"/>
          <a:lstStyle/>
          <a:p>
            <a:pPr marL="0" indent="0" algn="ctr">
              <a:buNone/>
            </a:pPr>
            <a:r>
              <a:rPr lang="en-US" sz="1100" kern="0" spc="200" dirty="0">
                <a:solidFill>
                  <a:srgbClr val="9AA7C4"/>
                </a:solidFill>
                <a:latin typeface="Calibri" pitchFamily="34" charset="0"/>
                <a:ea typeface="Calibri" pitchFamily="34" charset="-122"/>
                <a:cs typeface="Calibri" pitchFamily="34" charset="-120"/>
              </a:rPr>
              <a:t>CURSO DE BACHARELADO EM CIÊNCIA DA COMPUTAÇÃO</a:t>
            </a:r>
            <a:endParaRPr lang="en-US" sz="1100" dirty="0"/>
          </a:p>
        </p:txBody>
      </p:sp>
      <p:pic>
        <p:nvPicPr>
          <p:cNvPr id="12" name="Imagem 11">
            <a:extLst>
              <a:ext uri="{FF2B5EF4-FFF2-40B4-BE49-F238E27FC236}">
                <a16:creationId xmlns:a16="http://schemas.microsoft.com/office/drawing/2014/main" id="{CD6AE789-BB5A-43CB-84A0-00F370B2BFE9}"/>
              </a:ext>
            </a:extLst>
          </p:cNvPr>
          <p:cNvPicPr>
            <a:picLocks noChangeAspect="1"/>
          </p:cNvPicPr>
          <p:nvPr/>
        </p:nvPicPr>
        <p:blipFill>
          <a:blip r:embed="rId3"/>
          <a:stretch>
            <a:fillRect/>
          </a:stretch>
        </p:blipFill>
        <p:spPr>
          <a:xfrm>
            <a:off x="194513" y="160020"/>
            <a:ext cx="1472578" cy="34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APRESENTAÇÃO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Roteiro</a:t>
            </a:r>
            <a:endParaRPr lang="en-US" sz="3000" dirty="0"/>
          </a:p>
        </p:txBody>
      </p:sp>
      <p:sp>
        <p:nvSpPr>
          <p:cNvPr id="4" name="Text 2"/>
          <p:cNvSpPr/>
          <p:nvPr/>
        </p:nvSpPr>
        <p:spPr>
          <a:xfrm>
            <a:off x="502920" y="480341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417320"/>
            <a:ext cx="3977640" cy="1024128"/>
          </a:xfrm>
          <a:prstGeom prst="roundRect">
            <a:avLst>
              <a:gd name="adj" fmla="val 6250"/>
            </a:avLst>
          </a:prstGeom>
          <a:solidFill>
            <a:srgbClr val="F5F7FB"/>
          </a:solidFill>
          <a:ln/>
          <a:effectLst>
            <a:outerShdw blurRad="88900" dist="25400" dir="2700000" algn="bl" rotWithShape="0">
              <a:srgbClr val="000000">
                <a:alpha val="14000"/>
              </a:srgbClr>
            </a:outerShdw>
          </a:effectLst>
        </p:spPr>
      </p:sp>
      <p:sp>
        <p:nvSpPr>
          <p:cNvPr id="6" name="Shape 4"/>
          <p:cNvSpPr/>
          <p:nvPr/>
        </p:nvSpPr>
        <p:spPr>
          <a:xfrm>
            <a:off x="685800" y="1700784"/>
            <a:ext cx="457200" cy="457200"/>
          </a:xfrm>
          <a:prstGeom prst="ellipse">
            <a:avLst/>
          </a:prstGeom>
          <a:solidFill>
            <a:srgbClr val="1B2A4A"/>
          </a:solidFill>
          <a:ln/>
        </p:spPr>
      </p:sp>
      <p:sp>
        <p:nvSpPr>
          <p:cNvPr id="7" name="Text 5"/>
          <p:cNvSpPr/>
          <p:nvPr/>
        </p:nvSpPr>
        <p:spPr>
          <a:xfrm>
            <a:off x="685800" y="170078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07592" y="1563624"/>
            <a:ext cx="3017520" cy="29260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Contexto e problema</a:t>
            </a:r>
            <a:endParaRPr lang="en-US" sz="1350" dirty="0"/>
          </a:p>
        </p:txBody>
      </p:sp>
      <p:sp>
        <p:nvSpPr>
          <p:cNvPr id="9" name="Text 7"/>
          <p:cNvSpPr/>
          <p:nvPr/>
        </p:nvSpPr>
        <p:spPr>
          <a:xfrm>
            <a:off x="1307592" y="1874520"/>
            <a:ext cx="3017520" cy="475488"/>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Por que recomendar é difícil no B2B pequeno</a:t>
            </a:r>
            <a:endParaRPr lang="en-US" sz="1100" dirty="0"/>
          </a:p>
        </p:txBody>
      </p:sp>
      <p:sp>
        <p:nvSpPr>
          <p:cNvPr id="10" name="Shape 8"/>
          <p:cNvSpPr/>
          <p:nvPr/>
        </p:nvSpPr>
        <p:spPr>
          <a:xfrm>
            <a:off x="4709160" y="1417320"/>
            <a:ext cx="3977640" cy="1024128"/>
          </a:xfrm>
          <a:prstGeom prst="roundRect">
            <a:avLst>
              <a:gd name="adj" fmla="val 6250"/>
            </a:avLst>
          </a:prstGeom>
          <a:solidFill>
            <a:srgbClr val="F5F7FB"/>
          </a:solidFill>
          <a:ln/>
          <a:effectLst>
            <a:outerShdw blurRad="88900" dist="25400" dir="2700000" algn="bl" rotWithShape="0">
              <a:srgbClr val="000000">
                <a:alpha val="14000"/>
              </a:srgbClr>
            </a:outerShdw>
          </a:effectLst>
        </p:spPr>
      </p:sp>
      <p:sp>
        <p:nvSpPr>
          <p:cNvPr id="11" name="Shape 9"/>
          <p:cNvSpPr/>
          <p:nvPr/>
        </p:nvSpPr>
        <p:spPr>
          <a:xfrm>
            <a:off x="4892040" y="1700784"/>
            <a:ext cx="457200" cy="457200"/>
          </a:xfrm>
          <a:prstGeom prst="ellipse">
            <a:avLst/>
          </a:prstGeom>
          <a:solidFill>
            <a:srgbClr val="1B2A4A"/>
          </a:solidFill>
          <a:ln/>
        </p:spPr>
      </p:sp>
      <p:sp>
        <p:nvSpPr>
          <p:cNvPr id="12" name="Text 10"/>
          <p:cNvSpPr/>
          <p:nvPr/>
        </p:nvSpPr>
        <p:spPr>
          <a:xfrm>
            <a:off x="4892040" y="170078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5513832" y="1563624"/>
            <a:ext cx="3017520" cy="29260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Pergunta, hipótese e objetivos</a:t>
            </a:r>
            <a:endParaRPr lang="en-US" sz="1350" dirty="0"/>
          </a:p>
        </p:txBody>
      </p:sp>
      <p:sp>
        <p:nvSpPr>
          <p:cNvPr id="14" name="Text 12"/>
          <p:cNvSpPr/>
          <p:nvPr/>
        </p:nvSpPr>
        <p:spPr>
          <a:xfrm>
            <a:off x="5513832" y="1874520"/>
            <a:ext cx="3017520" cy="475488"/>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O que o trabalho se propõe a responder</a:t>
            </a:r>
            <a:endParaRPr lang="en-US" sz="1100" dirty="0"/>
          </a:p>
        </p:txBody>
      </p:sp>
      <p:sp>
        <p:nvSpPr>
          <p:cNvPr id="15" name="Shape 13"/>
          <p:cNvSpPr/>
          <p:nvPr/>
        </p:nvSpPr>
        <p:spPr>
          <a:xfrm>
            <a:off x="502920" y="2606040"/>
            <a:ext cx="3977640" cy="1024128"/>
          </a:xfrm>
          <a:prstGeom prst="roundRect">
            <a:avLst>
              <a:gd name="adj" fmla="val 6250"/>
            </a:avLst>
          </a:prstGeom>
          <a:solidFill>
            <a:srgbClr val="F5F7FB"/>
          </a:solidFill>
          <a:ln/>
          <a:effectLst>
            <a:outerShdw blurRad="88900" dist="25400" dir="2700000" algn="bl" rotWithShape="0">
              <a:srgbClr val="000000">
                <a:alpha val="14000"/>
              </a:srgbClr>
            </a:outerShdw>
          </a:effectLst>
        </p:spPr>
      </p:sp>
      <p:sp>
        <p:nvSpPr>
          <p:cNvPr id="16" name="Shape 14"/>
          <p:cNvSpPr/>
          <p:nvPr/>
        </p:nvSpPr>
        <p:spPr>
          <a:xfrm>
            <a:off x="685800" y="2889504"/>
            <a:ext cx="457200" cy="457200"/>
          </a:xfrm>
          <a:prstGeom prst="ellipse">
            <a:avLst/>
          </a:prstGeom>
          <a:solidFill>
            <a:srgbClr val="1B2A4A"/>
          </a:solidFill>
          <a:ln/>
        </p:spPr>
      </p:sp>
      <p:sp>
        <p:nvSpPr>
          <p:cNvPr id="17" name="Text 15"/>
          <p:cNvSpPr/>
          <p:nvPr/>
        </p:nvSpPr>
        <p:spPr>
          <a:xfrm>
            <a:off x="685800" y="28895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307592" y="2752344"/>
            <a:ext cx="3017520" cy="29260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Fundamentação e método</a:t>
            </a:r>
            <a:endParaRPr lang="en-US" sz="1350" dirty="0"/>
          </a:p>
        </p:txBody>
      </p:sp>
      <p:sp>
        <p:nvSpPr>
          <p:cNvPr id="19" name="Text 17"/>
          <p:cNvSpPr/>
          <p:nvPr/>
        </p:nvSpPr>
        <p:spPr>
          <a:xfrm>
            <a:off x="1307592" y="3063240"/>
            <a:ext cx="3017520" cy="475488"/>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Regras de associação, DSR e protocolo LOOCV</a:t>
            </a:r>
            <a:endParaRPr lang="en-US" sz="1100" dirty="0"/>
          </a:p>
        </p:txBody>
      </p:sp>
      <p:sp>
        <p:nvSpPr>
          <p:cNvPr id="20" name="Shape 18"/>
          <p:cNvSpPr/>
          <p:nvPr/>
        </p:nvSpPr>
        <p:spPr>
          <a:xfrm>
            <a:off x="4709160" y="2606040"/>
            <a:ext cx="3977640" cy="1024128"/>
          </a:xfrm>
          <a:prstGeom prst="roundRect">
            <a:avLst>
              <a:gd name="adj" fmla="val 6250"/>
            </a:avLst>
          </a:prstGeom>
          <a:solidFill>
            <a:srgbClr val="F5F7FB"/>
          </a:solidFill>
          <a:ln/>
          <a:effectLst>
            <a:outerShdw blurRad="88900" dist="25400" dir="2700000" algn="bl" rotWithShape="0">
              <a:srgbClr val="000000">
                <a:alpha val="14000"/>
              </a:srgbClr>
            </a:outerShdw>
          </a:effectLst>
        </p:spPr>
      </p:sp>
      <p:sp>
        <p:nvSpPr>
          <p:cNvPr id="21" name="Shape 19"/>
          <p:cNvSpPr/>
          <p:nvPr/>
        </p:nvSpPr>
        <p:spPr>
          <a:xfrm>
            <a:off x="4892040" y="2889504"/>
            <a:ext cx="457200" cy="457200"/>
          </a:xfrm>
          <a:prstGeom prst="ellipse">
            <a:avLst/>
          </a:prstGeom>
          <a:solidFill>
            <a:srgbClr val="1B2A4A"/>
          </a:solidFill>
          <a:ln/>
        </p:spPr>
      </p:sp>
      <p:sp>
        <p:nvSpPr>
          <p:cNvPr id="22" name="Text 20"/>
          <p:cNvSpPr/>
          <p:nvPr/>
        </p:nvSpPr>
        <p:spPr>
          <a:xfrm>
            <a:off x="4892040" y="28895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5513832" y="2752344"/>
            <a:ext cx="3017520" cy="29260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Sistema desenvolvido</a:t>
            </a:r>
            <a:endParaRPr lang="en-US" sz="1350" dirty="0"/>
          </a:p>
        </p:txBody>
      </p:sp>
      <p:sp>
        <p:nvSpPr>
          <p:cNvPr id="24" name="Text 22"/>
          <p:cNvSpPr/>
          <p:nvPr/>
        </p:nvSpPr>
        <p:spPr>
          <a:xfrm>
            <a:off x="5513832" y="3063240"/>
            <a:ext cx="3017520" cy="475488"/>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Arquitetura, algoritmo e interface</a:t>
            </a:r>
            <a:endParaRPr lang="en-US" sz="1100" dirty="0"/>
          </a:p>
        </p:txBody>
      </p:sp>
      <p:sp>
        <p:nvSpPr>
          <p:cNvPr id="25" name="Shape 23"/>
          <p:cNvSpPr/>
          <p:nvPr/>
        </p:nvSpPr>
        <p:spPr>
          <a:xfrm>
            <a:off x="502920" y="3794760"/>
            <a:ext cx="3977640" cy="1024128"/>
          </a:xfrm>
          <a:prstGeom prst="roundRect">
            <a:avLst>
              <a:gd name="adj" fmla="val 6250"/>
            </a:avLst>
          </a:prstGeom>
          <a:solidFill>
            <a:srgbClr val="F5F7FB"/>
          </a:solidFill>
          <a:ln/>
          <a:effectLst>
            <a:outerShdw blurRad="88900" dist="25400" dir="2700000" algn="bl" rotWithShape="0">
              <a:srgbClr val="000000">
                <a:alpha val="14000"/>
              </a:srgbClr>
            </a:outerShdw>
          </a:effectLst>
        </p:spPr>
      </p:sp>
      <p:sp>
        <p:nvSpPr>
          <p:cNvPr id="26" name="Shape 24"/>
          <p:cNvSpPr/>
          <p:nvPr/>
        </p:nvSpPr>
        <p:spPr>
          <a:xfrm>
            <a:off x="685800" y="4078224"/>
            <a:ext cx="457200" cy="457200"/>
          </a:xfrm>
          <a:prstGeom prst="ellipse">
            <a:avLst/>
          </a:prstGeom>
          <a:solidFill>
            <a:srgbClr val="1B2A4A"/>
          </a:solidFill>
          <a:ln/>
        </p:spPr>
      </p:sp>
      <p:sp>
        <p:nvSpPr>
          <p:cNvPr id="27" name="Text 25"/>
          <p:cNvSpPr/>
          <p:nvPr/>
        </p:nvSpPr>
        <p:spPr>
          <a:xfrm>
            <a:off x="685800" y="407822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307592" y="3941064"/>
            <a:ext cx="3017520" cy="29260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Resultados e discussão</a:t>
            </a:r>
            <a:endParaRPr lang="en-US" sz="1350" dirty="0"/>
          </a:p>
        </p:txBody>
      </p:sp>
      <p:sp>
        <p:nvSpPr>
          <p:cNvPr id="29" name="Text 27"/>
          <p:cNvSpPr/>
          <p:nvPr/>
        </p:nvSpPr>
        <p:spPr>
          <a:xfrm>
            <a:off x="1307592" y="4251960"/>
            <a:ext cx="3017520" cy="475488"/>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Regras descobertas, métricas e limitações</a:t>
            </a:r>
            <a:endParaRPr lang="en-US" sz="1100" dirty="0"/>
          </a:p>
        </p:txBody>
      </p:sp>
      <p:sp>
        <p:nvSpPr>
          <p:cNvPr id="30" name="Shape 28"/>
          <p:cNvSpPr/>
          <p:nvPr/>
        </p:nvSpPr>
        <p:spPr>
          <a:xfrm>
            <a:off x="4709160" y="3794760"/>
            <a:ext cx="3977640" cy="1024128"/>
          </a:xfrm>
          <a:prstGeom prst="roundRect">
            <a:avLst>
              <a:gd name="adj" fmla="val 6250"/>
            </a:avLst>
          </a:prstGeom>
          <a:solidFill>
            <a:srgbClr val="F5F7FB"/>
          </a:solidFill>
          <a:ln/>
          <a:effectLst>
            <a:outerShdw blurRad="88900" dist="25400" dir="2700000" algn="bl" rotWithShape="0">
              <a:srgbClr val="000000">
                <a:alpha val="14000"/>
              </a:srgbClr>
            </a:outerShdw>
          </a:effectLst>
        </p:spPr>
      </p:sp>
      <p:sp>
        <p:nvSpPr>
          <p:cNvPr id="31" name="Shape 29"/>
          <p:cNvSpPr/>
          <p:nvPr/>
        </p:nvSpPr>
        <p:spPr>
          <a:xfrm>
            <a:off x="4892040" y="4078224"/>
            <a:ext cx="457200" cy="457200"/>
          </a:xfrm>
          <a:prstGeom prst="ellipse">
            <a:avLst/>
          </a:prstGeom>
          <a:solidFill>
            <a:srgbClr val="1B2A4A"/>
          </a:solidFill>
          <a:ln/>
        </p:spPr>
      </p:sp>
      <p:sp>
        <p:nvSpPr>
          <p:cNvPr id="32" name="Text 30"/>
          <p:cNvSpPr/>
          <p:nvPr/>
        </p:nvSpPr>
        <p:spPr>
          <a:xfrm>
            <a:off x="4892040" y="407822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1"/>
          <p:cNvSpPr/>
          <p:nvPr/>
        </p:nvSpPr>
        <p:spPr>
          <a:xfrm>
            <a:off x="5513832" y="3941064"/>
            <a:ext cx="3017520" cy="29260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Conclusão</a:t>
            </a:r>
            <a:endParaRPr lang="en-US" sz="1350" dirty="0"/>
          </a:p>
        </p:txBody>
      </p:sp>
      <p:sp>
        <p:nvSpPr>
          <p:cNvPr id="34" name="Text 32"/>
          <p:cNvSpPr/>
          <p:nvPr/>
        </p:nvSpPr>
        <p:spPr>
          <a:xfrm>
            <a:off x="5513832" y="4251960"/>
            <a:ext cx="3017520" cy="475488"/>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Resposta à pergunta e trabalhos futuros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INTRODUÇÃO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Contexto e problema de pesquisa</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463040"/>
            <a:ext cx="420624" cy="420624"/>
          </a:xfrm>
          <a:prstGeom prst="ellipse">
            <a:avLst/>
          </a:prstGeom>
          <a:solidFill>
            <a:srgbClr val="F5EBD3"/>
          </a:solidFill>
          <a:ln/>
        </p:spPr>
      </p:sp>
      <p:pic>
        <p:nvPicPr>
          <p:cNvPr id="6" name="Image 0" descr="preencoded.png"/>
          <p:cNvPicPr>
            <a:picLocks noChangeAspect="1"/>
          </p:cNvPicPr>
          <p:nvPr/>
        </p:nvPicPr>
        <p:blipFill>
          <a:blip r:embed="rId3"/>
          <a:stretch>
            <a:fillRect/>
          </a:stretch>
        </p:blipFill>
        <p:spPr>
          <a:xfrm>
            <a:off x="608076" y="1568196"/>
            <a:ext cx="210312" cy="210312"/>
          </a:xfrm>
          <a:prstGeom prst="rect">
            <a:avLst/>
          </a:prstGeom>
        </p:spPr>
      </p:pic>
      <p:sp>
        <p:nvSpPr>
          <p:cNvPr id="7" name="Text 4"/>
          <p:cNvSpPr/>
          <p:nvPr/>
        </p:nvSpPr>
        <p:spPr>
          <a:xfrm>
            <a:off x="1069848" y="1435608"/>
            <a:ext cx="354787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Cenário: distribuidora B2B pequena</a:t>
            </a:r>
            <a:endParaRPr lang="en-US" sz="1400" dirty="0"/>
          </a:p>
        </p:txBody>
      </p:sp>
      <p:sp>
        <p:nvSpPr>
          <p:cNvPr id="8" name="Text 5"/>
          <p:cNvSpPr/>
          <p:nvPr/>
        </p:nvSpPr>
        <p:spPr>
          <a:xfrm>
            <a:off x="1069848" y="1709928"/>
            <a:ext cx="3547872" cy="73152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Quasar Barber (Codó–MA): atende barbearias, poucos clientes, sem avaliações de produtos e baixo volume de transações.</a:t>
            </a:r>
            <a:endParaRPr lang="en-US" sz="1200" dirty="0"/>
          </a:p>
        </p:txBody>
      </p:sp>
      <p:sp>
        <p:nvSpPr>
          <p:cNvPr id="9" name="Shape 6"/>
          <p:cNvSpPr/>
          <p:nvPr/>
        </p:nvSpPr>
        <p:spPr>
          <a:xfrm>
            <a:off x="502920" y="2514600"/>
            <a:ext cx="420624" cy="420624"/>
          </a:xfrm>
          <a:prstGeom prst="ellipse">
            <a:avLst/>
          </a:prstGeom>
          <a:solidFill>
            <a:srgbClr val="F5EBD3"/>
          </a:solidFill>
          <a:ln/>
        </p:spPr>
      </p:sp>
      <p:pic>
        <p:nvPicPr>
          <p:cNvPr id="10" name="Image 1" descr="preencoded.png"/>
          <p:cNvPicPr>
            <a:picLocks noChangeAspect="1"/>
          </p:cNvPicPr>
          <p:nvPr/>
        </p:nvPicPr>
        <p:blipFill>
          <a:blip r:embed="rId4"/>
          <a:stretch>
            <a:fillRect/>
          </a:stretch>
        </p:blipFill>
        <p:spPr>
          <a:xfrm>
            <a:off x="608076" y="2619756"/>
            <a:ext cx="210312" cy="210312"/>
          </a:xfrm>
          <a:prstGeom prst="rect">
            <a:avLst/>
          </a:prstGeom>
        </p:spPr>
      </p:pic>
      <p:sp>
        <p:nvSpPr>
          <p:cNvPr id="11" name="Text 7"/>
          <p:cNvSpPr/>
          <p:nvPr/>
        </p:nvSpPr>
        <p:spPr>
          <a:xfrm>
            <a:off x="1069848" y="2487168"/>
            <a:ext cx="354787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Decisão hoje é intuitiva</a:t>
            </a:r>
            <a:endParaRPr lang="en-US" sz="1400" dirty="0"/>
          </a:p>
        </p:txBody>
      </p:sp>
      <p:sp>
        <p:nvSpPr>
          <p:cNvPr id="12" name="Text 8"/>
          <p:cNvSpPr/>
          <p:nvPr/>
        </p:nvSpPr>
        <p:spPr>
          <a:xfrm>
            <a:off x="1069848" y="2761488"/>
            <a:ext cx="3547872" cy="73152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O cross-sell depende da experiência do vendedor: conhecimento valioso, mas implícito — não escala nem pode ser auditado.</a:t>
            </a:r>
            <a:endParaRPr lang="en-US" sz="1200" dirty="0"/>
          </a:p>
        </p:txBody>
      </p:sp>
      <p:sp>
        <p:nvSpPr>
          <p:cNvPr id="13" name="Shape 9"/>
          <p:cNvSpPr/>
          <p:nvPr/>
        </p:nvSpPr>
        <p:spPr>
          <a:xfrm>
            <a:off x="502920" y="3566160"/>
            <a:ext cx="420624" cy="420624"/>
          </a:xfrm>
          <a:prstGeom prst="ellipse">
            <a:avLst/>
          </a:prstGeom>
          <a:solidFill>
            <a:srgbClr val="F5EBD3"/>
          </a:solidFill>
          <a:ln/>
        </p:spPr>
      </p:sp>
      <p:pic>
        <p:nvPicPr>
          <p:cNvPr id="14" name="Image 2" descr="preencoded.png"/>
          <p:cNvPicPr>
            <a:picLocks noChangeAspect="1"/>
          </p:cNvPicPr>
          <p:nvPr/>
        </p:nvPicPr>
        <p:blipFill>
          <a:blip r:embed="rId5"/>
          <a:stretch>
            <a:fillRect/>
          </a:stretch>
        </p:blipFill>
        <p:spPr>
          <a:xfrm>
            <a:off x="608076" y="3671316"/>
            <a:ext cx="210312" cy="210312"/>
          </a:xfrm>
          <a:prstGeom prst="rect">
            <a:avLst/>
          </a:prstGeom>
        </p:spPr>
      </p:pic>
      <p:sp>
        <p:nvSpPr>
          <p:cNvPr id="15" name="Text 10"/>
          <p:cNvSpPr/>
          <p:nvPr/>
        </p:nvSpPr>
        <p:spPr>
          <a:xfrm>
            <a:off x="1069848" y="3538728"/>
            <a:ext cx="354787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Filtragem colaborativa inviável</a:t>
            </a:r>
            <a:endParaRPr lang="en-US" sz="1400" dirty="0"/>
          </a:p>
        </p:txBody>
      </p:sp>
      <p:sp>
        <p:nvSpPr>
          <p:cNvPr id="16" name="Text 11"/>
          <p:cNvSpPr/>
          <p:nvPr/>
        </p:nvSpPr>
        <p:spPr>
          <a:xfrm>
            <a:off x="1069848" y="3813048"/>
            <a:ext cx="3547872" cy="73152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Matriz usuário-item extremamente esparsa; o cold start vira a regra, não a exceção (Sarwar et al., 2001).</a:t>
            </a:r>
            <a:endParaRPr lang="en-US" sz="1200" dirty="0"/>
          </a:p>
        </p:txBody>
      </p:sp>
      <p:sp>
        <p:nvSpPr>
          <p:cNvPr id="17" name="Shape 12"/>
          <p:cNvSpPr/>
          <p:nvPr/>
        </p:nvSpPr>
        <p:spPr>
          <a:xfrm>
            <a:off x="4983480" y="1463040"/>
            <a:ext cx="3657600" cy="3063240"/>
          </a:xfrm>
          <a:prstGeom prst="roundRect">
            <a:avLst>
              <a:gd name="adj" fmla="val 2388"/>
            </a:avLst>
          </a:prstGeom>
          <a:solidFill>
            <a:srgbClr val="10182B"/>
          </a:solidFill>
          <a:ln/>
          <a:effectLst>
            <a:outerShdw blurRad="88900" dist="25400" dir="2700000" algn="bl" rotWithShape="0">
              <a:srgbClr val="000000">
                <a:alpha val="14000"/>
              </a:srgbClr>
            </a:outerShdw>
          </a:effectLst>
        </p:spPr>
      </p:sp>
      <p:sp>
        <p:nvSpPr>
          <p:cNvPr id="18" name="Text 13"/>
          <p:cNvSpPr/>
          <p:nvPr/>
        </p:nvSpPr>
        <p:spPr>
          <a:xfrm>
            <a:off x="5257800" y="1719072"/>
            <a:ext cx="31089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A LACUNA</a:t>
            </a:r>
            <a:endParaRPr lang="en-US" sz="1100" dirty="0"/>
          </a:p>
        </p:txBody>
      </p:sp>
      <p:sp>
        <p:nvSpPr>
          <p:cNvPr id="19" name="Text 14"/>
          <p:cNvSpPr/>
          <p:nvPr/>
        </p:nvSpPr>
        <p:spPr>
          <a:xfrm>
            <a:off x="5257800" y="2057400"/>
            <a:ext cx="3108960" cy="777240"/>
          </a:xfrm>
          <a:prstGeom prst="rect">
            <a:avLst/>
          </a:prstGeom>
          <a:noFill/>
          <a:ln/>
        </p:spPr>
        <p:txBody>
          <a:bodyPr wrap="square" lIns="0" tIns="0" rIns="0" bIns="0" rtlCol="0" anchor="ctr"/>
          <a:lstStyle/>
          <a:p>
            <a:pPr marL="0" indent="0">
              <a:buNone/>
            </a:pPr>
            <a:r>
              <a:rPr lang="en-US" sz="1300" dirty="0">
                <a:solidFill>
                  <a:srgbClr val="E8EBF3"/>
                </a:solidFill>
                <a:latin typeface="Calibri" pitchFamily="34" charset="0"/>
                <a:ea typeface="Calibri" pitchFamily="34" charset="-122"/>
                <a:cs typeface="Calibri" pitchFamily="34" charset="-120"/>
              </a:rPr>
              <a:t>A literatura de recomendação foca no B2C de alto volume (Amazon, Netflix).</a:t>
            </a:r>
            <a:endParaRPr lang="en-US" sz="1300" dirty="0"/>
          </a:p>
        </p:txBody>
      </p:sp>
      <p:sp>
        <p:nvSpPr>
          <p:cNvPr id="20" name="Text 15"/>
          <p:cNvSpPr/>
          <p:nvPr/>
        </p:nvSpPr>
        <p:spPr>
          <a:xfrm>
            <a:off x="5257800" y="3232053"/>
            <a:ext cx="3108960" cy="822960"/>
          </a:xfrm>
          <a:prstGeom prst="rect">
            <a:avLst/>
          </a:prstGeom>
          <a:noFill/>
          <a:ln/>
        </p:spPr>
        <p:txBody>
          <a:bodyPr wrap="square" lIns="0" tIns="0" rIns="0" bIns="0" rtlCol="0" anchor="ctr"/>
          <a:lstStyle/>
          <a:p>
            <a:pPr marL="0" indent="0">
              <a:buNone/>
            </a:pPr>
            <a:r>
              <a:rPr lang="en-US" sz="1300" dirty="0">
                <a:solidFill>
                  <a:srgbClr val="E8EBF3"/>
                </a:solidFill>
                <a:latin typeface="Calibri" pitchFamily="34" charset="0"/>
                <a:ea typeface="Calibri" pitchFamily="34" charset="-122"/>
                <a:cs typeface="Calibri" pitchFamily="34" charset="-120"/>
              </a:rPr>
              <a:t>Pouco se sabe sobre o B2B de baixo volume — dezenas de transações, não milhões.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INTRODUÇÃO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Pergunta de pesquisa e hipóteses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371600"/>
            <a:ext cx="8138160" cy="1051560"/>
          </a:xfrm>
          <a:prstGeom prst="roundRect">
            <a:avLst>
              <a:gd name="adj" fmla="val 6957"/>
            </a:avLst>
          </a:prstGeom>
          <a:solidFill>
            <a:srgbClr val="F5EBD3"/>
          </a:solidFill>
          <a:ln/>
          <a:effectLst>
            <a:outerShdw blurRad="88900" dist="25400" dir="2700000" algn="bl" rotWithShape="0">
              <a:srgbClr val="000000">
                <a:alpha val="14000"/>
              </a:srgbClr>
            </a:outerShdw>
          </a:effectLst>
        </p:spPr>
      </p:sp>
      <p:pic>
        <p:nvPicPr>
          <p:cNvPr id="6" name="Image 0" descr="preencoded.png"/>
          <p:cNvPicPr>
            <a:picLocks noChangeAspect="1"/>
          </p:cNvPicPr>
          <p:nvPr/>
        </p:nvPicPr>
        <p:blipFill>
          <a:blip r:embed="rId3"/>
          <a:stretch>
            <a:fillRect/>
          </a:stretch>
        </p:blipFill>
        <p:spPr>
          <a:xfrm>
            <a:off x="777240" y="1673352"/>
            <a:ext cx="411480" cy="411480"/>
          </a:xfrm>
          <a:prstGeom prst="rect">
            <a:avLst/>
          </a:prstGeom>
        </p:spPr>
      </p:pic>
      <p:sp>
        <p:nvSpPr>
          <p:cNvPr id="7" name="Text 4"/>
          <p:cNvSpPr/>
          <p:nvPr/>
        </p:nvSpPr>
        <p:spPr>
          <a:xfrm>
            <a:off x="1371600" y="1490472"/>
            <a:ext cx="7086600" cy="841248"/>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É possível gerar recomendações úteis e estatisticamente relevantes para uma distribuidora B2B de pequeno porte usando apenas regras de associação do histórico transacional, mesmo com volume reduzido?</a:t>
            </a:r>
            <a:endParaRPr lang="en-US" sz="1350" dirty="0"/>
          </a:p>
        </p:txBody>
      </p:sp>
      <p:sp>
        <p:nvSpPr>
          <p:cNvPr id="8" name="Shape 5"/>
          <p:cNvSpPr/>
          <p:nvPr/>
        </p:nvSpPr>
        <p:spPr>
          <a:xfrm>
            <a:off x="502920" y="2697480"/>
            <a:ext cx="3950208" cy="1828800"/>
          </a:xfrm>
          <a:prstGeom prst="roundRect">
            <a:avLst>
              <a:gd name="adj" fmla="val 3500"/>
            </a:avLst>
          </a:prstGeom>
          <a:solidFill>
            <a:srgbClr val="F5F7FB"/>
          </a:solidFill>
          <a:ln/>
          <a:effectLst>
            <a:outerShdw blurRad="88900" dist="25400" dir="2700000" algn="bl" rotWithShape="0">
              <a:srgbClr val="000000">
                <a:alpha val="14000"/>
              </a:srgbClr>
            </a:outerShdw>
          </a:effectLst>
        </p:spPr>
      </p:sp>
      <p:sp>
        <p:nvSpPr>
          <p:cNvPr id="9" name="Text 6"/>
          <p:cNvSpPr/>
          <p:nvPr/>
        </p:nvSpPr>
        <p:spPr>
          <a:xfrm>
            <a:off x="777240" y="2880360"/>
            <a:ext cx="914400" cy="320040"/>
          </a:xfrm>
          <a:prstGeom prst="rect">
            <a:avLst/>
          </a:prstGeom>
          <a:noFill/>
          <a:ln/>
        </p:spPr>
        <p:txBody>
          <a:bodyPr wrap="square" lIns="0" tIns="0" rIns="0" bIns="0" rtlCol="0" anchor="ctr"/>
          <a:lstStyle/>
          <a:p>
            <a:pPr marL="0" indent="0">
              <a:buNone/>
            </a:pPr>
            <a:r>
              <a:rPr lang="en-US" sz="1800" b="1" dirty="0">
                <a:solidFill>
                  <a:srgbClr val="2E7D5B"/>
                </a:solidFill>
                <a:latin typeface="Cambria" pitchFamily="34" charset="0"/>
                <a:ea typeface="Cambria" pitchFamily="34" charset="-122"/>
                <a:cs typeface="Cambria" pitchFamily="34" charset="-120"/>
              </a:rPr>
              <a:t>H1</a:t>
            </a:r>
            <a:endParaRPr lang="en-US" sz="1800" dirty="0"/>
          </a:p>
        </p:txBody>
      </p:sp>
      <p:sp>
        <p:nvSpPr>
          <p:cNvPr id="10" name="Text 7"/>
          <p:cNvSpPr/>
          <p:nvPr/>
        </p:nvSpPr>
        <p:spPr>
          <a:xfrm>
            <a:off x="777240" y="3200400"/>
            <a:ext cx="3401568" cy="12344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Regras com confiança ≥ 0,30 e suporte ≥ 0,02, ranqueadas por lift, produzem cross-sell coerente com o conhecimento de domínio, mesmo em dados reduzidos.</a:t>
            </a:r>
            <a:endParaRPr lang="en-US" sz="1200" dirty="0"/>
          </a:p>
        </p:txBody>
      </p:sp>
      <p:sp>
        <p:nvSpPr>
          <p:cNvPr id="11" name="Shape 8"/>
          <p:cNvSpPr/>
          <p:nvPr/>
        </p:nvSpPr>
        <p:spPr>
          <a:xfrm>
            <a:off x="4690872" y="2697480"/>
            <a:ext cx="3950208" cy="1828800"/>
          </a:xfrm>
          <a:prstGeom prst="roundRect">
            <a:avLst>
              <a:gd name="adj" fmla="val 3500"/>
            </a:avLst>
          </a:prstGeom>
          <a:solidFill>
            <a:srgbClr val="F5F7FB"/>
          </a:solidFill>
          <a:ln/>
          <a:effectLst>
            <a:outerShdw blurRad="88900" dist="25400" dir="2700000" algn="bl" rotWithShape="0">
              <a:srgbClr val="000000">
                <a:alpha val="14000"/>
              </a:srgbClr>
            </a:outerShdw>
          </a:effectLst>
        </p:spPr>
      </p:sp>
      <p:sp>
        <p:nvSpPr>
          <p:cNvPr id="12" name="Text 9"/>
          <p:cNvSpPr/>
          <p:nvPr/>
        </p:nvSpPr>
        <p:spPr>
          <a:xfrm>
            <a:off x="4965192" y="2880360"/>
            <a:ext cx="914400" cy="320040"/>
          </a:xfrm>
          <a:prstGeom prst="rect">
            <a:avLst/>
          </a:prstGeom>
          <a:noFill/>
          <a:ln/>
        </p:spPr>
        <p:txBody>
          <a:bodyPr wrap="square" lIns="0" tIns="0" rIns="0" bIns="0" rtlCol="0" anchor="ctr"/>
          <a:lstStyle/>
          <a:p>
            <a:pPr marL="0" indent="0">
              <a:buNone/>
            </a:pPr>
            <a:r>
              <a:rPr lang="en-US" sz="1800" b="1" dirty="0">
                <a:solidFill>
                  <a:srgbClr val="A33B3B"/>
                </a:solidFill>
                <a:latin typeface="Cambria" pitchFamily="34" charset="0"/>
                <a:ea typeface="Cambria" pitchFamily="34" charset="-122"/>
                <a:cs typeface="Cambria" pitchFamily="34" charset="-120"/>
              </a:rPr>
              <a:t>H0</a:t>
            </a:r>
            <a:endParaRPr lang="en-US" sz="1800" dirty="0"/>
          </a:p>
        </p:txBody>
      </p:sp>
      <p:sp>
        <p:nvSpPr>
          <p:cNvPr id="13" name="Text 10"/>
          <p:cNvSpPr/>
          <p:nvPr/>
        </p:nvSpPr>
        <p:spPr>
          <a:xfrm>
            <a:off x="4965192" y="3200400"/>
            <a:ext cx="3401568" cy="12344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Com baixo volume, as regras são indistinguíveis de coocorrências aleatórias e não superam um baseline de popularidade (mais vendidos).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INTRODUÇÃO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Objetivos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371600"/>
            <a:ext cx="8138160" cy="868680"/>
          </a:xfrm>
          <a:prstGeom prst="roundRect">
            <a:avLst>
              <a:gd name="adj" fmla="val 8421"/>
            </a:avLst>
          </a:prstGeom>
          <a:solidFill>
            <a:srgbClr val="1B2A4A"/>
          </a:solidFill>
          <a:ln/>
          <a:effectLst>
            <a:outerShdw blurRad="88900" dist="25400" dir="2700000" algn="bl" rotWithShape="0">
              <a:srgbClr val="000000">
                <a:alpha val="14000"/>
              </a:srgbClr>
            </a:outerShdw>
          </a:effectLst>
        </p:spPr>
      </p:sp>
      <p:pic>
        <p:nvPicPr>
          <p:cNvPr id="6" name="Image 0" descr="preencoded.png"/>
          <p:cNvPicPr>
            <a:picLocks noChangeAspect="1"/>
          </p:cNvPicPr>
          <p:nvPr/>
        </p:nvPicPr>
        <p:blipFill>
          <a:blip r:embed="rId3"/>
          <a:stretch>
            <a:fillRect/>
          </a:stretch>
        </p:blipFill>
        <p:spPr>
          <a:xfrm>
            <a:off x="777240" y="1591056"/>
            <a:ext cx="411480" cy="411480"/>
          </a:xfrm>
          <a:prstGeom prst="rect">
            <a:avLst/>
          </a:prstGeom>
        </p:spPr>
      </p:pic>
      <p:sp>
        <p:nvSpPr>
          <p:cNvPr id="7" name="Text 4"/>
          <p:cNvSpPr/>
          <p:nvPr/>
        </p:nvSpPr>
        <p:spPr>
          <a:xfrm>
            <a:off x="1371600" y="1463040"/>
            <a:ext cx="7086600" cy="6858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Desenvolver e validar um sistema de recomendação B2B baseado em regras de associação, aplicado ao histórico de vendas da Quasar Barber, com relevância estatística mensurável.</a:t>
            </a:r>
            <a:endParaRPr lang="en-US" sz="1300" dirty="0"/>
          </a:p>
        </p:txBody>
      </p:sp>
      <p:sp>
        <p:nvSpPr>
          <p:cNvPr id="8" name="Shape 5"/>
          <p:cNvSpPr/>
          <p:nvPr/>
        </p:nvSpPr>
        <p:spPr>
          <a:xfrm>
            <a:off x="502920" y="2514600"/>
            <a:ext cx="420624" cy="420624"/>
          </a:xfrm>
          <a:prstGeom prst="ellipse">
            <a:avLst/>
          </a:prstGeom>
          <a:solidFill>
            <a:srgbClr val="F5EBD3"/>
          </a:solidFill>
          <a:ln/>
        </p:spPr>
      </p:sp>
      <p:pic>
        <p:nvPicPr>
          <p:cNvPr id="9" name="Image 1" descr="preencoded.png"/>
          <p:cNvPicPr>
            <a:picLocks noChangeAspect="1"/>
          </p:cNvPicPr>
          <p:nvPr/>
        </p:nvPicPr>
        <p:blipFill>
          <a:blip r:embed="rId4"/>
          <a:stretch>
            <a:fillRect/>
          </a:stretch>
        </p:blipFill>
        <p:spPr>
          <a:xfrm>
            <a:off x="608076" y="2619756"/>
            <a:ext cx="210312" cy="210312"/>
          </a:xfrm>
          <a:prstGeom prst="rect">
            <a:avLst/>
          </a:prstGeom>
        </p:spPr>
      </p:pic>
      <p:sp>
        <p:nvSpPr>
          <p:cNvPr id="10" name="Text 6"/>
          <p:cNvSpPr/>
          <p:nvPr/>
        </p:nvSpPr>
        <p:spPr>
          <a:xfrm>
            <a:off x="1069848" y="2487168"/>
            <a:ext cx="341071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Revisar a literatura</a:t>
            </a:r>
            <a:endParaRPr lang="en-US" sz="1400" dirty="0"/>
          </a:p>
        </p:txBody>
      </p:sp>
      <p:sp>
        <p:nvSpPr>
          <p:cNvPr id="11" name="Text 7"/>
          <p:cNvSpPr/>
          <p:nvPr/>
        </p:nvSpPr>
        <p:spPr>
          <a:xfrm>
            <a:off x="1069848" y="2761488"/>
            <a:ext cx="3410712" cy="3200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Recomendação, Apriori, suporte, confiança e lift</a:t>
            </a:r>
            <a:endParaRPr lang="en-US" sz="1200" dirty="0"/>
          </a:p>
        </p:txBody>
      </p:sp>
      <p:sp>
        <p:nvSpPr>
          <p:cNvPr id="12" name="Shape 8"/>
          <p:cNvSpPr/>
          <p:nvPr/>
        </p:nvSpPr>
        <p:spPr>
          <a:xfrm>
            <a:off x="4709160" y="2514600"/>
            <a:ext cx="420624" cy="420624"/>
          </a:xfrm>
          <a:prstGeom prst="ellipse">
            <a:avLst/>
          </a:prstGeom>
          <a:solidFill>
            <a:srgbClr val="F5EBD3"/>
          </a:solidFill>
          <a:ln/>
        </p:spPr>
      </p:sp>
      <p:pic>
        <p:nvPicPr>
          <p:cNvPr id="13" name="Image 2" descr="preencoded.png"/>
          <p:cNvPicPr>
            <a:picLocks noChangeAspect="1"/>
          </p:cNvPicPr>
          <p:nvPr/>
        </p:nvPicPr>
        <p:blipFill>
          <a:blip r:embed="rId5"/>
          <a:stretch>
            <a:fillRect/>
          </a:stretch>
        </p:blipFill>
        <p:spPr>
          <a:xfrm>
            <a:off x="4814316" y="2619756"/>
            <a:ext cx="210312" cy="210312"/>
          </a:xfrm>
          <a:prstGeom prst="rect">
            <a:avLst/>
          </a:prstGeom>
        </p:spPr>
      </p:pic>
      <p:sp>
        <p:nvSpPr>
          <p:cNvPr id="14" name="Text 9"/>
          <p:cNvSpPr/>
          <p:nvPr/>
        </p:nvSpPr>
        <p:spPr>
          <a:xfrm>
            <a:off x="5276088" y="2487168"/>
            <a:ext cx="341071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Modelar a base transacional</a:t>
            </a:r>
            <a:endParaRPr lang="en-US" sz="1400" dirty="0"/>
          </a:p>
        </p:txBody>
      </p:sp>
      <p:sp>
        <p:nvSpPr>
          <p:cNvPr id="15" name="Text 10"/>
          <p:cNvSpPr/>
          <p:nvPr/>
        </p:nvSpPr>
        <p:spPr>
          <a:xfrm>
            <a:off x="5276088" y="2761488"/>
            <a:ext cx="3410712" cy="3200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PostgreSQL/Supabase: clientes, produtos, vendas, itens</a:t>
            </a:r>
            <a:endParaRPr lang="en-US" sz="1200" dirty="0"/>
          </a:p>
        </p:txBody>
      </p:sp>
      <p:sp>
        <p:nvSpPr>
          <p:cNvPr id="16" name="Shape 11"/>
          <p:cNvSpPr/>
          <p:nvPr/>
        </p:nvSpPr>
        <p:spPr>
          <a:xfrm>
            <a:off x="502920" y="3319272"/>
            <a:ext cx="420624" cy="420624"/>
          </a:xfrm>
          <a:prstGeom prst="ellipse">
            <a:avLst/>
          </a:prstGeom>
          <a:solidFill>
            <a:srgbClr val="F5EBD3"/>
          </a:solidFill>
          <a:ln/>
        </p:spPr>
      </p:sp>
      <p:pic>
        <p:nvPicPr>
          <p:cNvPr id="17" name="Image 3" descr="preencoded.png"/>
          <p:cNvPicPr>
            <a:picLocks noChangeAspect="1"/>
          </p:cNvPicPr>
          <p:nvPr/>
        </p:nvPicPr>
        <p:blipFill>
          <a:blip r:embed="rId6"/>
          <a:stretch>
            <a:fillRect/>
          </a:stretch>
        </p:blipFill>
        <p:spPr>
          <a:xfrm>
            <a:off x="608076" y="3424428"/>
            <a:ext cx="210312" cy="210312"/>
          </a:xfrm>
          <a:prstGeom prst="rect">
            <a:avLst/>
          </a:prstGeom>
        </p:spPr>
      </p:pic>
      <p:sp>
        <p:nvSpPr>
          <p:cNvPr id="18" name="Text 12"/>
          <p:cNvSpPr/>
          <p:nvPr/>
        </p:nvSpPr>
        <p:spPr>
          <a:xfrm>
            <a:off x="1069848" y="3291840"/>
            <a:ext cx="341071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Implementar o algoritmo</a:t>
            </a:r>
            <a:endParaRPr lang="en-US" sz="1400" dirty="0"/>
          </a:p>
        </p:txBody>
      </p:sp>
      <p:sp>
        <p:nvSpPr>
          <p:cNvPr id="19" name="Text 13"/>
          <p:cNvSpPr/>
          <p:nvPr/>
        </p:nvSpPr>
        <p:spPr>
          <a:xfrm>
            <a:off x="1069848" y="3566160"/>
            <a:ext cx="3410712" cy="3200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Extração de regras + Top-N em API REST (Node.js)</a:t>
            </a:r>
            <a:endParaRPr lang="en-US" sz="1200" dirty="0"/>
          </a:p>
        </p:txBody>
      </p:sp>
      <p:sp>
        <p:nvSpPr>
          <p:cNvPr id="20" name="Shape 14"/>
          <p:cNvSpPr/>
          <p:nvPr/>
        </p:nvSpPr>
        <p:spPr>
          <a:xfrm>
            <a:off x="4709160" y="3319272"/>
            <a:ext cx="420624" cy="420624"/>
          </a:xfrm>
          <a:prstGeom prst="ellipse">
            <a:avLst/>
          </a:prstGeom>
          <a:solidFill>
            <a:srgbClr val="F5EBD3"/>
          </a:solidFill>
          <a:ln/>
        </p:spPr>
      </p:sp>
      <p:pic>
        <p:nvPicPr>
          <p:cNvPr id="21" name="Image 4" descr="preencoded.png"/>
          <p:cNvPicPr>
            <a:picLocks noChangeAspect="1"/>
          </p:cNvPicPr>
          <p:nvPr/>
        </p:nvPicPr>
        <p:blipFill>
          <a:blip r:embed="rId7"/>
          <a:stretch>
            <a:fillRect/>
          </a:stretch>
        </p:blipFill>
        <p:spPr>
          <a:xfrm>
            <a:off x="4814316" y="3424428"/>
            <a:ext cx="210312" cy="210312"/>
          </a:xfrm>
          <a:prstGeom prst="rect">
            <a:avLst/>
          </a:prstGeom>
        </p:spPr>
      </p:pic>
      <p:sp>
        <p:nvSpPr>
          <p:cNvPr id="22" name="Text 15"/>
          <p:cNvSpPr/>
          <p:nvPr/>
        </p:nvSpPr>
        <p:spPr>
          <a:xfrm>
            <a:off x="5276088" y="3291840"/>
            <a:ext cx="341071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Construir a interface web</a:t>
            </a:r>
            <a:endParaRPr lang="en-US" sz="1400" dirty="0"/>
          </a:p>
        </p:txBody>
      </p:sp>
      <p:sp>
        <p:nvSpPr>
          <p:cNvPr id="23" name="Text 16"/>
          <p:cNvSpPr/>
          <p:nvPr/>
        </p:nvSpPr>
        <p:spPr>
          <a:xfrm>
            <a:off x="5276088" y="3566160"/>
            <a:ext cx="3410712" cy="3200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Consulta por produto, métricas e gráficos (React)</a:t>
            </a:r>
            <a:endParaRPr lang="en-US" sz="1200" dirty="0"/>
          </a:p>
        </p:txBody>
      </p:sp>
      <p:sp>
        <p:nvSpPr>
          <p:cNvPr id="24" name="Shape 17"/>
          <p:cNvSpPr/>
          <p:nvPr/>
        </p:nvSpPr>
        <p:spPr>
          <a:xfrm>
            <a:off x="502920" y="4123944"/>
            <a:ext cx="420624" cy="420624"/>
          </a:xfrm>
          <a:prstGeom prst="ellipse">
            <a:avLst/>
          </a:prstGeom>
          <a:solidFill>
            <a:srgbClr val="F5EBD3"/>
          </a:solidFill>
          <a:ln/>
        </p:spPr>
      </p:sp>
      <p:pic>
        <p:nvPicPr>
          <p:cNvPr id="25" name="Image 5" descr="preencoded.png"/>
          <p:cNvPicPr>
            <a:picLocks noChangeAspect="1"/>
          </p:cNvPicPr>
          <p:nvPr/>
        </p:nvPicPr>
        <p:blipFill>
          <a:blip r:embed="rId8"/>
          <a:stretch>
            <a:fillRect/>
          </a:stretch>
        </p:blipFill>
        <p:spPr>
          <a:xfrm>
            <a:off x="608076" y="4229100"/>
            <a:ext cx="210312" cy="210312"/>
          </a:xfrm>
          <a:prstGeom prst="rect">
            <a:avLst/>
          </a:prstGeom>
        </p:spPr>
      </p:pic>
      <p:sp>
        <p:nvSpPr>
          <p:cNvPr id="26" name="Text 18"/>
          <p:cNvSpPr/>
          <p:nvPr/>
        </p:nvSpPr>
        <p:spPr>
          <a:xfrm>
            <a:off x="1069848" y="4096512"/>
            <a:ext cx="341071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Validar com LOOCV</a:t>
            </a:r>
            <a:endParaRPr lang="en-US" sz="1400" dirty="0"/>
          </a:p>
        </p:txBody>
      </p:sp>
      <p:sp>
        <p:nvSpPr>
          <p:cNvPr id="27" name="Text 19"/>
          <p:cNvSpPr/>
          <p:nvPr/>
        </p:nvSpPr>
        <p:spPr>
          <a:xfrm>
            <a:off x="1069848" y="4370832"/>
            <a:ext cx="3410712" cy="3200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Precision, Recall e F1-Score; discutir limitações</a:t>
            </a:r>
            <a:endParaRPr lang="en-US" sz="1200" dirty="0"/>
          </a:p>
        </p:txBody>
      </p:sp>
      <p:sp>
        <p:nvSpPr>
          <p:cNvPr id="28" name="Shape 20"/>
          <p:cNvSpPr/>
          <p:nvPr/>
        </p:nvSpPr>
        <p:spPr>
          <a:xfrm>
            <a:off x="4709160" y="4123944"/>
            <a:ext cx="420624" cy="420624"/>
          </a:xfrm>
          <a:prstGeom prst="ellipse">
            <a:avLst/>
          </a:prstGeom>
          <a:solidFill>
            <a:srgbClr val="F5EBD3"/>
          </a:solidFill>
          <a:ln/>
        </p:spPr>
      </p:sp>
      <p:pic>
        <p:nvPicPr>
          <p:cNvPr id="29" name="Image 6" descr="preencoded.png"/>
          <p:cNvPicPr>
            <a:picLocks noChangeAspect="1"/>
          </p:cNvPicPr>
          <p:nvPr/>
        </p:nvPicPr>
        <p:blipFill>
          <a:blip r:embed="rId9"/>
          <a:stretch>
            <a:fillRect/>
          </a:stretch>
        </p:blipFill>
        <p:spPr>
          <a:xfrm>
            <a:off x="4814316" y="4229100"/>
            <a:ext cx="210312" cy="210312"/>
          </a:xfrm>
          <a:prstGeom prst="rect">
            <a:avLst/>
          </a:prstGeom>
        </p:spPr>
      </p:pic>
      <p:sp>
        <p:nvSpPr>
          <p:cNvPr id="30" name="Text 21"/>
          <p:cNvSpPr/>
          <p:nvPr/>
        </p:nvSpPr>
        <p:spPr>
          <a:xfrm>
            <a:off x="5276088" y="4096512"/>
            <a:ext cx="341071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Analisar sob ótica de negócio</a:t>
            </a:r>
            <a:endParaRPr lang="en-US" sz="1400" dirty="0"/>
          </a:p>
        </p:txBody>
      </p:sp>
      <p:sp>
        <p:nvSpPr>
          <p:cNvPr id="31" name="Text 22"/>
          <p:cNvSpPr/>
          <p:nvPr/>
        </p:nvSpPr>
        <p:spPr>
          <a:xfrm>
            <a:off x="5276088" y="4370832"/>
            <a:ext cx="3410712" cy="3200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Aderência das regras de maior lift ao domínio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FUNDAMENTAÇÃO TEÓRICA</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Regras de associação e suas métricas</a:t>
            </a:r>
            <a:endParaRPr lang="en-US" sz="3000" dirty="0"/>
          </a:p>
        </p:txBody>
      </p:sp>
      <p:sp>
        <p:nvSpPr>
          <p:cNvPr id="4" name="Text 2"/>
          <p:cNvSpPr/>
          <p:nvPr/>
        </p:nvSpPr>
        <p:spPr>
          <a:xfrm>
            <a:off x="502920" y="4785828"/>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Text 3"/>
          <p:cNvSpPr/>
          <p:nvPr/>
        </p:nvSpPr>
        <p:spPr>
          <a:xfrm>
            <a:off x="502920" y="1371600"/>
            <a:ext cx="8138160" cy="685800"/>
          </a:xfrm>
          <a:prstGeom prst="rect">
            <a:avLst/>
          </a:prstGeom>
          <a:noFill/>
          <a:ln/>
        </p:spPr>
        <p:txBody>
          <a:bodyPr wrap="square" lIns="0" tIns="0" rIns="0" bIns="0" rtlCol="0" anchor="ctr"/>
          <a:lstStyle/>
          <a:p>
            <a:pPr marL="0" indent="0">
              <a:buNone/>
            </a:pPr>
            <a:r>
              <a:rPr lang="en-US" sz="1300" dirty="0">
                <a:solidFill>
                  <a:srgbClr val="2B2F36"/>
                </a:solidFill>
                <a:latin typeface="Calibri" pitchFamily="34" charset="0"/>
                <a:ea typeface="Calibri" pitchFamily="34" charset="-122"/>
                <a:cs typeface="Calibri" pitchFamily="34" charset="-120"/>
              </a:rPr>
              <a:t>Market Basket Analysis (Agrawal et al., 1993): regras do tipo </a:t>
            </a:r>
            <a:r>
              <a:rPr lang="en-US" sz="1300" b="1" dirty="0">
                <a:solidFill>
                  <a:srgbClr val="1B2A4A"/>
                </a:solidFill>
                <a:latin typeface="Calibri" pitchFamily="34" charset="0"/>
                <a:ea typeface="Calibri" pitchFamily="34" charset="-122"/>
                <a:cs typeface="Calibri" pitchFamily="34" charset="-120"/>
              </a:rPr>
              <a:t>X ⇒ Y</a:t>
            </a:r>
            <a:r>
              <a:rPr lang="en-US" sz="1300" dirty="0">
                <a:solidFill>
                  <a:srgbClr val="2B2F36"/>
                </a:solidFill>
                <a:latin typeface="Calibri" pitchFamily="34" charset="0"/>
                <a:ea typeface="Calibri" pitchFamily="34" charset="-122"/>
                <a:cs typeface="Calibri" pitchFamily="34" charset="-120"/>
              </a:rPr>
              <a:t> — “quem compra X tende a comprar Y”. Não exige perfis de usuário: usa apenas a coocorrência nas cestas, contornando a esparsidade.</a:t>
            </a:r>
            <a:endParaRPr lang="en-US" sz="1300" dirty="0"/>
          </a:p>
        </p:txBody>
      </p:sp>
      <p:sp>
        <p:nvSpPr>
          <p:cNvPr id="6" name="Shape 4"/>
          <p:cNvSpPr/>
          <p:nvPr/>
        </p:nvSpPr>
        <p:spPr>
          <a:xfrm>
            <a:off x="502920" y="2240280"/>
            <a:ext cx="2606040" cy="1965960"/>
          </a:xfrm>
          <a:prstGeom prst="roundRect">
            <a:avLst>
              <a:gd name="adj" fmla="val 3256"/>
            </a:avLst>
          </a:prstGeom>
          <a:solidFill>
            <a:srgbClr val="F5F7FB"/>
          </a:solidFill>
          <a:ln/>
          <a:effectLst>
            <a:outerShdw blurRad="88900" dist="25400" dir="2700000" algn="bl" rotWithShape="0">
              <a:srgbClr val="000000">
                <a:alpha val="14000"/>
              </a:srgbClr>
            </a:outerShdw>
          </a:effectLst>
        </p:spPr>
      </p:sp>
      <p:sp>
        <p:nvSpPr>
          <p:cNvPr id="7" name="Text 5"/>
          <p:cNvSpPr/>
          <p:nvPr/>
        </p:nvSpPr>
        <p:spPr>
          <a:xfrm>
            <a:off x="704088" y="2423160"/>
            <a:ext cx="2203704" cy="274320"/>
          </a:xfrm>
          <a:prstGeom prst="rect">
            <a:avLst/>
          </a:prstGeom>
          <a:noFill/>
          <a:ln/>
        </p:spPr>
        <p:txBody>
          <a:bodyPr wrap="square" lIns="0" tIns="0" rIns="0" bIns="0" rtlCol="0" anchor="ctr"/>
          <a:lstStyle/>
          <a:p>
            <a:pPr marL="0" indent="0">
              <a:buNone/>
            </a:pPr>
            <a:r>
              <a:rPr lang="en-US" sz="1200" b="1" kern="0" spc="200" dirty="0">
                <a:solidFill>
                  <a:srgbClr val="C9962E"/>
                </a:solidFill>
                <a:latin typeface="Calibri" pitchFamily="34" charset="0"/>
                <a:ea typeface="Calibri" pitchFamily="34" charset="-122"/>
                <a:cs typeface="Calibri" pitchFamily="34" charset="-120"/>
              </a:rPr>
              <a:t>SUPORTE</a:t>
            </a:r>
            <a:endParaRPr lang="en-US" sz="1200" dirty="0"/>
          </a:p>
        </p:txBody>
      </p:sp>
      <p:sp>
        <p:nvSpPr>
          <p:cNvPr id="8" name="Text 6"/>
          <p:cNvSpPr/>
          <p:nvPr/>
        </p:nvSpPr>
        <p:spPr>
          <a:xfrm>
            <a:off x="704088" y="2715768"/>
            <a:ext cx="2203704"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Quão comum é a combinação</a:t>
            </a:r>
            <a:endParaRPr lang="en-US" sz="1300" dirty="0"/>
          </a:p>
        </p:txBody>
      </p:sp>
      <p:sp>
        <p:nvSpPr>
          <p:cNvPr id="9" name="Text 7"/>
          <p:cNvSpPr/>
          <p:nvPr/>
        </p:nvSpPr>
        <p:spPr>
          <a:xfrm>
            <a:off x="704088" y="3081528"/>
            <a:ext cx="2203704" cy="1005840"/>
          </a:xfrm>
          <a:prstGeom prst="rect">
            <a:avLst/>
          </a:prstGeom>
          <a:noFill/>
          <a:ln/>
        </p:spPr>
        <p:txBody>
          <a:bodyPr wrap="square" lIns="0" tIns="0" rIns="0" bIns="0" rtlCol="0" anchor="t"/>
          <a:lstStyle/>
          <a:p>
            <a:pPr marL="0" indent="0">
              <a:buNone/>
            </a:pPr>
            <a:r>
              <a:rPr lang="en-US" sz="1150" dirty="0">
                <a:solidFill>
                  <a:srgbClr val="2B2F36"/>
                </a:solidFill>
                <a:latin typeface="Calibri" pitchFamily="34" charset="0"/>
                <a:ea typeface="Calibri" pitchFamily="34" charset="-122"/>
                <a:cs typeface="Calibri" pitchFamily="34" charset="-120"/>
              </a:rPr>
              <a:t>Fração das transações que contêm X e Y juntos. Filtra padrões raros demais.</a:t>
            </a:r>
            <a:endParaRPr lang="en-US" sz="1150" dirty="0"/>
          </a:p>
        </p:txBody>
      </p:sp>
      <p:sp>
        <p:nvSpPr>
          <p:cNvPr id="10" name="Shape 8"/>
          <p:cNvSpPr/>
          <p:nvPr/>
        </p:nvSpPr>
        <p:spPr>
          <a:xfrm>
            <a:off x="3291840" y="2240280"/>
            <a:ext cx="2606040" cy="1965960"/>
          </a:xfrm>
          <a:prstGeom prst="roundRect">
            <a:avLst>
              <a:gd name="adj" fmla="val 3256"/>
            </a:avLst>
          </a:prstGeom>
          <a:solidFill>
            <a:srgbClr val="F5F7FB"/>
          </a:solidFill>
          <a:ln/>
          <a:effectLst>
            <a:outerShdw blurRad="88900" dist="25400" dir="2700000" algn="bl" rotWithShape="0">
              <a:srgbClr val="000000">
                <a:alpha val="14000"/>
              </a:srgbClr>
            </a:outerShdw>
          </a:effectLst>
        </p:spPr>
      </p:sp>
      <p:sp>
        <p:nvSpPr>
          <p:cNvPr id="11" name="Text 9"/>
          <p:cNvSpPr/>
          <p:nvPr/>
        </p:nvSpPr>
        <p:spPr>
          <a:xfrm>
            <a:off x="3493008" y="2423160"/>
            <a:ext cx="2203704" cy="274320"/>
          </a:xfrm>
          <a:prstGeom prst="rect">
            <a:avLst/>
          </a:prstGeom>
          <a:noFill/>
          <a:ln/>
        </p:spPr>
        <p:txBody>
          <a:bodyPr wrap="square" lIns="0" tIns="0" rIns="0" bIns="0" rtlCol="0" anchor="ctr"/>
          <a:lstStyle/>
          <a:p>
            <a:pPr marL="0" indent="0">
              <a:buNone/>
            </a:pPr>
            <a:r>
              <a:rPr lang="en-US" sz="1200" b="1" kern="0" spc="200" dirty="0">
                <a:solidFill>
                  <a:srgbClr val="C9962E"/>
                </a:solidFill>
                <a:latin typeface="Calibri" pitchFamily="34" charset="0"/>
                <a:ea typeface="Calibri" pitchFamily="34" charset="-122"/>
                <a:cs typeface="Calibri" pitchFamily="34" charset="-120"/>
              </a:rPr>
              <a:t>CONFIANÇA</a:t>
            </a:r>
            <a:endParaRPr lang="en-US" sz="1200" dirty="0"/>
          </a:p>
        </p:txBody>
      </p:sp>
      <p:sp>
        <p:nvSpPr>
          <p:cNvPr id="12" name="Text 10"/>
          <p:cNvSpPr/>
          <p:nvPr/>
        </p:nvSpPr>
        <p:spPr>
          <a:xfrm>
            <a:off x="3493008" y="2715768"/>
            <a:ext cx="2203704"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Probabilidade condicional</a:t>
            </a:r>
            <a:endParaRPr lang="en-US" sz="1300" dirty="0"/>
          </a:p>
        </p:txBody>
      </p:sp>
      <p:sp>
        <p:nvSpPr>
          <p:cNvPr id="13" name="Text 11"/>
          <p:cNvSpPr/>
          <p:nvPr/>
        </p:nvSpPr>
        <p:spPr>
          <a:xfrm>
            <a:off x="3493008" y="3081528"/>
            <a:ext cx="2203704" cy="1005840"/>
          </a:xfrm>
          <a:prstGeom prst="rect">
            <a:avLst/>
          </a:prstGeom>
          <a:noFill/>
          <a:ln/>
        </p:spPr>
        <p:txBody>
          <a:bodyPr wrap="square" lIns="0" tIns="0" rIns="0" bIns="0" rtlCol="0" anchor="t"/>
          <a:lstStyle/>
          <a:p>
            <a:pPr marL="0" indent="0">
              <a:buNone/>
            </a:pPr>
            <a:r>
              <a:rPr lang="en-US" sz="1150" dirty="0">
                <a:solidFill>
                  <a:srgbClr val="2B2F36"/>
                </a:solidFill>
                <a:latin typeface="Calibri" pitchFamily="34" charset="0"/>
                <a:ea typeface="Calibri" pitchFamily="34" charset="-122"/>
                <a:cs typeface="Calibri" pitchFamily="34" charset="-120"/>
              </a:rPr>
              <a:t>P(Y | X): entre as cestas com X, quantas também têm Y. Mede a força da implicação.</a:t>
            </a:r>
            <a:endParaRPr lang="en-US" sz="1150" dirty="0"/>
          </a:p>
        </p:txBody>
      </p:sp>
      <p:sp>
        <p:nvSpPr>
          <p:cNvPr id="14" name="Shape 12"/>
          <p:cNvSpPr/>
          <p:nvPr/>
        </p:nvSpPr>
        <p:spPr>
          <a:xfrm>
            <a:off x="6080760" y="2240280"/>
            <a:ext cx="2606040" cy="1965960"/>
          </a:xfrm>
          <a:prstGeom prst="roundRect">
            <a:avLst>
              <a:gd name="adj" fmla="val 3256"/>
            </a:avLst>
          </a:prstGeom>
          <a:solidFill>
            <a:srgbClr val="F5EBD3"/>
          </a:solidFill>
          <a:ln/>
          <a:effectLst>
            <a:outerShdw blurRad="88900" dist="25400" dir="2700000" algn="bl" rotWithShape="0">
              <a:srgbClr val="000000">
                <a:alpha val="14000"/>
              </a:srgbClr>
            </a:outerShdw>
          </a:effectLst>
        </p:spPr>
      </p:sp>
      <p:sp>
        <p:nvSpPr>
          <p:cNvPr id="15" name="Text 13"/>
          <p:cNvSpPr/>
          <p:nvPr/>
        </p:nvSpPr>
        <p:spPr>
          <a:xfrm>
            <a:off x="6281928" y="2423160"/>
            <a:ext cx="2203704" cy="274320"/>
          </a:xfrm>
          <a:prstGeom prst="rect">
            <a:avLst/>
          </a:prstGeom>
          <a:noFill/>
          <a:ln/>
        </p:spPr>
        <p:txBody>
          <a:bodyPr wrap="square" lIns="0" tIns="0" rIns="0" bIns="0" rtlCol="0" anchor="ctr"/>
          <a:lstStyle/>
          <a:p>
            <a:pPr marL="0" indent="0">
              <a:buNone/>
            </a:pPr>
            <a:r>
              <a:rPr lang="en-US" sz="1200" b="1" kern="0" spc="200" dirty="0">
                <a:solidFill>
                  <a:srgbClr val="C9962E"/>
                </a:solidFill>
                <a:latin typeface="Calibri" pitchFamily="34" charset="0"/>
                <a:ea typeface="Calibri" pitchFamily="34" charset="-122"/>
                <a:cs typeface="Calibri" pitchFamily="34" charset="-120"/>
              </a:rPr>
              <a:t>LIFT</a:t>
            </a:r>
            <a:endParaRPr lang="en-US" sz="1200" dirty="0"/>
          </a:p>
        </p:txBody>
      </p:sp>
      <p:sp>
        <p:nvSpPr>
          <p:cNvPr id="16" name="Text 14"/>
          <p:cNvSpPr/>
          <p:nvPr/>
        </p:nvSpPr>
        <p:spPr>
          <a:xfrm>
            <a:off x="6281928" y="2715768"/>
            <a:ext cx="2203704"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Acima do acaso?</a:t>
            </a:r>
            <a:endParaRPr lang="en-US" sz="1300" dirty="0"/>
          </a:p>
        </p:txBody>
      </p:sp>
      <p:sp>
        <p:nvSpPr>
          <p:cNvPr id="17" name="Text 15"/>
          <p:cNvSpPr/>
          <p:nvPr/>
        </p:nvSpPr>
        <p:spPr>
          <a:xfrm>
            <a:off x="6281928" y="3081528"/>
            <a:ext cx="2203704" cy="1005840"/>
          </a:xfrm>
          <a:prstGeom prst="rect">
            <a:avLst/>
          </a:prstGeom>
          <a:noFill/>
          <a:ln/>
        </p:spPr>
        <p:txBody>
          <a:bodyPr wrap="square" lIns="0" tIns="0" rIns="0" bIns="0" rtlCol="0" anchor="t"/>
          <a:lstStyle/>
          <a:p>
            <a:pPr marL="0" indent="0">
              <a:buNone/>
            </a:pPr>
            <a:r>
              <a:rPr lang="en-US" sz="1150" dirty="0">
                <a:solidFill>
                  <a:srgbClr val="2B2F36"/>
                </a:solidFill>
                <a:latin typeface="Calibri" pitchFamily="34" charset="0"/>
                <a:ea typeface="Calibri" pitchFamily="34" charset="-122"/>
                <a:cs typeface="Calibri" pitchFamily="34" charset="-120"/>
              </a:rPr>
              <a:t>Compara com a independência: lift &gt; 1 indica associação real. Critério de ranking do trabalho.</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METODOLOGIA</a:t>
            </a:r>
            <a:endParaRPr lang="en-US" sz="1100" dirty="0"/>
          </a:p>
        </p:txBody>
      </p:sp>
      <p:sp>
        <p:nvSpPr>
          <p:cNvPr id="3" name="Text 1"/>
          <p:cNvSpPr/>
          <p:nvPr/>
        </p:nvSpPr>
        <p:spPr>
          <a:xfrm>
            <a:off x="502920" y="502920"/>
            <a:ext cx="8138160" cy="640080"/>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Design Science Research e protocolo de validação</a:t>
            </a:r>
            <a:endParaRPr lang="en-US" sz="2700" dirty="0"/>
          </a:p>
        </p:txBody>
      </p:sp>
      <p:sp>
        <p:nvSpPr>
          <p:cNvPr id="4" name="Text 2"/>
          <p:cNvSpPr/>
          <p:nvPr/>
        </p:nvSpPr>
        <p:spPr>
          <a:xfrm>
            <a:off x="502920" y="4777740"/>
            <a:ext cx="813816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Sistema de Recomendação B2B  •  Quasar Barber  •  IFMA Campus Caxias</a:t>
            </a:r>
            <a:endParaRPr lang="en-US" sz="900" dirty="0"/>
          </a:p>
        </p:txBody>
      </p:sp>
      <p:sp>
        <p:nvSpPr>
          <p:cNvPr id="5" name="Shape 3"/>
          <p:cNvSpPr/>
          <p:nvPr/>
        </p:nvSpPr>
        <p:spPr>
          <a:xfrm>
            <a:off x="502920" y="1371600"/>
            <a:ext cx="3977640" cy="3063240"/>
          </a:xfrm>
          <a:prstGeom prst="roundRect">
            <a:avLst>
              <a:gd name="adj" fmla="val 2090"/>
            </a:avLst>
          </a:prstGeom>
          <a:solidFill>
            <a:srgbClr val="F5F7FB"/>
          </a:solidFill>
          <a:ln/>
          <a:effectLst>
            <a:outerShdw blurRad="88900" dist="25400" dir="2700000" algn="bl" rotWithShape="0">
              <a:srgbClr val="000000">
                <a:alpha val="14000"/>
              </a:srgbClr>
            </a:outerShdw>
          </a:effectLst>
        </p:spPr>
      </p:sp>
      <p:sp>
        <p:nvSpPr>
          <p:cNvPr id="6" name="Text 4"/>
          <p:cNvSpPr/>
          <p:nvPr/>
        </p:nvSpPr>
        <p:spPr>
          <a:xfrm>
            <a:off x="731520" y="1536192"/>
            <a:ext cx="352044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Design Science Research</a:t>
            </a:r>
            <a:endParaRPr lang="en-US" sz="1350" dirty="0"/>
          </a:p>
        </p:txBody>
      </p:sp>
      <p:sp>
        <p:nvSpPr>
          <p:cNvPr id="7" name="Text 5"/>
          <p:cNvSpPr/>
          <p:nvPr/>
        </p:nvSpPr>
        <p:spPr>
          <a:xfrm>
            <a:off x="731520" y="1847088"/>
            <a:ext cx="3520440" cy="685800"/>
          </a:xfrm>
          <a:prstGeom prst="rect">
            <a:avLst/>
          </a:prstGeom>
          <a:noFill/>
          <a:ln/>
        </p:spPr>
        <p:txBody>
          <a:bodyPr wrap="square" lIns="0" tIns="0" rIns="0" bIns="0" rtlCol="0" anchor="t"/>
          <a:lstStyle/>
          <a:p>
            <a:pPr marL="0" indent="0">
              <a:buNone/>
            </a:pPr>
            <a:r>
              <a:rPr lang="en-US" sz="1100" dirty="0">
                <a:solidFill>
                  <a:srgbClr val="2B2F36"/>
                </a:solidFill>
                <a:latin typeface="Calibri" pitchFamily="34" charset="0"/>
                <a:ea typeface="Calibri" pitchFamily="34" charset="-122"/>
                <a:cs typeface="Calibri" pitchFamily="34" charset="-120"/>
              </a:rPr>
              <a:t>Peffers et al. (2007): problema → objetivos → projeto/desenvolvimento → demonstração → avaliação → comunicação (esta defesa).</a:t>
            </a:r>
            <a:endParaRPr lang="en-US" sz="1100" dirty="0"/>
          </a:p>
        </p:txBody>
      </p:sp>
      <p:sp>
        <p:nvSpPr>
          <p:cNvPr id="8" name="Text 6"/>
          <p:cNvSpPr/>
          <p:nvPr/>
        </p:nvSpPr>
        <p:spPr>
          <a:xfrm>
            <a:off x="731520" y="2606040"/>
            <a:ext cx="3520440" cy="777240"/>
          </a:xfrm>
          <a:prstGeom prst="rect">
            <a:avLst/>
          </a:prstGeom>
          <a:noFill/>
          <a:ln/>
        </p:spPr>
        <p:txBody>
          <a:bodyPr wrap="square" lIns="0" tIns="0" rIns="0" bIns="0" rtlCol="0" anchor="t"/>
          <a:lstStyle/>
          <a:p>
            <a:pPr marL="0" indent="0">
              <a:buNone/>
            </a:pPr>
            <a:r>
              <a:rPr lang="en-US" sz="1100" dirty="0">
                <a:solidFill>
                  <a:srgbClr val="2B2F36"/>
                </a:solidFill>
                <a:latin typeface="Calibri" pitchFamily="34" charset="0"/>
                <a:ea typeface="Calibri" pitchFamily="34" charset="-122"/>
                <a:cs typeface="Calibri" pitchFamily="34" charset="-120"/>
              </a:rPr>
              <a:t>Dados: pedidos reais da Quasar Barber (29/abr–18/jun 2026), 30 transações, 29 produtos, 26 clientes. Cada pedido = uma cesta.</a:t>
            </a:r>
            <a:endParaRPr lang="en-US" sz="1100" dirty="0"/>
          </a:p>
        </p:txBody>
      </p:sp>
      <p:sp>
        <p:nvSpPr>
          <p:cNvPr id="9" name="Text 7"/>
          <p:cNvSpPr/>
          <p:nvPr/>
        </p:nvSpPr>
        <p:spPr>
          <a:xfrm>
            <a:off x="731520" y="3429000"/>
            <a:ext cx="3520440" cy="822960"/>
          </a:xfrm>
          <a:prstGeom prst="rect">
            <a:avLst/>
          </a:prstGeom>
          <a:noFill/>
          <a:ln/>
        </p:spPr>
        <p:txBody>
          <a:bodyPr wrap="square" lIns="0" tIns="0" rIns="0" bIns="0" rtlCol="0" anchor="t"/>
          <a:lstStyle/>
          <a:p>
            <a:pPr marL="0" indent="0">
              <a:buNone/>
            </a:pPr>
            <a:r>
              <a:rPr lang="en-US" sz="1100" dirty="0">
                <a:solidFill>
                  <a:srgbClr val="2B2F36"/>
                </a:solidFill>
                <a:latin typeface="Calibri" pitchFamily="34" charset="0"/>
                <a:ea typeface="Calibri" pitchFamily="34" charset="-122"/>
                <a:cs typeface="Calibri" pitchFamily="34" charset="-120"/>
              </a:rPr>
              <a:t>Pré-processamento: normalização de codificação, agrupamento por pedido, deduplicação e categorização por heurística.</a:t>
            </a:r>
            <a:endParaRPr lang="en-US" sz="1100" dirty="0"/>
          </a:p>
        </p:txBody>
      </p:sp>
      <p:sp>
        <p:nvSpPr>
          <p:cNvPr id="10" name="Shape 8"/>
          <p:cNvSpPr/>
          <p:nvPr/>
        </p:nvSpPr>
        <p:spPr>
          <a:xfrm>
            <a:off x="4663440" y="1371600"/>
            <a:ext cx="3977640" cy="3063240"/>
          </a:xfrm>
          <a:prstGeom prst="roundRect">
            <a:avLst>
              <a:gd name="adj" fmla="val 2090"/>
            </a:avLst>
          </a:prstGeom>
          <a:solidFill>
            <a:srgbClr val="1B2A4A"/>
          </a:solidFill>
          <a:ln/>
          <a:effectLst>
            <a:outerShdw blurRad="88900" dist="25400" dir="2700000" algn="bl" rotWithShape="0">
              <a:srgbClr val="000000">
                <a:alpha val="14000"/>
              </a:srgbClr>
            </a:outerShdw>
          </a:effectLst>
        </p:spPr>
      </p:sp>
      <p:sp>
        <p:nvSpPr>
          <p:cNvPr id="11" name="Text 9"/>
          <p:cNvSpPr/>
          <p:nvPr/>
        </p:nvSpPr>
        <p:spPr>
          <a:xfrm>
            <a:off x="4892040" y="1536192"/>
            <a:ext cx="3520440" cy="274320"/>
          </a:xfrm>
          <a:prstGeom prst="rect">
            <a:avLst/>
          </a:prstGeom>
          <a:noFill/>
          <a:ln/>
        </p:spPr>
        <p:txBody>
          <a:bodyPr wrap="square" lIns="0" tIns="0" rIns="0" bIns="0" rtlCol="0" anchor="ctr"/>
          <a:lstStyle/>
          <a:p>
            <a:pPr marL="0" indent="0">
              <a:buNone/>
            </a:pPr>
            <a:r>
              <a:rPr lang="en-US" sz="1350" b="1" dirty="0">
                <a:solidFill>
                  <a:srgbClr val="C9962E"/>
                </a:solidFill>
                <a:latin typeface="Calibri" pitchFamily="34" charset="0"/>
                <a:ea typeface="Calibri" pitchFamily="34" charset="-122"/>
                <a:cs typeface="Calibri" pitchFamily="34" charset="-120"/>
              </a:rPr>
              <a:t>Por que Leave-One-Out (LOOCV)?</a:t>
            </a:r>
            <a:endParaRPr lang="en-US" sz="1350" dirty="0"/>
          </a:p>
        </p:txBody>
      </p:sp>
      <p:sp>
        <p:nvSpPr>
          <p:cNvPr id="12" name="Text 10"/>
          <p:cNvSpPr/>
          <p:nvPr/>
        </p:nvSpPr>
        <p:spPr>
          <a:xfrm>
            <a:off x="4892040" y="1874520"/>
            <a:ext cx="3520440" cy="731520"/>
          </a:xfrm>
          <a:prstGeom prst="rect">
            <a:avLst/>
          </a:prstGeom>
          <a:noFill/>
          <a:ln/>
        </p:spPr>
        <p:txBody>
          <a:bodyPr wrap="square" lIns="0" tIns="0" rIns="0" bIns="0" rtlCol="0" anchor="t"/>
          <a:lstStyle/>
          <a:p>
            <a:pPr marL="0" indent="0">
              <a:buNone/>
            </a:pPr>
            <a:r>
              <a:rPr lang="en-US" sz="1100" b="1" dirty="0">
                <a:solidFill>
                  <a:srgbClr val="F0A5A5"/>
                </a:solidFill>
                <a:latin typeface="Calibri" pitchFamily="34" charset="0"/>
                <a:ea typeface="Calibri" pitchFamily="34" charset="-122"/>
                <a:cs typeface="Calibri" pitchFamily="34" charset="-120"/>
              </a:rPr>
              <a:t>Holdout 80/20 falharia: </a:t>
            </a:r>
            <a:r>
              <a:rPr lang="en-US" sz="1100" dirty="0">
                <a:solidFill>
                  <a:srgbClr val="E8EBF3"/>
                </a:solidFill>
                <a:latin typeface="Calibri" pitchFamily="34" charset="0"/>
                <a:ea typeface="Calibri" pitchFamily="34" charset="-122"/>
                <a:cs typeface="Calibri" pitchFamily="34" charset="-120"/>
              </a:rPr>
              <a:t>20% de 30 transações deixa só ~3 cestas multi-item avaliáveis — instável.</a:t>
            </a:r>
            <a:endParaRPr lang="en-US" sz="1100" dirty="0"/>
          </a:p>
        </p:txBody>
      </p:sp>
      <p:sp>
        <p:nvSpPr>
          <p:cNvPr id="13" name="Text 11"/>
          <p:cNvSpPr/>
          <p:nvPr/>
        </p:nvSpPr>
        <p:spPr>
          <a:xfrm>
            <a:off x="4892040" y="2651760"/>
            <a:ext cx="3520440" cy="731520"/>
          </a:xfrm>
          <a:prstGeom prst="rect">
            <a:avLst/>
          </a:prstGeom>
          <a:noFill/>
          <a:ln/>
        </p:spPr>
        <p:txBody>
          <a:bodyPr wrap="square" lIns="0" tIns="0" rIns="0" bIns="0" rtlCol="0" anchor="t"/>
          <a:lstStyle/>
          <a:p>
            <a:pPr marL="0" indent="0">
              <a:buNone/>
            </a:pPr>
            <a:r>
              <a:rPr lang="en-US" sz="1100" b="1" dirty="0">
                <a:solidFill>
                  <a:srgbClr val="7FD1A9"/>
                </a:solidFill>
                <a:latin typeface="Calibri" pitchFamily="34" charset="0"/>
                <a:ea typeface="Calibri" pitchFamily="34" charset="-122"/>
                <a:cs typeface="Calibri" pitchFamily="34" charset="-120"/>
              </a:rPr>
              <a:t>LOOCV: </a:t>
            </a:r>
            <a:r>
              <a:rPr lang="en-US" sz="1100" dirty="0">
                <a:solidFill>
                  <a:srgbClr val="E8EBF3"/>
                </a:solidFill>
                <a:latin typeface="Calibri" pitchFamily="34" charset="0"/>
                <a:ea typeface="Calibri" pitchFamily="34" charset="-122"/>
                <a:cs typeface="Calibri" pitchFamily="34" charset="-120"/>
              </a:rPr>
              <a:t>N rodadas, ocultando 1 produto por vez e verificando se ele volta entre as Top-3 sugestões.</a:t>
            </a:r>
            <a:endParaRPr lang="en-US" sz="1100" dirty="0"/>
          </a:p>
        </p:txBody>
      </p:sp>
      <p:sp>
        <p:nvSpPr>
          <p:cNvPr id="14" name="Text 12"/>
          <p:cNvSpPr/>
          <p:nvPr/>
        </p:nvSpPr>
        <p:spPr>
          <a:xfrm>
            <a:off x="4892040" y="3520440"/>
            <a:ext cx="3520440" cy="777240"/>
          </a:xfrm>
          <a:prstGeom prst="rect">
            <a:avLst/>
          </a:prstGeom>
          <a:noFill/>
          <a:ln/>
        </p:spPr>
        <p:txBody>
          <a:bodyPr wrap="square" lIns="0" tIns="0" rIns="0" bIns="0" rtlCol="0" anchor="t"/>
          <a:lstStyle/>
          <a:p>
            <a:pPr marL="0" indent="0">
              <a:buNone/>
            </a:pPr>
            <a:r>
              <a:rPr lang="en-US" sz="1100" b="1" i="1" dirty="0">
                <a:solidFill>
                  <a:srgbClr val="C9962E"/>
                </a:solidFill>
                <a:latin typeface="Calibri" pitchFamily="34" charset="0"/>
                <a:ea typeface="Calibri" pitchFamily="34" charset="-122"/>
                <a:cs typeface="Calibri" pitchFamily="34" charset="-120"/>
              </a:rPr>
              <a:t>Teto estrutural: com 1 item oculto e N = 3, a Precision máxima é 1/3 ≈ 0,33. Recall e F1 são os indicadores mais informativos.</a:t>
            </a:r>
            <a:endParaRPr lang="en-US" sz="1100" dirty="0"/>
          </a:p>
        </p:txBody>
      </p:sp>
      <p:sp>
        <p:nvSpPr>
          <p:cNvPr id="15" name="Text 21">
            <a:extLst>
              <a:ext uri="{FF2B5EF4-FFF2-40B4-BE49-F238E27FC236}">
                <a16:creationId xmlns:a16="http://schemas.microsoft.com/office/drawing/2014/main" id="{7FF114B2-0916-452C-B0E9-4946E1497CFE}"/>
              </a:ext>
            </a:extLst>
          </p:cNvPr>
          <p:cNvSpPr/>
          <p:nvPr/>
        </p:nvSpPr>
        <p:spPr>
          <a:xfrm>
            <a:off x="594360" y="982980"/>
            <a:ext cx="813816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Peffers et al. (2007) — pesquisa aplicada, quantitativa, exploratória-descritiva; estudo de caso (Yin, 2015).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DESENVOLVIMENTO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O artefato: arquitetura em camadas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6" name="Text 4"/>
          <p:cNvSpPr/>
          <p:nvPr/>
        </p:nvSpPr>
        <p:spPr>
          <a:xfrm>
            <a:off x="731520" y="1481328"/>
            <a:ext cx="2103120" cy="42062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Cliente (front-end)</a:t>
            </a:r>
            <a:endParaRPr lang="en-US" sz="1150" dirty="0"/>
          </a:p>
        </p:txBody>
      </p:sp>
      <p:sp>
        <p:nvSpPr>
          <p:cNvPr id="9" name="Text 7"/>
          <p:cNvSpPr/>
          <p:nvPr/>
        </p:nvSpPr>
        <p:spPr>
          <a:xfrm>
            <a:off x="731520" y="2112264"/>
            <a:ext cx="2103120" cy="42062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API REST (Express)</a:t>
            </a:r>
            <a:endParaRPr lang="en-US" sz="1150" dirty="0"/>
          </a:p>
        </p:txBody>
      </p:sp>
      <p:sp>
        <p:nvSpPr>
          <p:cNvPr id="12" name="Text 10"/>
          <p:cNvSpPr/>
          <p:nvPr/>
        </p:nvSpPr>
        <p:spPr>
          <a:xfrm>
            <a:off x="731520" y="2743200"/>
            <a:ext cx="2103120" cy="420624"/>
          </a:xfrm>
          <a:prstGeom prst="rect">
            <a:avLst/>
          </a:prstGeom>
          <a:noFill/>
          <a:ln/>
        </p:spPr>
        <p:txBody>
          <a:bodyPr wrap="square" lIns="0" tIns="0" rIns="0" bIns="0" rtlCol="0" anchor="ctr"/>
          <a:lstStyle/>
          <a:p>
            <a:pPr marL="0" indent="0">
              <a:buNone/>
            </a:pPr>
            <a:r>
              <a:rPr lang="en-US" sz="1150" b="1" dirty="0">
                <a:solidFill>
                  <a:srgbClr val="C9962E"/>
                </a:solidFill>
                <a:latin typeface="Calibri" pitchFamily="34" charset="0"/>
                <a:ea typeface="Calibri" pitchFamily="34" charset="-122"/>
                <a:cs typeface="Calibri" pitchFamily="34" charset="-120"/>
              </a:rPr>
              <a:t>Serviços (lógica de negócio)</a:t>
            </a:r>
            <a:endParaRPr lang="en-US" sz="1150" dirty="0"/>
          </a:p>
        </p:txBody>
      </p:sp>
      <p:sp>
        <p:nvSpPr>
          <p:cNvPr id="15" name="Text 13"/>
          <p:cNvSpPr/>
          <p:nvPr/>
        </p:nvSpPr>
        <p:spPr>
          <a:xfrm>
            <a:off x="731520" y="3374136"/>
            <a:ext cx="2103120" cy="42062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Camada de dados (Models)</a:t>
            </a:r>
            <a:endParaRPr lang="en-US" sz="1150" dirty="0"/>
          </a:p>
        </p:txBody>
      </p:sp>
      <p:sp>
        <p:nvSpPr>
          <p:cNvPr id="18" name="Text 16"/>
          <p:cNvSpPr/>
          <p:nvPr/>
        </p:nvSpPr>
        <p:spPr>
          <a:xfrm>
            <a:off x="731520" y="4005072"/>
            <a:ext cx="2103120" cy="42062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Banco (Supabase/PostgreSQL)</a:t>
            </a:r>
            <a:endParaRPr lang="en-US" sz="1150" dirty="0"/>
          </a:p>
        </p:txBody>
      </p:sp>
      <p:sp>
        <p:nvSpPr>
          <p:cNvPr id="19" name="Text 17"/>
          <p:cNvSpPr/>
          <p:nvPr/>
        </p:nvSpPr>
        <p:spPr>
          <a:xfrm>
            <a:off x="2880360" y="4005072"/>
            <a:ext cx="2697480" cy="420624"/>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Tabelas qb_clientes, qb_produtos, qb_vendas, qb_itens_venda + RLS</a:t>
            </a:r>
            <a:endParaRPr lang="en-US" sz="950" dirty="0"/>
          </a:p>
        </p:txBody>
      </p:sp>
      <p:sp>
        <p:nvSpPr>
          <p:cNvPr id="24" name="Shape 21"/>
          <p:cNvSpPr/>
          <p:nvPr/>
        </p:nvSpPr>
        <p:spPr>
          <a:xfrm>
            <a:off x="5989320" y="1709223"/>
            <a:ext cx="420624" cy="420624"/>
          </a:xfrm>
          <a:prstGeom prst="ellipse">
            <a:avLst/>
          </a:prstGeom>
          <a:solidFill>
            <a:srgbClr val="F5EBD3"/>
          </a:solidFill>
          <a:ln/>
        </p:spPr>
      </p:sp>
      <p:pic>
        <p:nvPicPr>
          <p:cNvPr id="25" name="Image 1" descr="preencoded.png"/>
          <p:cNvPicPr>
            <a:picLocks noChangeAspect="1"/>
          </p:cNvPicPr>
          <p:nvPr/>
        </p:nvPicPr>
        <p:blipFill>
          <a:blip r:embed="rId3"/>
          <a:stretch>
            <a:fillRect/>
          </a:stretch>
        </p:blipFill>
        <p:spPr>
          <a:xfrm>
            <a:off x="6094476" y="1814379"/>
            <a:ext cx="210312" cy="210312"/>
          </a:xfrm>
          <a:prstGeom prst="rect">
            <a:avLst/>
          </a:prstGeom>
        </p:spPr>
      </p:pic>
      <p:sp>
        <p:nvSpPr>
          <p:cNvPr id="26" name="Text 22"/>
          <p:cNvSpPr/>
          <p:nvPr/>
        </p:nvSpPr>
        <p:spPr>
          <a:xfrm>
            <a:off x="6556248" y="1681791"/>
            <a:ext cx="208483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Baixo custo</a:t>
            </a:r>
            <a:endParaRPr lang="en-US" sz="1400" dirty="0"/>
          </a:p>
        </p:txBody>
      </p:sp>
      <p:sp>
        <p:nvSpPr>
          <p:cNvPr id="27" name="Text 23"/>
          <p:cNvSpPr/>
          <p:nvPr/>
        </p:nvSpPr>
        <p:spPr>
          <a:xfrm>
            <a:off x="6556248" y="1956111"/>
            <a:ext cx="2084832" cy="7772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Camada gratuita do Supabase via PostgREST; sem servidor próprio nem Big Data.</a:t>
            </a:r>
            <a:endParaRPr lang="en-US" sz="1200" dirty="0"/>
          </a:p>
        </p:txBody>
      </p:sp>
      <p:sp>
        <p:nvSpPr>
          <p:cNvPr id="28" name="Shape 24"/>
          <p:cNvSpPr/>
          <p:nvPr/>
        </p:nvSpPr>
        <p:spPr>
          <a:xfrm>
            <a:off x="5989320" y="2806503"/>
            <a:ext cx="420624" cy="420624"/>
          </a:xfrm>
          <a:prstGeom prst="ellipse">
            <a:avLst/>
          </a:prstGeom>
          <a:solidFill>
            <a:srgbClr val="F5EBD3"/>
          </a:solidFill>
          <a:ln/>
        </p:spPr>
      </p:sp>
      <p:pic>
        <p:nvPicPr>
          <p:cNvPr id="29" name="Image 2" descr="preencoded.png"/>
          <p:cNvPicPr>
            <a:picLocks noChangeAspect="1"/>
          </p:cNvPicPr>
          <p:nvPr/>
        </p:nvPicPr>
        <p:blipFill>
          <a:blip r:embed="rId4"/>
          <a:stretch>
            <a:fillRect/>
          </a:stretch>
        </p:blipFill>
        <p:spPr>
          <a:xfrm>
            <a:off x="6094476" y="2911659"/>
            <a:ext cx="210312" cy="210312"/>
          </a:xfrm>
          <a:prstGeom prst="rect">
            <a:avLst/>
          </a:prstGeom>
        </p:spPr>
      </p:pic>
      <p:sp>
        <p:nvSpPr>
          <p:cNvPr id="30" name="Text 25"/>
          <p:cNvSpPr/>
          <p:nvPr/>
        </p:nvSpPr>
        <p:spPr>
          <a:xfrm>
            <a:off x="6556248" y="2779071"/>
            <a:ext cx="208483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Degradação graceful</a:t>
            </a:r>
            <a:endParaRPr lang="en-US" sz="1400" dirty="0"/>
          </a:p>
        </p:txBody>
      </p:sp>
      <p:sp>
        <p:nvSpPr>
          <p:cNvPr id="31" name="Text 26"/>
          <p:cNvSpPr/>
          <p:nvPr/>
        </p:nvSpPr>
        <p:spPr>
          <a:xfrm>
            <a:off x="6556248" y="3053391"/>
            <a:ext cx="2084832" cy="7772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Sem Redis, o sistema recalcula a cada requisição: perde desempenho, nunca exatidão.</a:t>
            </a:r>
            <a:endParaRPr lang="en-US" sz="1200" dirty="0"/>
          </a:p>
        </p:txBody>
      </p:sp>
      <p:pic>
        <p:nvPicPr>
          <p:cNvPr id="32" name="Picture 8" descr="figura1-arquitetura.png">
            <a:extLst>
              <a:ext uri="{FF2B5EF4-FFF2-40B4-BE49-F238E27FC236}">
                <a16:creationId xmlns:a16="http://schemas.microsoft.com/office/drawing/2014/main" id="{3A553012-2DD5-46ED-86A4-7D9D59059327}"/>
              </a:ext>
            </a:extLst>
          </p:cNvPr>
          <p:cNvPicPr>
            <a:picLocks noChangeAspect="1"/>
          </p:cNvPicPr>
          <p:nvPr/>
        </p:nvPicPr>
        <p:blipFill>
          <a:blip r:embed="rId5"/>
          <a:stretch>
            <a:fillRect/>
          </a:stretch>
        </p:blipFill>
        <p:spPr>
          <a:xfrm>
            <a:off x="454336" y="1038889"/>
            <a:ext cx="4762492" cy="35092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2" name="Shape 3">
            <a:extLst>
              <a:ext uri="{FF2B5EF4-FFF2-40B4-BE49-F238E27FC236}">
                <a16:creationId xmlns:a16="http://schemas.microsoft.com/office/drawing/2014/main" id="{C8B2A966-12EB-4504-87E4-8D12F3CA034E}"/>
              </a:ext>
            </a:extLst>
          </p:cNvPr>
          <p:cNvSpPr/>
          <p:nvPr/>
        </p:nvSpPr>
        <p:spPr>
          <a:xfrm>
            <a:off x="7348260" y="2307056"/>
            <a:ext cx="1464446" cy="1211581"/>
          </a:xfrm>
          <a:prstGeom prst="roundRect">
            <a:avLst>
              <a:gd name="adj" fmla="val 5217"/>
            </a:avLst>
          </a:prstGeom>
          <a:solidFill>
            <a:srgbClr val="F5F7FB"/>
          </a:solidFill>
          <a:ln/>
          <a:effectLst>
            <a:outerShdw blurRad="88900" dist="25400" dir="2700000" algn="bl" rotWithShape="0">
              <a:srgbClr val="000000">
                <a:alpha val="14000"/>
              </a:srgbClr>
            </a:outerShdw>
          </a:effectLst>
        </p:spPr>
      </p:sp>
      <p:sp>
        <p:nvSpPr>
          <p:cNvPr id="31" name="Shape 3">
            <a:extLst>
              <a:ext uri="{FF2B5EF4-FFF2-40B4-BE49-F238E27FC236}">
                <a16:creationId xmlns:a16="http://schemas.microsoft.com/office/drawing/2014/main" id="{56B22252-2775-4645-AFC3-98C041339C05}"/>
              </a:ext>
            </a:extLst>
          </p:cNvPr>
          <p:cNvSpPr/>
          <p:nvPr/>
        </p:nvSpPr>
        <p:spPr>
          <a:xfrm>
            <a:off x="3914337" y="2329960"/>
            <a:ext cx="1502646" cy="1200326"/>
          </a:xfrm>
          <a:prstGeom prst="roundRect">
            <a:avLst>
              <a:gd name="adj" fmla="val 5217"/>
            </a:avLst>
          </a:prstGeom>
          <a:solidFill>
            <a:srgbClr val="F5F7FB"/>
          </a:solidFill>
          <a:ln/>
          <a:effectLst>
            <a:outerShdw blurRad="88900" dist="25400" dir="2700000" algn="bl" rotWithShape="0">
              <a:srgbClr val="000000">
                <a:alpha val="14000"/>
              </a:srgbClr>
            </a:outerShdw>
          </a:effectLst>
        </p:spPr>
      </p:sp>
      <p:sp>
        <p:nvSpPr>
          <p:cNvPr id="30" name="Shape 3">
            <a:extLst>
              <a:ext uri="{FF2B5EF4-FFF2-40B4-BE49-F238E27FC236}">
                <a16:creationId xmlns:a16="http://schemas.microsoft.com/office/drawing/2014/main" id="{E9A1EDD6-A731-4F38-8CF9-8A17F811F398}"/>
              </a:ext>
            </a:extLst>
          </p:cNvPr>
          <p:cNvSpPr/>
          <p:nvPr/>
        </p:nvSpPr>
        <p:spPr>
          <a:xfrm>
            <a:off x="2075823" y="2382754"/>
            <a:ext cx="1502646" cy="1165861"/>
          </a:xfrm>
          <a:prstGeom prst="roundRect">
            <a:avLst>
              <a:gd name="adj" fmla="val 5217"/>
            </a:avLst>
          </a:prstGeom>
          <a:solidFill>
            <a:srgbClr val="F5F7FB"/>
          </a:solidFill>
          <a:ln/>
          <a:effectLst>
            <a:outerShdw blurRad="88900" dist="25400" dir="2700000" algn="bl" rotWithShape="0">
              <a:srgbClr val="000000">
                <a:alpha val="14000"/>
              </a:srgbClr>
            </a:outerShdw>
          </a:effectLst>
        </p:spPr>
      </p:sp>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DESENVOLVIMENTO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Algoritmo e decisões de projeto</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221566" y="2364425"/>
            <a:ext cx="1502646" cy="1165861"/>
          </a:xfrm>
          <a:prstGeom prst="roundRect">
            <a:avLst>
              <a:gd name="adj" fmla="val 5217"/>
            </a:avLst>
          </a:prstGeom>
          <a:solidFill>
            <a:srgbClr val="F5F7FB"/>
          </a:solidFill>
          <a:ln/>
          <a:effectLst>
            <a:outerShdw blurRad="88900" dist="25400" dir="2700000" algn="bl" rotWithShape="0">
              <a:srgbClr val="000000">
                <a:alpha val="14000"/>
              </a:srgbClr>
            </a:outerShdw>
          </a:effectLst>
        </p:spPr>
      </p:sp>
      <p:sp>
        <p:nvSpPr>
          <p:cNvPr id="6" name="Text 4"/>
          <p:cNvSpPr/>
          <p:nvPr/>
        </p:nvSpPr>
        <p:spPr>
          <a:xfrm>
            <a:off x="331294" y="2474154"/>
            <a:ext cx="1316736"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Cestas</a:t>
            </a:r>
            <a:endParaRPr lang="en-US" sz="1200" dirty="0"/>
          </a:p>
        </p:txBody>
      </p:sp>
      <p:sp>
        <p:nvSpPr>
          <p:cNvPr id="7" name="Text 5"/>
          <p:cNvSpPr/>
          <p:nvPr/>
        </p:nvSpPr>
        <p:spPr>
          <a:xfrm>
            <a:off x="331294" y="2748474"/>
            <a:ext cx="1316736" cy="621792"/>
          </a:xfrm>
          <a:prstGeom prst="rect">
            <a:avLst/>
          </a:prstGeom>
          <a:noFill/>
          <a:ln/>
        </p:spPr>
        <p:txBody>
          <a:bodyPr wrap="square" lIns="0" tIns="0" rIns="0" bIns="0" rtlCol="0" anchor="t"/>
          <a:lstStyle/>
          <a:p>
            <a:pPr marL="0" indent="0">
              <a:buNone/>
            </a:pPr>
            <a:r>
              <a:rPr lang="en-US" sz="950" dirty="0">
                <a:solidFill>
                  <a:srgbClr val="2B2F36"/>
                </a:solidFill>
                <a:latin typeface="Calibri" pitchFamily="34" charset="0"/>
                <a:ea typeface="Calibri" pitchFamily="34" charset="-122"/>
                <a:cs typeface="Calibri" pitchFamily="34" charset="-120"/>
              </a:rPr>
              <a:t>Transações agrupadas por pedido</a:t>
            </a:r>
            <a:endParaRPr lang="en-US" sz="950" dirty="0"/>
          </a:p>
        </p:txBody>
      </p:sp>
      <p:sp>
        <p:nvSpPr>
          <p:cNvPr id="9" name="Text 7"/>
          <p:cNvSpPr/>
          <p:nvPr/>
        </p:nvSpPr>
        <p:spPr>
          <a:xfrm>
            <a:off x="2191750" y="2446287"/>
            <a:ext cx="1316736"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Pares A ⇒ B</a:t>
            </a:r>
            <a:endParaRPr lang="en-US" sz="1200" dirty="0"/>
          </a:p>
        </p:txBody>
      </p:sp>
      <p:sp>
        <p:nvSpPr>
          <p:cNvPr id="10" name="Text 8"/>
          <p:cNvSpPr/>
          <p:nvPr/>
        </p:nvSpPr>
        <p:spPr>
          <a:xfrm>
            <a:off x="2097270" y="2710801"/>
            <a:ext cx="1316736" cy="621792"/>
          </a:xfrm>
          <a:prstGeom prst="rect">
            <a:avLst/>
          </a:prstGeom>
          <a:noFill/>
          <a:ln/>
        </p:spPr>
        <p:txBody>
          <a:bodyPr wrap="square" lIns="0" tIns="0" rIns="0" bIns="0" rtlCol="0" anchor="t"/>
          <a:lstStyle/>
          <a:p>
            <a:pPr marL="0" indent="0">
              <a:buNone/>
            </a:pPr>
            <a:r>
              <a:rPr lang="en-US" sz="950" dirty="0">
                <a:solidFill>
                  <a:srgbClr val="2B2F36"/>
                </a:solidFill>
                <a:latin typeface="Calibri" pitchFamily="34" charset="0"/>
                <a:ea typeface="Calibri" pitchFamily="34" charset="-122"/>
                <a:cs typeface="Calibri" pitchFamily="34" charset="-120"/>
              </a:rPr>
              <a:t>Conta cestas com A, com B e com A∩B</a:t>
            </a:r>
            <a:endParaRPr lang="en-US" sz="950" dirty="0"/>
          </a:p>
        </p:txBody>
      </p:sp>
      <p:sp>
        <p:nvSpPr>
          <p:cNvPr id="12" name="Text 10"/>
          <p:cNvSpPr/>
          <p:nvPr/>
        </p:nvSpPr>
        <p:spPr>
          <a:xfrm>
            <a:off x="4008237" y="2445316"/>
            <a:ext cx="1316736"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Métricas</a:t>
            </a:r>
            <a:endParaRPr lang="en-US" sz="1200" dirty="0"/>
          </a:p>
        </p:txBody>
      </p:sp>
      <p:sp>
        <p:nvSpPr>
          <p:cNvPr id="13" name="Text 11"/>
          <p:cNvSpPr/>
          <p:nvPr/>
        </p:nvSpPr>
        <p:spPr>
          <a:xfrm>
            <a:off x="4008237" y="2710801"/>
            <a:ext cx="1316736" cy="274320"/>
          </a:xfrm>
          <a:prstGeom prst="rect">
            <a:avLst/>
          </a:prstGeom>
          <a:noFill/>
          <a:ln/>
        </p:spPr>
        <p:txBody>
          <a:bodyPr wrap="square" lIns="0" tIns="0" rIns="0" bIns="0" rtlCol="0" anchor="t"/>
          <a:lstStyle/>
          <a:p>
            <a:pPr marL="0" indent="0">
              <a:buNone/>
            </a:pPr>
            <a:r>
              <a:rPr lang="en-US" sz="950" dirty="0">
                <a:solidFill>
                  <a:srgbClr val="2B2F36"/>
                </a:solidFill>
                <a:latin typeface="Calibri" pitchFamily="34" charset="0"/>
                <a:ea typeface="Calibri" pitchFamily="34" charset="-122"/>
                <a:cs typeface="Calibri" pitchFamily="34" charset="-120"/>
              </a:rPr>
              <a:t>Suporte, confiança e lift por par</a:t>
            </a:r>
            <a:endParaRPr lang="en-US" sz="950" dirty="0"/>
          </a:p>
        </p:txBody>
      </p:sp>
      <p:sp>
        <p:nvSpPr>
          <p:cNvPr id="14" name="Shape 12"/>
          <p:cNvSpPr/>
          <p:nvPr/>
        </p:nvSpPr>
        <p:spPr>
          <a:xfrm>
            <a:off x="5564693" y="2307056"/>
            <a:ext cx="1636776" cy="1211581"/>
          </a:xfrm>
          <a:prstGeom prst="roundRect">
            <a:avLst>
              <a:gd name="adj" fmla="val 5217"/>
            </a:avLst>
          </a:prstGeom>
          <a:solidFill>
            <a:srgbClr val="F5EBD3"/>
          </a:solidFill>
          <a:ln/>
          <a:effectLst>
            <a:outerShdw blurRad="88900" dist="25400" dir="2700000" algn="bl" rotWithShape="0">
              <a:srgbClr val="000000">
                <a:alpha val="14000"/>
              </a:srgbClr>
            </a:outerShdw>
          </a:effectLst>
        </p:spPr>
      </p:sp>
      <p:sp>
        <p:nvSpPr>
          <p:cNvPr id="15" name="Text 13"/>
          <p:cNvSpPr/>
          <p:nvPr/>
        </p:nvSpPr>
        <p:spPr>
          <a:xfrm>
            <a:off x="5717680" y="2457892"/>
            <a:ext cx="1316736"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Filtro</a:t>
            </a:r>
            <a:endParaRPr lang="en-US" sz="1200" dirty="0"/>
          </a:p>
        </p:txBody>
      </p:sp>
      <p:sp>
        <p:nvSpPr>
          <p:cNvPr id="16" name="Text 14"/>
          <p:cNvSpPr/>
          <p:nvPr/>
        </p:nvSpPr>
        <p:spPr>
          <a:xfrm>
            <a:off x="5717680" y="2697041"/>
            <a:ext cx="1316736" cy="621792"/>
          </a:xfrm>
          <a:prstGeom prst="rect">
            <a:avLst/>
          </a:prstGeom>
          <a:noFill/>
          <a:ln/>
        </p:spPr>
        <p:txBody>
          <a:bodyPr wrap="square" lIns="0" tIns="0" rIns="0" bIns="0" rtlCol="0" anchor="t"/>
          <a:lstStyle/>
          <a:p>
            <a:pPr marL="0" indent="0">
              <a:buNone/>
            </a:pPr>
            <a:r>
              <a:rPr lang="en-US" sz="950" dirty="0">
                <a:solidFill>
                  <a:srgbClr val="2B2F36"/>
                </a:solidFill>
                <a:latin typeface="Calibri" pitchFamily="34" charset="0"/>
                <a:ea typeface="Calibri" pitchFamily="34" charset="-122"/>
                <a:cs typeface="Calibri" pitchFamily="34" charset="-120"/>
              </a:rPr>
              <a:t>conf ≥ 0,30 • sup ≥ 0,02 • lift ≥ 1,0</a:t>
            </a:r>
            <a:endParaRPr lang="en-US" sz="950" dirty="0"/>
          </a:p>
        </p:txBody>
      </p:sp>
      <p:sp>
        <p:nvSpPr>
          <p:cNvPr id="18" name="Text 16"/>
          <p:cNvSpPr/>
          <p:nvPr/>
        </p:nvSpPr>
        <p:spPr>
          <a:xfrm>
            <a:off x="7436186" y="2502687"/>
            <a:ext cx="1316736" cy="27432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Top-N</a:t>
            </a:r>
            <a:endParaRPr lang="en-US" sz="1200" dirty="0"/>
          </a:p>
        </p:txBody>
      </p:sp>
      <p:sp>
        <p:nvSpPr>
          <p:cNvPr id="19" name="Text 17"/>
          <p:cNvSpPr/>
          <p:nvPr/>
        </p:nvSpPr>
        <p:spPr>
          <a:xfrm>
            <a:off x="7422115" y="2817539"/>
            <a:ext cx="1316736" cy="621792"/>
          </a:xfrm>
          <a:prstGeom prst="rect">
            <a:avLst/>
          </a:prstGeom>
          <a:noFill/>
          <a:ln/>
        </p:spPr>
        <p:txBody>
          <a:bodyPr wrap="square" lIns="0" tIns="0" rIns="0" bIns="0" rtlCol="0" anchor="t"/>
          <a:lstStyle/>
          <a:p>
            <a:pPr marL="0" indent="0">
              <a:buNone/>
            </a:pPr>
            <a:r>
              <a:rPr lang="en-US" sz="950" dirty="0">
                <a:solidFill>
                  <a:srgbClr val="2B2F36"/>
                </a:solidFill>
                <a:latin typeface="Calibri" pitchFamily="34" charset="0"/>
                <a:ea typeface="Calibri" pitchFamily="34" charset="-122"/>
                <a:cs typeface="Calibri" pitchFamily="34" charset="-120"/>
              </a:rPr>
              <a:t>N = 3 sugestões, ordenadas por confiança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RESULTADOS</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Conjunto de dados e regras descobertas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371600"/>
            <a:ext cx="1920240" cy="1234440"/>
          </a:xfrm>
          <a:prstGeom prst="roundRect">
            <a:avLst>
              <a:gd name="adj" fmla="val 5185"/>
            </a:avLst>
          </a:prstGeom>
          <a:solidFill>
            <a:srgbClr val="F5F7FB"/>
          </a:solidFill>
          <a:ln/>
          <a:effectLst>
            <a:outerShdw blurRad="88900" dist="25400" dir="2700000" algn="bl" rotWithShape="0">
              <a:srgbClr val="000000">
                <a:alpha val="14000"/>
              </a:srgbClr>
            </a:outerShdw>
          </a:effectLst>
        </p:spPr>
      </p:sp>
      <p:sp>
        <p:nvSpPr>
          <p:cNvPr id="6" name="Text 4"/>
          <p:cNvSpPr/>
          <p:nvPr/>
        </p:nvSpPr>
        <p:spPr>
          <a:xfrm>
            <a:off x="502920" y="1481328"/>
            <a:ext cx="1920240" cy="641909"/>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30</a:t>
            </a:r>
            <a:endParaRPr lang="en-US" sz="3400" dirty="0"/>
          </a:p>
        </p:txBody>
      </p:sp>
      <p:sp>
        <p:nvSpPr>
          <p:cNvPr id="7" name="Text 5"/>
          <p:cNvSpPr/>
          <p:nvPr/>
        </p:nvSpPr>
        <p:spPr>
          <a:xfrm>
            <a:off x="594360" y="2039112"/>
            <a:ext cx="1737360" cy="5029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transações (cestas)</a:t>
            </a:r>
            <a:endParaRPr lang="en-US" sz="1050" dirty="0"/>
          </a:p>
          <a:p>
            <a:pPr marL="0" indent="0" algn="ctr">
              <a:buNone/>
            </a:pPr>
            <a:r>
              <a:rPr lang="en-US" sz="1050" dirty="0">
                <a:solidFill>
                  <a:srgbClr val="6B7280"/>
                </a:solidFill>
                <a:latin typeface="Calibri" pitchFamily="34" charset="0"/>
                <a:ea typeface="Calibri" pitchFamily="34" charset="-122"/>
                <a:cs typeface="Calibri" pitchFamily="34" charset="-120"/>
              </a:rPr>
              <a:t>29 produtos • 26 clientes</a:t>
            </a:r>
            <a:endParaRPr lang="en-US" sz="1050" dirty="0"/>
          </a:p>
        </p:txBody>
      </p:sp>
      <p:sp>
        <p:nvSpPr>
          <p:cNvPr id="8" name="Shape 6"/>
          <p:cNvSpPr/>
          <p:nvPr/>
        </p:nvSpPr>
        <p:spPr>
          <a:xfrm>
            <a:off x="2560320" y="1371600"/>
            <a:ext cx="1920240" cy="1234440"/>
          </a:xfrm>
          <a:prstGeom prst="roundRect">
            <a:avLst>
              <a:gd name="adj" fmla="val 5185"/>
            </a:avLst>
          </a:prstGeom>
          <a:solidFill>
            <a:srgbClr val="F5F7FB"/>
          </a:solidFill>
          <a:ln/>
          <a:effectLst>
            <a:outerShdw blurRad="88900" dist="25400" dir="2700000" algn="bl" rotWithShape="0">
              <a:srgbClr val="000000">
                <a:alpha val="14000"/>
              </a:srgbClr>
            </a:outerShdw>
          </a:effectLst>
        </p:spPr>
      </p:sp>
      <p:sp>
        <p:nvSpPr>
          <p:cNvPr id="9" name="Text 7"/>
          <p:cNvSpPr/>
          <p:nvPr/>
        </p:nvSpPr>
        <p:spPr>
          <a:xfrm>
            <a:off x="2560320" y="1481328"/>
            <a:ext cx="1920240" cy="641909"/>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14</a:t>
            </a:r>
            <a:endParaRPr lang="en-US" sz="3400" dirty="0"/>
          </a:p>
        </p:txBody>
      </p:sp>
      <p:sp>
        <p:nvSpPr>
          <p:cNvPr id="10" name="Text 8"/>
          <p:cNvSpPr/>
          <p:nvPr/>
        </p:nvSpPr>
        <p:spPr>
          <a:xfrm>
            <a:off x="2651760" y="2039112"/>
            <a:ext cx="1737360" cy="5029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cestas multi-item</a:t>
            </a:r>
            <a:endParaRPr lang="en-US" sz="1050" dirty="0"/>
          </a:p>
          <a:p>
            <a:pPr marL="0" indent="0" algn="ctr">
              <a:buNone/>
            </a:pPr>
            <a:r>
              <a:rPr lang="en-US" sz="1050" dirty="0">
                <a:solidFill>
                  <a:srgbClr val="6B7280"/>
                </a:solidFill>
                <a:latin typeface="Calibri" pitchFamily="34" charset="0"/>
                <a:ea typeface="Calibri" pitchFamily="34" charset="-122"/>
                <a:cs typeface="Calibri" pitchFamily="34" charset="-120"/>
              </a:rPr>
              <a:t>(k ≥ 2) avaliáveis</a:t>
            </a:r>
            <a:endParaRPr lang="en-US" sz="1050" dirty="0"/>
          </a:p>
        </p:txBody>
      </p:sp>
      <p:sp>
        <p:nvSpPr>
          <p:cNvPr id="11" name="Shape 9"/>
          <p:cNvSpPr/>
          <p:nvPr/>
        </p:nvSpPr>
        <p:spPr>
          <a:xfrm>
            <a:off x="4617720" y="1371600"/>
            <a:ext cx="1920240" cy="1234440"/>
          </a:xfrm>
          <a:prstGeom prst="roundRect">
            <a:avLst>
              <a:gd name="adj" fmla="val 5185"/>
            </a:avLst>
          </a:prstGeom>
          <a:solidFill>
            <a:srgbClr val="F5F7FB"/>
          </a:solidFill>
          <a:ln/>
          <a:effectLst>
            <a:outerShdw blurRad="88900" dist="25400" dir="2700000" algn="bl" rotWithShape="0">
              <a:srgbClr val="000000">
                <a:alpha val="14000"/>
              </a:srgbClr>
            </a:outerShdw>
          </a:effectLst>
        </p:spPr>
      </p:sp>
      <p:sp>
        <p:nvSpPr>
          <p:cNvPr id="12" name="Text 10"/>
          <p:cNvSpPr/>
          <p:nvPr/>
        </p:nvSpPr>
        <p:spPr>
          <a:xfrm>
            <a:off x="4617720" y="1481328"/>
            <a:ext cx="1920240" cy="641909"/>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44</a:t>
            </a:r>
            <a:endParaRPr lang="en-US" sz="3400" dirty="0"/>
          </a:p>
        </p:txBody>
      </p:sp>
      <p:sp>
        <p:nvSpPr>
          <p:cNvPr id="13" name="Text 11"/>
          <p:cNvSpPr/>
          <p:nvPr/>
        </p:nvSpPr>
        <p:spPr>
          <a:xfrm>
            <a:off x="4709160" y="2039112"/>
            <a:ext cx="1737360" cy="5029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regras A ⇒ B</a:t>
            </a:r>
            <a:endParaRPr lang="en-US" sz="1050" dirty="0"/>
          </a:p>
          <a:p>
            <a:pPr marL="0" indent="0" algn="ctr">
              <a:buNone/>
            </a:pPr>
            <a:r>
              <a:rPr lang="en-US" sz="1050" dirty="0">
                <a:solidFill>
                  <a:srgbClr val="6B7280"/>
                </a:solidFill>
                <a:latin typeface="Calibri" pitchFamily="34" charset="0"/>
                <a:ea typeface="Calibri" pitchFamily="34" charset="-122"/>
                <a:cs typeface="Calibri" pitchFamily="34" charset="-120"/>
              </a:rPr>
              <a:t>descobertas</a:t>
            </a:r>
            <a:endParaRPr lang="en-US" sz="1050" dirty="0"/>
          </a:p>
        </p:txBody>
      </p:sp>
      <p:sp>
        <p:nvSpPr>
          <p:cNvPr id="14" name="Shape 12"/>
          <p:cNvSpPr/>
          <p:nvPr/>
        </p:nvSpPr>
        <p:spPr>
          <a:xfrm>
            <a:off x="6675120" y="1371600"/>
            <a:ext cx="1965960" cy="1234440"/>
          </a:xfrm>
          <a:prstGeom prst="roundRect">
            <a:avLst>
              <a:gd name="adj" fmla="val 5185"/>
            </a:avLst>
          </a:prstGeom>
          <a:solidFill>
            <a:srgbClr val="F5F7FB"/>
          </a:solidFill>
          <a:ln/>
          <a:effectLst>
            <a:outerShdw blurRad="88900" dist="25400" dir="2700000" algn="bl" rotWithShape="0">
              <a:srgbClr val="000000">
                <a:alpha val="14000"/>
              </a:srgbClr>
            </a:outerShdw>
          </a:effectLst>
        </p:spPr>
      </p:sp>
      <p:sp>
        <p:nvSpPr>
          <p:cNvPr id="15" name="Text 13"/>
          <p:cNvSpPr/>
          <p:nvPr/>
        </p:nvSpPr>
        <p:spPr>
          <a:xfrm>
            <a:off x="6675120" y="1481328"/>
            <a:ext cx="1965960" cy="641909"/>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12,4</a:t>
            </a:r>
            <a:endParaRPr lang="en-US" sz="3400" dirty="0"/>
          </a:p>
        </p:txBody>
      </p:sp>
      <p:sp>
        <p:nvSpPr>
          <p:cNvPr id="16" name="Text 14"/>
          <p:cNvSpPr/>
          <p:nvPr/>
        </p:nvSpPr>
        <p:spPr>
          <a:xfrm>
            <a:off x="6766560" y="2039112"/>
            <a:ext cx="1783080" cy="5029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lift médio</a:t>
            </a:r>
            <a:endParaRPr lang="en-US" sz="1050" dirty="0"/>
          </a:p>
          <a:p>
            <a:pPr marL="0" indent="0" algn="ctr">
              <a:buNone/>
            </a:pPr>
            <a:r>
              <a:rPr lang="en-US" sz="1050" dirty="0">
                <a:solidFill>
                  <a:srgbClr val="6B7280"/>
                </a:solidFill>
                <a:latin typeface="Calibri" pitchFamily="34" charset="0"/>
                <a:ea typeface="Calibri" pitchFamily="34" charset="-122"/>
                <a:cs typeface="Calibri" pitchFamily="34" charset="-120"/>
              </a:rPr>
              <a:t>(conf. média 76,5%)</a:t>
            </a:r>
            <a:endParaRPr lang="en-US" sz="1050" dirty="0"/>
          </a:p>
        </p:txBody>
      </p:sp>
      <p:sp>
        <p:nvSpPr>
          <p:cNvPr id="17" name="Text 15"/>
          <p:cNvSpPr/>
          <p:nvPr/>
        </p:nvSpPr>
        <p:spPr>
          <a:xfrm>
            <a:off x="502920" y="2788920"/>
            <a:ext cx="8138160"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Regras de maior lift (recorte)</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108960"/>
          <a:ext cx="8138160" cy="1371600"/>
        </p:xfrm>
        <a:graphic>
          <a:graphicData uri="http://schemas.openxmlformats.org/drawingml/2006/table">
            <a:tbl>
              <a:tblPr/>
              <a:tblGrid>
                <a:gridCol w="55778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7432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Antecedente ⇒ Consequente</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Conf.</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Sup.</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Lift</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buNone/>
                      </a:pPr>
                      <a:r>
                        <a:rPr lang="en-US" sz="1050" dirty="0">
                          <a:solidFill>
                            <a:srgbClr val="2B2F36"/>
                          </a:solidFill>
                          <a:latin typeface="Calibri" pitchFamily="34" charset="0"/>
                          <a:ea typeface="Calibri" pitchFamily="34" charset="-122"/>
                          <a:cs typeface="Calibri" pitchFamily="34" charset="-120"/>
                        </a:rPr>
                        <a:t>After Shave 100g (QOD) ⇒ Café Verde Shampoo 220ml (QOD)</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0,033</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9962E"/>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050" dirty="0">
                          <a:solidFill>
                            <a:srgbClr val="2B2F36"/>
                          </a:solidFill>
                          <a:latin typeface="Calibri" pitchFamily="34" charset="0"/>
                          <a:ea typeface="Calibri" pitchFamily="34" charset="-122"/>
                          <a:cs typeface="Calibri" pitchFamily="34" charset="-120"/>
                        </a:rPr>
                        <a:t>Silver Boost Shampoo (QOD) ⇒ Bálsamo Fortalecedor de Barba (QOD)</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0,033</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9962E"/>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050" dirty="0">
                          <a:solidFill>
                            <a:srgbClr val="2B2F36"/>
                          </a:solidFill>
                          <a:latin typeface="Calibri" pitchFamily="34" charset="0"/>
                          <a:ea typeface="Calibri" pitchFamily="34" charset="-122"/>
                          <a:cs typeface="Calibri" pitchFamily="34" charset="-120"/>
                        </a:rPr>
                        <a:t>Shampoo p/ Barba (Fox) ⇒ Óleo p/ Barba Spray (Fox)</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0,067</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9962E"/>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050" dirty="0">
                          <a:solidFill>
                            <a:srgbClr val="2B2F36"/>
                          </a:solidFill>
                          <a:latin typeface="Calibri" pitchFamily="34" charset="0"/>
                          <a:ea typeface="Calibri" pitchFamily="34" charset="-122"/>
                          <a:cs typeface="Calibri" pitchFamily="34" charset="-120"/>
                        </a:rPr>
                        <a:t>Maquiagem Capilar (Fox) ⇒ Aplicador de Fibra Capilar (Fox)</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B2F36"/>
                          </a:solidFill>
                          <a:latin typeface="Calibri" pitchFamily="34" charset="0"/>
                          <a:ea typeface="Calibri" pitchFamily="34" charset="-122"/>
                          <a:cs typeface="Calibri" pitchFamily="34" charset="-120"/>
                        </a:rPr>
                        <a:t>0,067</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C9962E"/>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45720" marR="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Text 16"/>
          <p:cNvSpPr/>
          <p:nvPr/>
        </p:nvSpPr>
        <p:spPr>
          <a:xfrm>
            <a:off x="502920" y="4519952"/>
            <a:ext cx="8138160" cy="32004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Cautela: com confiança 1,0, lift = 1/suporte(B) — os maiores lifts vêm de pares raros. Ler lift junto com suporte e com o domínio.</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RESULTADOS</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Validação LOOCV: qualidade preditiva</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graphicFrame>
        <p:nvGraphicFramePr>
          <p:cNvPr id="5" name="Chart 0"/>
          <p:cNvGraphicFramePr/>
          <p:nvPr/>
        </p:nvGraphicFramePr>
        <p:xfrm>
          <a:off x="411480" y="1371600"/>
          <a:ext cx="42976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983480" y="1463040"/>
            <a:ext cx="420624" cy="420624"/>
          </a:xfrm>
          <a:prstGeom prst="ellipse">
            <a:avLst/>
          </a:prstGeom>
          <a:solidFill>
            <a:srgbClr val="F5EBD3"/>
          </a:solidFill>
          <a:ln/>
        </p:spPr>
      </p:sp>
      <p:pic>
        <p:nvPicPr>
          <p:cNvPr id="7" name="Image 0" descr="preencoded.png"/>
          <p:cNvPicPr>
            <a:picLocks noChangeAspect="1"/>
          </p:cNvPicPr>
          <p:nvPr/>
        </p:nvPicPr>
        <p:blipFill>
          <a:blip r:embed="rId4"/>
          <a:stretch>
            <a:fillRect/>
          </a:stretch>
        </p:blipFill>
        <p:spPr>
          <a:xfrm>
            <a:off x="5088636" y="1568196"/>
            <a:ext cx="210312" cy="210312"/>
          </a:xfrm>
          <a:prstGeom prst="rect">
            <a:avLst/>
          </a:prstGeom>
        </p:spPr>
      </p:pic>
      <p:sp>
        <p:nvSpPr>
          <p:cNvPr id="8" name="Text 4"/>
          <p:cNvSpPr/>
          <p:nvPr/>
        </p:nvSpPr>
        <p:spPr>
          <a:xfrm>
            <a:off x="5550408" y="1435608"/>
            <a:ext cx="309067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Recall de 44,4%</a:t>
            </a:r>
            <a:endParaRPr lang="en-US" sz="1400" dirty="0"/>
          </a:p>
        </p:txBody>
      </p:sp>
      <p:sp>
        <p:nvSpPr>
          <p:cNvPr id="9" name="Text 5"/>
          <p:cNvSpPr/>
          <p:nvPr/>
        </p:nvSpPr>
        <p:spPr>
          <a:xfrm>
            <a:off x="5550408" y="1709928"/>
            <a:ext cx="3090672" cy="91440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Em 16 de 36 subtestes, o produto ocultado estava entre as 3 sugestões — quase metade das cestas completadas corretamente.</a:t>
            </a:r>
            <a:endParaRPr lang="en-US" sz="1200" dirty="0"/>
          </a:p>
        </p:txBody>
      </p:sp>
      <p:sp>
        <p:nvSpPr>
          <p:cNvPr id="10" name="Shape 6"/>
          <p:cNvSpPr/>
          <p:nvPr/>
        </p:nvSpPr>
        <p:spPr>
          <a:xfrm>
            <a:off x="4983480" y="2697480"/>
            <a:ext cx="420624" cy="420624"/>
          </a:xfrm>
          <a:prstGeom prst="ellipse">
            <a:avLst/>
          </a:prstGeom>
          <a:solidFill>
            <a:srgbClr val="F5EBD3"/>
          </a:solidFill>
          <a:ln/>
        </p:spPr>
      </p:sp>
      <p:pic>
        <p:nvPicPr>
          <p:cNvPr id="11" name="Image 1" descr="preencoded.png"/>
          <p:cNvPicPr>
            <a:picLocks noChangeAspect="1"/>
          </p:cNvPicPr>
          <p:nvPr/>
        </p:nvPicPr>
        <p:blipFill>
          <a:blip r:embed="rId5"/>
          <a:stretch>
            <a:fillRect/>
          </a:stretch>
        </p:blipFill>
        <p:spPr>
          <a:xfrm>
            <a:off x="5088636" y="2802636"/>
            <a:ext cx="210312" cy="210312"/>
          </a:xfrm>
          <a:prstGeom prst="rect">
            <a:avLst/>
          </a:prstGeom>
        </p:spPr>
      </p:pic>
      <p:sp>
        <p:nvSpPr>
          <p:cNvPr id="12" name="Text 7"/>
          <p:cNvSpPr/>
          <p:nvPr/>
        </p:nvSpPr>
        <p:spPr>
          <a:xfrm>
            <a:off x="5550408" y="2670048"/>
            <a:ext cx="309067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Precision no teto</a:t>
            </a:r>
            <a:endParaRPr lang="en-US" sz="1400" dirty="0"/>
          </a:p>
        </p:txBody>
      </p:sp>
      <p:sp>
        <p:nvSpPr>
          <p:cNvPr id="13" name="Text 8"/>
          <p:cNvSpPr/>
          <p:nvPr/>
        </p:nvSpPr>
        <p:spPr>
          <a:xfrm>
            <a:off x="5550408" y="2944368"/>
            <a:ext cx="3090672" cy="91440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0,264 com teto estrutural de 0,33: aritmética do desenho (1 item oculto, N = 3), não baixa qualidade das sugestões.</a:t>
            </a:r>
            <a:endParaRPr lang="en-US" sz="1200" dirty="0"/>
          </a:p>
        </p:txBody>
      </p:sp>
      <p:sp>
        <p:nvSpPr>
          <p:cNvPr id="14" name="Shape 9"/>
          <p:cNvSpPr/>
          <p:nvPr/>
        </p:nvSpPr>
        <p:spPr>
          <a:xfrm>
            <a:off x="4983480" y="3931920"/>
            <a:ext cx="420624" cy="420624"/>
          </a:xfrm>
          <a:prstGeom prst="ellipse">
            <a:avLst/>
          </a:prstGeom>
          <a:solidFill>
            <a:srgbClr val="F5EBD3"/>
          </a:solidFill>
          <a:ln/>
        </p:spPr>
      </p:sp>
      <p:pic>
        <p:nvPicPr>
          <p:cNvPr id="15" name="Image 2" descr="preencoded.png"/>
          <p:cNvPicPr>
            <a:picLocks noChangeAspect="1"/>
          </p:cNvPicPr>
          <p:nvPr/>
        </p:nvPicPr>
        <p:blipFill>
          <a:blip r:embed="rId6"/>
          <a:stretch>
            <a:fillRect/>
          </a:stretch>
        </p:blipFill>
        <p:spPr>
          <a:xfrm>
            <a:off x="5088636" y="4037076"/>
            <a:ext cx="210312" cy="210312"/>
          </a:xfrm>
          <a:prstGeom prst="rect">
            <a:avLst/>
          </a:prstGeom>
        </p:spPr>
      </p:pic>
      <p:sp>
        <p:nvSpPr>
          <p:cNvPr id="16" name="Text 10"/>
          <p:cNvSpPr/>
          <p:nvPr/>
        </p:nvSpPr>
        <p:spPr>
          <a:xfrm>
            <a:off x="5550408" y="3904488"/>
            <a:ext cx="3090672"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LOOCV ≫ holdout</a:t>
            </a:r>
            <a:endParaRPr lang="en-US" sz="1400" dirty="0"/>
          </a:p>
        </p:txBody>
      </p:sp>
      <p:sp>
        <p:nvSpPr>
          <p:cNvPr id="17" name="Text 11"/>
          <p:cNvSpPr/>
          <p:nvPr/>
        </p:nvSpPr>
        <p:spPr>
          <a:xfrm>
            <a:off x="5550408" y="4178808"/>
            <a:ext cx="3090672" cy="777240"/>
          </a:xfrm>
          <a:prstGeom prst="rect">
            <a:avLst/>
          </a:prstGeom>
          <a:noFill/>
          <a:ln/>
        </p:spPr>
        <p:txBody>
          <a:bodyPr wrap="square" lIns="0" tIns="0" rIns="0" bIns="0" rtlCol="0" anchor="t"/>
          <a:lstStyle/>
          <a:p>
            <a:pPr marL="0" indent="0">
              <a:buNone/>
            </a:pPr>
            <a:r>
              <a:rPr lang="en-US" sz="1200" dirty="0">
                <a:solidFill>
                  <a:srgbClr val="2B2F36"/>
                </a:solidFill>
                <a:latin typeface="Calibri" pitchFamily="34" charset="0"/>
                <a:ea typeface="Calibri" pitchFamily="34" charset="-122"/>
                <a:cs typeface="Calibri" pitchFamily="34" charset="-120"/>
              </a:rPr>
              <a:t>36 subtestes vs. ~3 casos avaliáveis no holdout 80/20 — estimativa muito mais robusta no mesmo conjunto.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DISCUSSÃO</a:t>
            </a:r>
            <a:endParaRPr lang="en-US" sz="1100" dirty="0"/>
          </a:p>
        </p:txBody>
      </p:sp>
      <p:sp>
        <p:nvSpPr>
          <p:cNvPr id="3" name="Text 1"/>
          <p:cNvSpPr/>
          <p:nvPr/>
        </p:nvSpPr>
        <p:spPr>
          <a:xfrm>
            <a:off x="502920" y="502920"/>
            <a:ext cx="8138160" cy="640080"/>
          </a:xfrm>
          <a:prstGeom prst="rect">
            <a:avLst/>
          </a:prstGeom>
          <a:noFill/>
          <a:ln/>
        </p:spPr>
        <p:txBody>
          <a:bodyPr wrap="square" lIns="0" tIns="0" rIns="0" bIns="0" rtlCol="0" anchor="t"/>
          <a:lstStyle/>
          <a:p>
            <a:pPr marL="0" indent="0">
              <a:buNone/>
            </a:pPr>
            <a:r>
              <a:rPr lang="en-US" sz="2700" b="1" dirty="0">
                <a:solidFill>
                  <a:srgbClr val="1B2A4A"/>
                </a:solidFill>
                <a:latin typeface="Cambria" pitchFamily="34" charset="0"/>
                <a:ea typeface="Cambria" pitchFamily="34" charset="-122"/>
                <a:cs typeface="Cambria" pitchFamily="34" charset="-120"/>
              </a:rPr>
              <a:t>Aderência ao domínio e confronto com a hipótese</a:t>
            </a:r>
            <a:endParaRPr lang="en-US" sz="2700" dirty="0"/>
          </a:p>
        </p:txBody>
      </p:sp>
      <p:sp>
        <p:nvSpPr>
          <p:cNvPr id="4" name="Text 2"/>
          <p:cNvSpPr/>
          <p:nvPr/>
        </p:nvSpPr>
        <p:spPr>
          <a:xfrm>
            <a:off x="502920" y="4777740"/>
            <a:ext cx="813816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Sistema de Recomendação B2B  •  Quasar Barber  •  IFMA Campus Caxias</a:t>
            </a:r>
            <a:endParaRPr lang="en-US" sz="900" dirty="0"/>
          </a:p>
        </p:txBody>
      </p:sp>
      <p:sp>
        <p:nvSpPr>
          <p:cNvPr id="5" name="Shape 3"/>
          <p:cNvSpPr/>
          <p:nvPr/>
        </p:nvSpPr>
        <p:spPr>
          <a:xfrm>
            <a:off x="502920" y="1371600"/>
            <a:ext cx="402336" cy="402336"/>
          </a:xfrm>
          <a:prstGeom prst="ellipse">
            <a:avLst/>
          </a:prstGeom>
          <a:solidFill>
            <a:srgbClr val="F5EBD3"/>
          </a:solidFill>
          <a:ln/>
        </p:spPr>
      </p:sp>
      <p:pic>
        <p:nvPicPr>
          <p:cNvPr id="6" name="Image 0" descr="preencoded.png"/>
          <p:cNvPicPr>
            <a:picLocks noChangeAspect="1"/>
          </p:cNvPicPr>
          <p:nvPr/>
        </p:nvPicPr>
        <p:blipFill>
          <a:blip r:embed="rId3"/>
          <a:stretch>
            <a:fillRect/>
          </a:stretch>
        </p:blipFill>
        <p:spPr>
          <a:xfrm>
            <a:off x="603504" y="1472184"/>
            <a:ext cx="201168" cy="201168"/>
          </a:xfrm>
          <a:prstGeom prst="rect">
            <a:avLst/>
          </a:prstGeom>
        </p:spPr>
      </p:pic>
      <p:sp>
        <p:nvSpPr>
          <p:cNvPr id="7" name="Text 4"/>
          <p:cNvSpPr/>
          <p:nvPr/>
        </p:nvSpPr>
        <p:spPr>
          <a:xfrm>
            <a:off x="1033272" y="1344168"/>
            <a:ext cx="3584448"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Reciprocidade funcional</a:t>
            </a:r>
            <a:endParaRPr lang="en-US" sz="1350" dirty="0"/>
          </a:p>
        </p:txBody>
      </p:sp>
      <p:sp>
        <p:nvSpPr>
          <p:cNvPr id="8" name="Text 5"/>
          <p:cNvSpPr/>
          <p:nvPr/>
        </p:nvSpPr>
        <p:spPr>
          <a:xfrm>
            <a:off x="1033272" y="1600200"/>
            <a:ext cx="3584448" cy="777240"/>
          </a:xfrm>
          <a:prstGeom prst="rect">
            <a:avLst/>
          </a:prstGeom>
          <a:noFill/>
          <a:ln/>
        </p:spPr>
        <p:txBody>
          <a:bodyPr wrap="square" lIns="0" tIns="0" rIns="0" bIns="0" rtlCol="0" anchor="t"/>
          <a:lstStyle/>
          <a:p>
            <a:pPr marL="0" indent="0">
              <a:buNone/>
            </a:pPr>
            <a:r>
              <a:rPr lang="en-US" sz="1100" dirty="0">
                <a:solidFill>
                  <a:srgbClr val="2B2F36"/>
                </a:solidFill>
                <a:latin typeface="Calibri" pitchFamily="34" charset="0"/>
                <a:ea typeface="Calibri" pitchFamily="34" charset="-122"/>
                <a:cs typeface="Calibri" pitchFamily="34" charset="-120"/>
              </a:rPr>
              <a:t>Shampoo, óleo, bálsamo e pós-barba da mesma rotina de cuidado — o que um vendedor experiente sugeriria por intuição.</a:t>
            </a:r>
            <a:endParaRPr lang="en-US" sz="1100" dirty="0"/>
          </a:p>
        </p:txBody>
      </p:sp>
      <p:sp>
        <p:nvSpPr>
          <p:cNvPr id="9" name="Shape 6"/>
          <p:cNvSpPr/>
          <p:nvPr/>
        </p:nvSpPr>
        <p:spPr>
          <a:xfrm>
            <a:off x="502920" y="2377440"/>
            <a:ext cx="402336" cy="402336"/>
          </a:xfrm>
          <a:prstGeom prst="ellipse">
            <a:avLst/>
          </a:prstGeom>
          <a:solidFill>
            <a:srgbClr val="F5EBD3"/>
          </a:solidFill>
          <a:ln/>
        </p:spPr>
      </p:sp>
      <p:pic>
        <p:nvPicPr>
          <p:cNvPr id="10" name="Image 1" descr="preencoded.png"/>
          <p:cNvPicPr>
            <a:picLocks noChangeAspect="1"/>
          </p:cNvPicPr>
          <p:nvPr/>
        </p:nvPicPr>
        <p:blipFill>
          <a:blip r:embed="rId4"/>
          <a:stretch>
            <a:fillRect/>
          </a:stretch>
        </p:blipFill>
        <p:spPr>
          <a:xfrm>
            <a:off x="603504" y="2478024"/>
            <a:ext cx="201168" cy="201168"/>
          </a:xfrm>
          <a:prstGeom prst="rect">
            <a:avLst/>
          </a:prstGeom>
        </p:spPr>
      </p:pic>
      <p:sp>
        <p:nvSpPr>
          <p:cNvPr id="11" name="Text 7"/>
          <p:cNvSpPr/>
          <p:nvPr/>
        </p:nvSpPr>
        <p:spPr>
          <a:xfrm>
            <a:off x="1033272" y="2350008"/>
            <a:ext cx="3584448" cy="27432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Coerência de marca</a:t>
            </a:r>
            <a:endParaRPr lang="en-US" sz="1350" dirty="0"/>
          </a:p>
        </p:txBody>
      </p:sp>
      <p:sp>
        <p:nvSpPr>
          <p:cNvPr id="12" name="Text 8"/>
          <p:cNvSpPr/>
          <p:nvPr/>
        </p:nvSpPr>
        <p:spPr>
          <a:xfrm>
            <a:off x="1033272" y="2606040"/>
            <a:ext cx="3584448" cy="777240"/>
          </a:xfrm>
          <a:prstGeom prst="rect">
            <a:avLst/>
          </a:prstGeom>
          <a:noFill/>
          <a:ln/>
        </p:spPr>
        <p:txBody>
          <a:bodyPr wrap="square" lIns="0" tIns="0" rIns="0" bIns="0" rtlCol="0" anchor="t"/>
          <a:lstStyle/>
          <a:p>
            <a:pPr marL="0" indent="0">
              <a:buNone/>
            </a:pPr>
            <a:r>
              <a:rPr lang="en-US" sz="1100" dirty="0">
                <a:solidFill>
                  <a:srgbClr val="2B2F36"/>
                </a:solidFill>
                <a:latin typeface="Calibri" pitchFamily="34" charset="0"/>
                <a:ea typeface="Calibri" pitchFamily="34" charset="-122"/>
                <a:cs typeface="Calibri" pitchFamily="34" charset="-120"/>
              </a:rPr>
              <a:t>Coocorrência dentro das linhas QOD e Fox For Men: barbearias padronizam fornecedores e compram kits da mesma linha.</a:t>
            </a:r>
            <a:endParaRPr lang="en-US" sz="1100" dirty="0"/>
          </a:p>
        </p:txBody>
      </p:sp>
      <p:sp>
        <p:nvSpPr>
          <p:cNvPr id="13" name="Shape 9"/>
          <p:cNvSpPr/>
          <p:nvPr/>
        </p:nvSpPr>
        <p:spPr>
          <a:xfrm>
            <a:off x="4983480" y="1371600"/>
            <a:ext cx="3657600" cy="1828800"/>
          </a:xfrm>
          <a:prstGeom prst="roundRect">
            <a:avLst>
              <a:gd name="adj" fmla="val 4000"/>
            </a:avLst>
          </a:prstGeom>
          <a:solidFill>
            <a:srgbClr val="10182B"/>
          </a:solidFill>
          <a:ln/>
          <a:effectLst>
            <a:outerShdw blurRad="88900" dist="25400" dir="2700000" algn="bl" rotWithShape="0">
              <a:srgbClr val="000000">
                <a:alpha val="14000"/>
              </a:srgbClr>
            </a:outerShdw>
          </a:effectLst>
        </p:spPr>
      </p:sp>
      <p:sp>
        <p:nvSpPr>
          <p:cNvPr id="14" name="Text 10"/>
          <p:cNvSpPr/>
          <p:nvPr/>
        </p:nvSpPr>
        <p:spPr>
          <a:xfrm>
            <a:off x="5257800" y="1554480"/>
            <a:ext cx="3108960" cy="256032"/>
          </a:xfrm>
          <a:prstGeom prst="rect">
            <a:avLst/>
          </a:prstGeom>
          <a:noFill/>
          <a:ln/>
        </p:spPr>
        <p:txBody>
          <a:bodyPr wrap="square" lIns="0" tIns="0" rIns="0" bIns="0" rtlCol="0" anchor="ctr"/>
          <a:lstStyle/>
          <a:p>
            <a:pPr marL="0" indent="0">
              <a:buNone/>
            </a:pPr>
            <a:r>
              <a:rPr lang="en-US" sz="1050" b="1" kern="0" spc="200" dirty="0">
                <a:solidFill>
                  <a:srgbClr val="C9962E"/>
                </a:solidFill>
                <a:latin typeface="Calibri" pitchFamily="34" charset="0"/>
                <a:ea typeface="Calibri" pitchFamily="34" charset="-122"/>
                <a:cs typeface="Calibri" pitchFamily="34" charset="-120"/>
              </a:rPr>
              <a:t>CONFRONTO COM AS HIPÓTESES</a:t>
            </a:r>
            <a:endParaRPr lang="en-US" sz="1050" dirty="0"/>
          </a:p>
        </p:txBody>
      </p:sp>
      <p:sp>
        <p:nvSpPr>
          <p:cNvPr id="15" name="Text 11"/>
          <p:cNvSpPr/>
          <p:nvPr/>
        </p:nvSpPr>
        <p:spPr>
          <a:xfrm>
            <a:off x="5257800" y="1874520"/>
            <a:ext cx="3108960" cy="594360"/>
          </a:xfrm>
          <a:prstGeom prst="rect">
            <a:avLst/>
          </a:prstGeom>
          <a:noFill/>
          <a:ln/>
        </p:spPr>
        <p:txBody>
          <a:bodyPr wrap="square" lIns="0" tIns="0" rIns="0" bIns="0" rtlCol="0" anchor="ctr"/>
          <a:lstStyle/>
          <a:p>
            <a:pPr marL="0" indent="0">
              <a:buNone/>
            </a:pPr>
            <a:r>
              <a:rPr lang="en-US" sz="1100" b="1" dirty="0">
                <a:solidFill>
                  <a:srgbClr val="7FD1A9"/>
                </a:solidFill>
                <a:latin typeface="Calibri" pitchFamily="34" charset="0"/>
                <a:ea typeface="Calibri" pitchFamily="34" charset="-122"/>
                <a:cs typeface="Calibri" pitchFamily="34" charset="-120"/>
              </a:rPr>
              <a:t>Não se rejeita H1: </a:t>
            </a:r>
            <a:r>
              <a:rPr lang="en-US" sz="1100" dirty="0">
                <a:solidFill>
                  <a:srgbClr val="E8EBF3"/>
                </a:solidFill>
                <a:latin typeface="Calibri" pitchFamily="34" charset="0"/>
                <a:ea typeface="Calibri" pitchFamily="34" charset="-122"/>
                <a:cs typeface="Calibri" pitchFamily="34" charset="-120"/>
              </a:rPr>
              <a:t>lift médio 12,4 ≫ 1,0 e regras coerentes com a prática comercial.</a:t>
            </a:r>
            <a:endParaRPr lang="en-US" sz="1100" dirty="0"/>
          </a:p>
        </p:txBody>
      </p:sp>
      <p:sp>
        <p:nvSpPr>
          <p:cNvPr id="16" name="Text 12"/>
          <p:cNvSpPr/>
          <p:nvPr/>
        </p:nvSpPr>
        <p:spPr>
          <a:xfrm>
            <a:off x="5257800" y="2514600"/>
            <a:ext cx="3108960" cy="594360"/>
          </a:xfrm>
          <a:prstGeom prst="rect">
            <a:avLst/>
          </a:prstGeom>
          <a:noFill/>
          <a:ln/>
        </p:spPr>
        <p:txBody>
          <a:bodyPr wrap="square" lIns="0" tIns="0" rIns="0" bIns="0" rtlCol="0" anchor="ctr"/>
          <a:lstStyle/>
          <a:p>
            <a:pPr marL="0" indent="0">
              <a:buNone/>
            </a:pPr>
            <a:r>
              <a:rPr lang="en-US" sz="1100" b="1" dirty="0">
                <a:solidFill>
                  <a:srgbClr val="F0A5A5"/>
                </a:solidFill>
                <a:latin typeface="Calibri" pitchFamily="34" charset="0"/>
                <a:ea typeface="Calibri" pitchFamily="34" charset="-122"/>
                <a:cs typeface="Calibri" pitchFamily="34" charset="-120"/>
              </a:rPr>
              <a:t>H0 enfraquecida: </a:t>
            </a:r>
            <a:r>
              <a:rPr lang="en-US" sz="1100" dirty="0">
                <a:solidFill>
                  <a:srgbClr val="E8EBF3"/>
                </a:solidFill>
                <a:latin typeface="Calibri" pitchFamily="34" charset="0"/>
                <a:ea typeface="Calibri" pitchFamily="34" charset="-122"/>
                <a:cs typeface="Calibri" pitchFamily="34" charset="-120"/>
              </a:rPr>
              <a:t>os pares de maior lift não coincidem com os mais vendidos.</a:t>
            </a:r>
            <a:endParaRPr lang="en-US" sz="1100" dirty="0"/>
          </a:p>
        </p:txBody>
      </p:sp>
      <p:sp>
        <p:nvSpPr>
          <p:cNvPr id="17" name="Text 13"/>
          <p:cNvSpPr/>
          <p:nvPr/>
        </p:nvSpPr>
        <p:spPr>
          <a:xfrm>
            <a:off x="502920" y="3429000"/>
            <a:ext cx="8138160" cy="777240"/>
          </a:xfrm>
          <a:prstGeom prst="rect">
            <a:avLst/>
          </a:prstGeom>
          <a:noFill/>
          <a:ln/>
        </p:spPr>
        <p:txBody>
          <a:bodyPr wrap="square" lIns="0" tIns="0" rIns="0" bIns="0" rtlCol="0" anchor="t"/>
          <a:lstStyle/>
          <a:p>
            <a:pPr marL="0" indent="0">
              <a:buNone/>
            </a:pPr>
            <a:r>
              <a:rPr lang="en-US" sz="1150" i="1" dirty="0">
                <a:solidFill>
                  <a:srgbClr val="6B7280"/>
                </a:solidFill>
                <a:latin typeface="Calibri" pitchFamily="34" charset="0"/>
                <a:ea typeface="Calibri" pitchFamily="34" charset="-122"/>
                <a:cs typeface="Calibri" pitchFamily="34" charset="-120"/>
              </a:rPr>
              <a:t>Ressalva: as regras são apoio à decisão da equipe de vendas — não prescrição automática. A escala do estudo (14 cestas multi-item) não autoriza generalização ampla.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CONCLUSÃO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Síntese das contribuições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417320"/>
            <a:ext cx="2606040" cy="2103120"/>
          </a:xfrm>
          <a:prstGeom prst="roundRect">
            <a:avLst>
              <a:gd name="adj" fmla="val 3043"/>
            </a:avLst>
          </a:prstGeom>
          <a:solidFill>
            <a:srgbClr val="F5F7FB"/>
          </a:solidFill>
          <a:ln/>
          <a:effectLst>
            <a:outerShdw blurRad="88900" dist="25400" dir="2700000" algn="bl" rotWithShape="0">
              <a:srgbClr val="000000">
                <a:alpha val="14000"/>
              </a:srgbClr>
            </a:outerShdw>
          </a:effectLst>
        </p:spPr>
      </p:sp>
      <p:sp>
        <p:nvSpPr>
          <p:cNvPr id="6" name="Shape 4"/>
          <p:cNvSpPr/>
          <p:nvPr/>
        </p:nvSpPr>
        <p:spPr>
          <a:xfrm>
            <a:off x="704088" y="1600200"/>
            <a:ext cx="420624" cy="420624"/>
          </a:xfrm>
          <a:prstGeom prst="ellipse">
            <a:avLst/>
          </a:prstGeom>
          <a:solidFill>
            <a:srgbClr val="F5EBD3"/>
          </a:solidFill>
          <a:ln/>
        </p:spPr>
      </p:sp>
      <p:pic>
        <p:nvPicPr>
          <p:cNvPr id="7" name="Image 0" descr="preencoded.png"/>
          <p:cNvPicPr>
            <a:picLocks noChangeAspect="1"/>
          </p:cNvPicPr>
          <p:nvPr/>
        </p:nvPicPr>
        <p:blipFill>
          <a:blip r:embed="rId3"/>
          <a:stretch>
            <a:fillRect/>
          </a:stretch>
        </p:blipFill>
        <p:spPr>
          <a:xfrm>
            <a:off x="809244" y="1705356"/>
            <a:ext cx="210312" cy="210312"/>
          </a:xfrm>
          <a:prstGeom prst="rect">
            <a:avLst/>
          </a:prstGeom>
        </p:spPr>
      </p:pic>
      <p:sp>
        <p:nvSpPr>
          <p:cNvPr id="8" name="Text 5"/>
          <p:cNvSpPr/>
          <p:nvPr/>
        </p:nvSpPr>
        <p:spPr>
          <a:xfrm>
            <a:off x="704088" y="2130552"/>
            <a:ext cx="2203704" cy="292608"/>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Contribuição artefato</a:t>
            </a:r>
            <a:endParaRPr lang="en-US" sz="1250" dirty="0"/>
          </a:p>
        </p:txBody>
      </p:sp>
      <p:sp>
        <p:nvSpPr>
          <p:cNvPr id="9" name="Text 6"/>
          <p:cNvSpPr/>
          <p:nvPr/>
        </p:nvSpPr>
        <p:spPr>
          <a:xfrm>
            <a:off x="704088" y="2423160"/>
            <a:ext cx="2203704" cy="1005840"/>
          </a:xfrm>
          <a:prstGeom prst="rect">
            <a:avLst/>
          </a:prstGeom>
          <a:noFill/>
          <a:ln/>
        </p:spPr>
        <p:txBody>
          <a:bodyPr wrap="square" lIns="0" tIns="0" rIns="0" bIns="0" rtlCol="0" anchor="t"/>
          <a:lstStyle/>
          <a:p>
            <a:pPr marL="0" indent="0">
              <a:buNone/>
            </a:pPr>
            <a:r>
              <a:rPr lang="en-US" sz="1050" dirty="0">
                <a:solidFill>
                  <a:srgbClr val="2B2F36"/>
                </a:solidFill>
                <a:latin typeface="Calibri" pitchFamily="34" charset="0"/>
                <a:ea typeface="Calibri" pitchFamily="34" charset="-122"/>
                <a:cs typeface="Calibri" pitchFamily="34" charset="-120"/>
              </a:rPr>
              <a:t>Sistema completo e reproduzível: dados → algoritmo → API → web. Dimensionado a uma pequena empresa, com ferramentas gratuitas.</a:t>
            </a:r>
            <a:endParaRPr lang="en-US" sz="1050" dirty="0"/>
          </a:p>
        </p:txBody>
      </p:sp>
      <p:sp>
        <p:nvSpPr>
          <p:cNvPr id="10" name="Shape 7"/>
          <p:cNvSpPr/>
          <p:nvPr/>
        </p:nvSpPr>
        <p:spPr>
          <a:xfrm>
            <a:off x="3291840" y="1417320"/>
            <a:ext cx="2606040" cy="2103120"/>
          </a:xfrm>
          <a:prstGeom prst="roundRect">
            <a:avLst>
              <a:gd name="adj" fmla="val 3043"/>
            </a:avLst>
          </a:prstGeom>
          <a:solidFill>
            <a:srgbClr val="F5F7FB"/>
          </a:solidFill>
          <a:ln/>
          <a:effectLst>
            <a:outerShdw blurRad="88900" dist="25400" dir="2700000" algn="bl" rotWithShape="0">
              <a:srgbClr val="000000">
                <a:alpha val="14000"/>
              </a:srgbClr>
            </a:outerShdw>
          </a:effectLst>
        </p:spPr>
      </p:sp>
      <p:sp>
        <p:nvSpPr>
          <p:cNvPr id="11" name="Shape 8"/>
          <p:cNvSpPr/>
          <p:nvPr/>
        </p:nvSpPr>
        <p:spPr>
          <a:xfrm>
            <a:off x="3493008" y="1600200"/>
            <a:ext cx="420624" cy="420624"/>
          </a:xfrm>
          <a:prstGeom prst="ellipse">
            <a:avLst/>
          </a:prstGeom>
          <a:solidFill>
            <a:srgbClr val="F5EBD3"/>
          </a:solidFill>
          <a:ln/>
        </p:spPr>
      </p:sp>
      <p:pic>
        <p:nvPicPr>
          <p:cNvPr id="12" name="Image 1" descr="preencoded.png"/>
          <p:cNvPicPr>
            <a:picLocks noChangeAspect="1"/>
          </p:cNvPicPr>
          <p:nvPr/>
        </p:nvPicPr>
        <p:blipFill>
          <a:blip r:embed="rId4"/>
          <a:stretch>
            <a:fillRect/>
          </a:stretch>
        </p:blipFill>
        <p:spPr>
          <a:xfrm>
            <a:off x="3598164" y="1705356"/>
            <a:ext cx="210312" cy="210312"/>
          </a:xfrm>
          <a:prstGeom prst="rect">
            <a:avLst/>
          </a:prstGeom>
        </p:spPr>
      </p:pic>
      <p:sp>
        <p:nvSpPr>
          <p:cNvPr id="13" name="Text 9"/>
          <p:cNvSpPr/>
          <p:nvPr/>
        </p:nvSpPr>
        <p:spPr>
          <a:xfrm>
            <a:off x="3493008" y="2130552"/>
            <a:ext cx="2203704" cy="292608"/>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Contribuição empírica</a:t>
            </a:r>
            <a:endParaRPr lang="en-US" sz="1250" dirty="0"/>
          </a:p>
        </p:txBody>
      </p:sp>
      <p:sp>
        <p:nvSpPr>
          <p:cNvPr id="14" name="Text 10"/>
          <p:cNvSpPr/>
          <p:nvPr/>
        </p:nvSpPr>
        <p:spPr>
          <a:xfrm>
            <a:off x="3493008" y="2423160"/>
            <a:ext cx="2203704" cy="1005840"/>
          </a:xfrm>
          <a:prstGeom prst="rect">
            <a:avLst/>
          </a:prstGeom>
          <a:noFill/>
          <a:ln/>
        </p:spPr>
        <p:txBody>
          <a:bodyPr wrap="square" lIns="0" tIns="0" rIns="0" bIns="0" rtlCol="0" anchor="t"/>
          <a:lstStyle/>
          <a:p>
            <a:pPr marL="0" indent="0">
              <a:buNone/>
            </a:pPr>
            <a:r>
              <a:rPr lang="en-US" sz="1050" dirty="0">
                <a:solidFill>
                  <a:srgbClr val="2B2F36"/>
                </a:solidFill>
                <a:latin typeface="Calibri" pitchFamily="34" charset="0"/>
                <a:ea typeface="Calibri" pitchFamily="34" charset="-122"/>
                <a:cs typeface="Calibri" pitchFamily="34" charset="-120"/>
              </a:rPr>
              <a:t>44 regras de 30 transações; confiança média 76,5%, lift médio 12,4; padrões consistentes com a prática comercial real.</a:t>
            </a:r>
            <a:endParaRPr lang="en-US" sz="1050" dirty="0"/>
          </a:p>
        </p:txBody>
      </p:sp>
      <p:sp>
        <p:nvSpPr>
          <p:cNvPr id="15" name="Shape 11"/>
          <p:cNvSpPr/>
          <p:nvPr/>
        </p:nvSpPr>
        <p:spPr>
          <a:xfrm>
            <a:off x="6080760" y="1417320"/>
            <a:ext cx="2606040" cy="2103120"/>
          </a:xfrm>
          <a:prstGeom prst="roundRect">
            <a:avLst>
              <a:gd name="adj" fmla="val 3043"/>
            </a:avLst>
          </a:prstGeom>
          <a:solidFill>
            <a:srgbClr val="F5F7FB"/>
          </a:solidFill>
          <a:ln/>
          <a:effectLst>
            <a:outerShdw blurRad="88900" dist="25400" dir="2700000" algn="bl" rotWithShape="0">
              <a:srgbClr val="000000">
                <a:alpha val="14000"/>
              </a:srgbClr>
            </a:outerShdw>
          </a:effectLst>
        </p:spPr>
      </p:sp>
      <p:sp>
        <p:nvSpPr>
          <p:cNvPr id="16" name="Shape 12"/>
          <p:cNvSpPr/>
          <p:nvPr/>
        </p:nvSpPr>
        <p:spPr>
          <a:xfrm>
            <a:off x="6281928" y="1600200"/>
            <a:ext cx="420624" cy="420624"/>
          </a:xfrm>
          <a:prstGeom prst="ellipse">
            <a:avLst/>
          </a:prstGeom>
          <a:solidFill>
            <a:srgbClr val="F5EBD3"/>
          </a:solidFill>
          <a:ln/>
        </p:spPr>
      </p:sp>
      <p:pic>
        <p:nvPicPr>
          <p:cNvPr id="17" name="Image 2" descr="preencoded.png"/>
          <p:cNvPicPr>
            <a:picLocks noChangeAspect="1"/>
          </p:cNvPicPr>
          <p:nvPr/>
        </p:nvPicPr>
        <p:blipFill>
          <a:blip r:embed="rId5"/>
          <a:stretch>
            <a:fillRect/>
          </a:stretch>
        </p:blipFill>
        <p:spPr>
          <a:xfrm>
            <a:off x="6387084" y="1705356"/>
            <a:ext cx="210312" cy="210312"/>
          </a:xfrm>
          <a:prstGeom prst="rect">
            <a:avLst/>
          </a:prstGeom>
        </p:spPr>
      </p:pic>
      <p:sp>
        <p:nvSpPr>
          <p:cNvPr id="18" name="Text 13"/>
          <p:cNvSpPr/>
          <p:nvPr/>
        </p:nvSpPr>
        <p:spPr>
          <a:xfrm>
            <a:off x="6281928" y="2130552"/>
            <a:ext cx="2203704" cy="292608"/>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Contribuição metodológica</a:t>
            </a:r>
            <a:endParaRPr lang="en-US" sz="1250" dirty="0"/>
          </a:p>
        </p:txBody>
      </p:sp>
      <p:sp>
        <p:nvSpPr>
          <p:cNvPr id="19" name="Text 14"/>
          <p:cNvSpPr/>
          <p:nvPr/>
        </p:nvSpPr>
        <p:spPr>
          <a:xfrm>
            <a:off x="6281928" y="2423160"/>
            <a:ext cx="2203704" cy="1005840"/>
          </a:xfrm>
          <a:prstGeom prst="rect">
            <a:avLst/>
          </a:prstGeom>
          <a:noFill/>
          <a:ln/>
        </p:spPr>
        <p:txBody>
          <a:bodyPr wrap="square" lIns="0" tIns="0" rIns="0" bIns="0" rtlCol="0" anchor="t"/>
          <a:lstStyle/>
          <a:p>
            <a:pPr marL="0" indent="0">
              <a:buNone/>
            </a:pPr>
            <a:r>
              <a:rPr lang="en-US" sz="1050" dirty="0">
                <a:solidFill>
                  <a:srgbClr val="2B2F36"/>
                </a:solidFill>
                <a:latin typeface="Calibri" pitchFamily="34" charset="0"/>
                <a:ea typeface="Calibri" pitchFamily="34" charset="-122"/>
                <a:cs typeface="Calibri" pitchFamily="34" charset="-120"/>
              </a:rPr>
              <a:t>LOOCV documentado como escolha superior ao holdout em conjuntos pequenos; registro do teto estrutural da Precision (1/N).</a:t>
            </a:r>
            <a:endParaRPr lang="en-US" sz="1050" dirty="0"/>
          </a:p>
        </p:txBody>
      </p:sp>
      <p:sp>
        <p:nvSpPr>
          <p:cNvPr id="20" name="Shape 15"/>
          <p:cNvSpPr/>
          <p:nvPr/>
        </p:nvSpPr>
        <p:spPr>
          <a:xfrm>
            <a:off x="502920" y="3703320"/>
            <a:ext cx="8138160" cy="914400"/>
          </a:xfrm>
          <a:prstGeom prst="roundRect">
            <a:avLst>
              <a:gd name="adj" fmla="val 8000"/>
            </a:avLst>
          </a:prstGeom>
          <a:solidFill>
            <a:srgbClr val="F5EBD3"/>
          </a:solidFill>
          <a:ln/>
          <a:effectLst>
            <a:outerShdw blurRad="88900" dist="25400" dir="2700000" algn="bl" rotWithShape="0">
              <a:srgbClr val="000000">
                <a:alpha val="14000"/>
              </a:srgbClr>
            </a:outerShdw>
          </a:effectLst>
        </p:spPr>
      </p:sp>
      <p:sp>
        <p:nvSpPr>
          <p:cNvPr id="21" name="Text 16"/>
          <p:cNvSpPr/>
          <p:nvPr/>
        </p:nvSpPr>
        <p:spPr>
          <a:xfrm>
            <a:off x="777240" y="3813048"/>
            <a:ext cx="7589520" cy="7132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Resposta à pergunta de pesquisa: sim, com ressalvas. </a:t>
            </a:r>
            <a:r>
              <a:rPr lang="en-US" sz="1300" dirty="0">
                <a:solidFill>
                  <a:srgbClr val="2B2F36"/>
                </a:solidFill>
                <a:latin typeface="Calibri" pitchFamily="34" charset="0"/>
                <a:ea typeface="Calibri" pitchFamily="34" charset="-122"/>
                <a:cs typeface="Calibri" pitchFamily="34" charset="-120"/>
              </a:rPr>
              <a:t>Regras de associação são viáveis para recomendação em B2B de baixo volume — como apoio à decisão da equipe de vendas, respeitada a escala reduzida do estudo.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CONCLUSÃO</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Trabalhos futuros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Shape 3"/>
          <p:cNvSpPr/>
          <p:nvPr/>
        </p:nvSpPr>
        <p:spPr>
          <a:xfrm>
            <a:off x="502920" y="1463040"/>
            <a:ext cx="8138160" cy="914400"/>
          </a:xfrm>
          <a:prstGeom prst="roundRect">
            <a:avLst>
              <a:gd name="adj" fmla="val 7000"/>
            </a:avLst>
          </a:prstGeom>
          <a:solidFill>
            <a:srgbClr val="F5F7FB"/>
          </a:solidFill>
          <a:ln/>
          <a:effectLst>
            <a:outerShdw blurRad="88900" dist="25400" dir="2700000" algn="bl" rotWithShape="0">
              <a:srgbClr val="000000">
                <a:alpha val="14000"/>
              </a:srgbClr>
            </a:outerShdw>
          </a:effectLst>
        </p:spPr>
      </p:sp>
      <p:sp>
        <p:nvSpPr>
          <p:cNvPr id="6" name="Shape 4"/>
          <p:cNvSpPr/>
          <p:nvPr/>
        </p:nvSpPr>
        <p:spPr>
          <a:xfrm>
            <a:off x="731520" y="1691640"/>
            <a:ext cx="457200" cy="457200"/>
          </a:xfrm>
          <a:prstGeom prst="ellipse">
            <a:avLst/>
          </a:prstGeom>
          <a:solidFill>
            <a:srgbClr val="1B2A4A"/>
          </a:solidFill>
          <a:ln/>
        </p:spPr>
      </p:sp>
      <p:sp>
        <p:nvSpPr>
          <p:cNvPr id="7" name="Text 5"/>
          <p:cNvSpPr/>
          <p:nvPr/>
        </p:nvSpPr>
        <p:spPr>
          <a:xfrm>
            <a:off x="731520" y="1691640"/>
            <a:ext cx="457200" cy="457200"/>
          </a:xfrm>
          <a:prstGeom prst="rect">
            <a:avLst/>
          </a:prstGeom>
          <a:noFill/>
          <a:ln/>
        </p:spPr>
        <p:txBody>
          <a:bodyPr wrap="square" lIns="0" tIns="0" rIns="0" bIns="0" rtlCol="0" anchor="ctr"/>
          <a:lstStyle/>
          <a:p>
            <a:pPr marL="0" indent="0" algn="ctr">
              <a:buNone/>
            </a:pPr>
            <a:r>
              <a:rPr lang="en-US" sz="1800" b="1" dirty="0">
                <a:solidFill>
                  <a:srgbClr val="C9962E"/>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71600" y="1581912"/>
            <a:ext cx="7040880"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Acumular mais dados</a:t>
            </a:r>
            <a:endParaRPr lang="en-US" sz="1400" dirty="0"/>
          </a:p>
        </p:txBody>
      </p:sp>
      <p:sp>
        <p:nvSpPr>
          <p:cNvPr id="9" name="Text 7"/>
          <p:cNvSpPr/>
          <p:nvPr/>
        </p:nvSpPr>
        <p:spPr>
          <a:xfrm>
            <a:off x="1371600" y="1883664"/>
            <a:ext cx="7040880" cy="457200"/>
          </a:xfrm>
          <a:prstGeom prst="rect">
            <a:avLst/>
          </a:prstGeom>
          <a:noFill/>
          <a:ln/>
        </p:spPr>
        <p:txBody>
          <a:bodyPr wrap="square" lIns="0" tIns="0" rIns="0" bIns="0" rtlCol="0" anchor="t"/>
          <a:lstStyle/>
          <a:p>
            <a:pPr marL="0" indent="0">
              <a:buNone/>
            </a:pPr>
            <a:r>
              <a:rPr lang="en-US" sz="1150" dirty="0">
                <a:solidFill>
                  <a:srgbClr val="2B2F36"/>
                </a:solidFill>
                <a:latin typeface="Calibri" pitchFamily="34" charset="0"/>
                <a:ea typeface="Calibri" pitchFamily="34" charset="-122"/>
                <a:cs typeface="Calibri" pitchFamily="34" charset="-120"/>
              </a:rPr>
              <a:t>Histórico crescente → métricas mais estáveis, suporte mais sólido e reavaliação segura dos limiares de confiança e suporte.</a:t>
            </a:r>
            <a:endParaRPr lang="en-US" sz="1150" dirty="0"/>
          </a:p>
        </p:txBody>
      </p:sp>
      <p:sp>
        <p:nvSpPr>
          <p:cNvPr id="10" name="Shape 8"/>
          <p:cNvSpPr/>
          <p:nvPr/>
        </p:nvSpPr>
        <p:spPr>
          <a:xfrm>
            <a:off x="502920" y="2514600"/>
            <a:ext cx="8138160" cy="914400"/>
          </a:xfrm>
          <a:prstGeom prst="roundRect">
            <a:avLst>
              <a:gd name="adj" fmla="val 7000"/>
            </a:avLst>
          </a:prstGeom>
          <a:solidFill>
            <a:srgbClr val="F5F7FB"/>
          </a:solidFill>
          <a:ln/>
          <a:effectLst>
            <a:outerShdw blurRad="88900" dist="25400" dir="2700000" algn="bl" rotWithShape="0">
              <a:srgbClr val="000000">
                <a:alpha val="14000"/>
              </a:srgbClr>
            </a:outerShdw>
          </a:effectLst>
        </p:spPr>
      </p:sp>
      <p:sp>
        <p:nvSpPr>
          <p:cNvPr id="11" name="Shape 9"/>
          <p:cNvSpPr/>
          <p:nvPr/>
        </p:nvSpPr>
        <p:spPr>
          <a:xfrm>
            <a:off x="731520" y="2743200"/>
            <a:ext cx="457200" cy="457200"/>
          </a:xfrm>
          <a:prstGeom prst="ellipse">
            <a:avLst/>
          </a:prstGeom>
          <a:solidFill>
            <a:srgbClr val="1B2A4A"/>
          </a:solidFill>
          <a:ln/>
        </p:spPr>
      </p:sp>
      <p:sp>
        <p:nvSpPr>
          <p:cNvPr id="12" name="Text 10"/>
          <p:cNvSpPr/>
          <p:nvPr/>
        </p:nvSpPr>
        <p:spPr>
          <a:xfrm>
            <a:off x="731520" y="2743200"/>
            <a:ext cx="457200" cy="457200"/>
          </a:xfrm>
          <a:prstGeom prst="rect">
            <a:avLst/>
          </a:prstGeom>
          <a:noFill/>
          <a:ln/>
        </p:spPr>
        <p:txBody>
          <a:bodyPr wrap="square" lIns="0" tIns="0" rIns="0" bIns="0" rtlCol="0" anchor="ctr"/>
          <a:lstStyle/>
          <a:p>
            <a:pPr marL="0" indent="0" algn="ctr">
              <a:buNone/>
            </a:pPr>
            <a:r>
              <a:rPr lang="en-US" sz="1800" b="1" dirty="0">
                <a:solidFill>
                  <a:srgbClr val="C9962E"/>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371600" y="2633472"/>
            <a:ext cx="7040880"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Itemsets maiores</a:t>
            </a:r>
            <a:endParaRPr lang="en-US" sz="1400" dirty="0"/>
          </a:p>
        </p:txBody>
      </p:sp>
      <p:sp>
        <p:nvSpPr>
          <p:cNvPr id="14" name="Text 12"/>
          <p:cNvSpPr/>
          <p:nvPr/>
        </p:nvSpPr>
        <p:spPr>
          <a:xfrm>
            <a:off x="1371600" y="2935224"/>
            <a:ext cx="7040880" cy="457200"/>
          </a:xfrm>
          <a:prstGeom prst="rect">
            <a:avLst/>
          </a:prstGeom>
          <a:noFill/>
          <a:ln/>
        </p:spPr>
        <p:txBody>
          <a:bodyPr wrap="square" lIns="0" tIns="0" rIns="0" bIns="0" rtlCol="0" anchor="t"/>
          <a:lstStyle/>
          <a:p>
            <a:pPr marL="0" indent="0">
              <a:buNone/>
            </a:pPr>
            <a:r>
              <a:rPr lang="en-US" sz="1150" dirty="0">
                <a:solidFill>
                  <a:srgbClr val="2B2F36"/>
                </a:solidFill>
                <a:latin typeface="Calibri" pitchFamily="34" charset="0"/>
                <a:ea typeface="Calibri" pitchFamily="34" charset="-122"/>
                <a:cs typeface="Calibri" pitchFamily="34" charset="-120"/>
              </a:rPr>
              <a:t>Generalizar para Apriori completo ou FP-Growth quando o volume viabilizar padrões de 3+ produtos comprados juntos.</a:t>
            </a:r>
            <a:endParaRPr lang="en-US" sz="1150" dirty="0"/>
          </a:p>
        </p:txBody>
      </p:sp>
      <p:sp>
        <p:nvSpPr>
          <p:cNvPr id="15" name="Shape 13"/>
          <p:cNvSpPr/>
          <p:nvPr/>
        </p:nvSpPr>
        <p:spPr>
          <a:xfrm>
            <a:off x="502920" y="3566160"/>
            <a:ext cx="8138160" cy="914400"/>
          </a:xfrm>
          <a:prstGeom prst="roundRect">
            <a:avLst>
              <a:gd name="adj" fmla="val 7000"/>
            </a:avLst>
          </a:prstGeom>
          <a:solidFill>
            <a:srgbClr val="F5F7FB"/>
          </a:solidFill>
          <a:ln/>
          <a:effectLst>
            <a:outerShdw blurRad="88900" dist="25400" dir="2700000" algn="bl" rotWithShape="0">
              <a:srgbClr val="000000">
                <a:alpha val="14000"/>
              </a:srgbClr>
            </a:outerShdw>
          </a:effectLst>
        </p:spPr>
      </p:sp>
      <p:sp>
        <p:nvSpPr>
          <p:cNvPr id="16" name="Shape 14"/>
          <p:cNvSpPr/>
          <p:nvPr/>
        </p:nvSpPr>
        <p:spPr>
          <a:xfrm>
            <a:off x="731520" y="3794760"/>
            <a:ext cx="457200" cy="457200"/>
          </a:xfrm>
          <a:prstGeom prst="ellipse">
            <a:avLst/>
          </a:prstGeom>
          <a:solidFill>
            <a:srgbClr val="1B2A4A"/>
          </a:solidFill>
          <a:ln/>
        </p:spPr>
      </p:sp>
      <p:sp>
        <p:nvSpPr>
          <p:cNvPr id="17" name="Text 15"/>
          <p:cNvSpPr/>
          <p:nvPr/>
        </p:nvSpPr>
        <p:spPr>
          <a:xfrm>
            <a:off x="731520" y="3794760"/>
            <a:ext cx="457200" cy="457200"/>
          </a:xfrm>
          <a:prstGeom prst="rect">
            <a:avLst/>
          </a:prstGeom>
          <a:noFill/>
          <a:ln/>
        </p:spPr>
        <p:txBody>
          <a:bodyPr wrap="square" lIns="0" tIns="0" rIns="0" bIns="0" rtlCol="0" anchor="ctr"/>
          <a:lstStyle/>
          <a:p>
            <a:pPr marL="0" indent="0" algn="ctr">
              <a:buNone/>
            </a:pPr>
            <a:r>
              <a:rPr lang="en-US" sz="1800" b="1" dirty="0">
                <a:solidFill>
                  <a:srgbClr val="C9962E"/>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371600" y="3685032"/>
            <a:ext cx="7040880"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Produção + teste A/B</a:t>
            </a:r>
            <a:endParaRPr lang="en-US" sz="1400" dirty="0"/>
          </a:p>
        </p:txBody>
      </p:sp>
      <p:sp>
        <p:nvSpPr>
          <p:cNvPr id="19" name="Text 17"/>
          <p:cNvSpPr/>
          <p:nvPr/>
        </p:nvSpPr>
        <p:spPr>
          <a:xfrm>
            <a:off x="1371600" y="3986784"/>
            <a:ext cx="7040880" cy="457200"/>
          </a:xfrm>
          <a:prstGeom prst="rect">
            <a:avLst/>
          </a:prstGeom>
          <a:noFill/>
          <a:ln/>
        </p:spPr>
        <p:txBody>
          <a:bodyPr wrap="square" lIns="0" tIns="0" rIns="0" bIns="0" rtlCol="0" anchor="t"/>
          <a:lstStyle/>
          <a:p>
            <a:pPr marL="0" indent="0">
              <a:buNone/>
            </a:pPr>
            <a:r>
              <a:rPr lang="en-US" sz="1150" dirty="0">
                <a:solidFill>
                  <a:srgbClr val="2B2F36"/>
                </a:solidFill>
                <a:latin typeface="Calibri" pitchFamily="34" charset="0"/>
                <a:ea typeface="Calibri" pitchFamily="34" charset="-122"/>
                <a:cs typeface="Calibri" pitchFamily="34" charset="-120"/>
              </a:rPr>
              <a:t>Integrar ao fluxo de vendas e comparar o ticket médio de pedidos com e sem recomendação — do estatístico ao econômico.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138160" cy="274320"/>
          </a:xfrm>
          <a:prstGeom prst="rect">
            <a:avLst/>
          </a:prstGeom>
          <a:noFill/>
          <a:ln/>
        </p:spPr>
        <p:txBody>
          <a:bodyPr wrap="square" lIns="0" tIns="0" rIns="0" bIns="0" rtlCol="0" anchor="ctr"/>
          <a:lstStyle/>
          <a:p>
            <a:pPr marL="0" indent="0">
              <a:buNone/>
            </a:pPr>
            <a:r>
              <a:rPr lang="en-US" sz="1100" b="1" kern="0" spc="300" dirty="0">
                <a:solidFill>
                  <a:srgbClr val="C9962E"/>
                </a:solidFill>
                <a:latin typeface="Calibri" pitchFamily="34" charset="0"/>
                <a:ea typeface="Calibri" pitchFamily="34" charset="-122"/>
                <a:cs typeface="Calibri" pitchFamily="34" charset="-120"/>
              </a:rPr>
              <a:t>REFERÊNCIAS</a:t>
            </a:r>
            <a:endParaRPr lang="en-US" sz="1100" dirty="0"/>
          </a:p>
        </p:txBody>
      </p:sp>
      <p:sp>
        <p:nvSpPr>
          <p:cNvPr id="3" name="Text 1"/>
          <p:cNvSpPr/>
          <p:nvPr/>
        </p:nvSpPr>
        <p:spPr>
          <a:xfrm>
            <a:off x="502920" y="530352"/>
            <a:ext cx="8138160" cy="685800"/>
          </a:xfrm>
          <a:prstGeom prst="rect">
            <a:avLst/>
          </a:prstGeom>
          <a:noFill/>
          <a:ln/>
        </p:spPr>
        <p:txBody>
          <a:bodyPr wrap="square" lIns="0" tIns="0" rIns="0" bIns="0" rtlCol="0" anchor="t"/>
          <a:lstStyle/>
          <a:p>
            <a:pPr marL="0" indent="0">
              <a:buNone/>
            </a:pPr>
            <a:r>
              <a:rPr lang="en-US" sz="3000" b="1" dirty="0">
                <a:solidFill>
                  <a:srgbClr val="1B2A4A"/>
                </a:solidFill>
                <a:latin typeface="Cambria" pitchFamily="34" charset="0"/>
                <a:ea typeface="Cambria" pitchFamily="34" charset="-122"/>
                <a:cs typeface="Cambria" pitchFamily="34" charset="-120"/>
              </a:rPr>
              <a:t>Principais referências</a:t>
            </a:r>
            <a:endParaRPr lang="en-US" sz="3000" dirty="0"/>
          </a:p>
        </p:txBody>
      </p:sp>
      <p:sp>
        <p:nvSpPr>
          <p:cNvPr id="4" name="Text 2"/>
          <p:cNvSpPr/>
          <p:nvPr/>
        </p:nvSpPr>
        <p:spPr>
          <a:xfrm>
            <a:off x="502920" y="4759452"/>
            <a:ext cx="8138160" cy="274320"/>
          </a:xfrm>
          <a:prstGeom prst="rect">
            <a:avLst/>
          </a:prstGeom>
          <a:noFill/>
          <a:ln/>
        </p:spPr>
        <p:txBody>
          <a:bodyPr wrap="square" lIns="0" tIns="0" rIns="0" bIns="0" rtlCol="0" anchor="ctr"/>
          <a:lstStyle/>
          <a:p>
            <a:r>
              <a:rPr lang="en-US" sz="900" dirty="0">
                <a:solidFill>
                  <a:srgbClr val="6B7280"/>
                </a:solidFill>
                <a:latin typeface="Calibri" pitchFamily="34" charset="0"/>
                <a:ea typeface="Calibri" pitchFamily="34" charset="-122"/>
                <a:cs typeface="Calibri" pitchFamily="34" charset="-120"/>
              </a:rPr>
              <a:t>Felipe Pereira Ferreira • Sistema de </a:t>
            </a:r>
            <a:r>
              <a:rPr lang="en-US" sz="900" dirty="0" err="1">
                <a:solidFill>
                  <a:srgbClr val="6B7280"/>
                </a:solidFill>
                <a:latin typeface="Calibri" pitchFamily="34" charset="0"/>
                <a:ea typeface="Calibri" pitchFamily="34" charset="-122"/>
                <a:cs typeface="Calibri" pitchFamily="34" charset="-120"/>
              </a:rPr>
              <a:t>Recomendação</a:t>
            </a:r>
            <a:r>
              <a:rPr lang="en-US" sz="900" dirty="0">
                <a:solidFill>
                  <a:srgbClr val="6B7280"/>
                </a:solidFill>
                <a:latin typeface="Calibri" pitchFamily="34" charset="0"/>
                <a:ea typeface="Calibri" pitchFamily="34" charset="-122"/>
                <a:cs typeface="Calibri" pitchFamily="34" charset="-120"/>
              </a:rPr>
              <a:t> B2B •  IFMA Campus Caxias</a:t>
            </a:r>
            <a:endParaRPr lang="en-US" sz="900" dirty="0"/>
          </a:p>
        </p:txBody>
      </p:sp>
      <p:sp>
        <p:nvSpPr>
          <p:cNvPr id="5" name="Text 3"/>
          <p:cNvSpPr/>
          <p:nvPr/>
        </p:nvSpPr>
        <p:spPr>
          <a:xfrm>
            <a:off x="502920" y="1417320"/>
            <a:ext cx="3977640" cy="3154680"/>
          </a:xfrm>
          <a:prstGeom prst="rect">
            <a:avLst/>
          </a:prstGeom>
          <a:noFill/>
          <a:ln/>
        </p:spPr>
        <p:txBody>
          <a:bodyPr wrap="square" lIns="0" tIns="0" rIns="0" bIns="0" rtlCol="0" anchor="t"/>
          <a:lstStyle/>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AGRAWAL, R.; IMIELIŃSKI, T.; SWAMI, A. </a:t>
            </a:r>
            <a:r>
              <a:rPr lang="en-US" sz="950" i="1" dirty="0">
                <a:solidFill>
                  <a:srgbClr val="2B2F36"/>
                </a:solidFill>
                <a:latin typeface="Calibri" pitchFamily="34" charset="0"/>
                <a:ea typeface="Calibri" pitchFamily="34" charset="-122"/>
                <a:cs typeface="Calibri" pitchFamily="34" charset="-120"/>
              </a:rPr>
              <a:t>Mining association rules between sets of items in large databases. </a:t>
            </a:r>
            <a:r>
              <a:rPr lang="en-US" sz="950" dirty="0">
                <a:solidFill>
                  <a:srgbClr val="2B2F36"/>
                </a:solidFill>
                <a:latin typeface="Calibri" pitchFamily="34" charset="0"/>
                <a:ea typeface="Calibri" pitchFamily="34" charset="-122"/>
                <a:cs typeface="Calibri" pitchFamily="34" charset="-120"/>
              </a:rPr>
              <a:t>In: ACM SIGMOD, 1993. p. 207-216.</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AGRAWAL, R.; SRIKANT, R. </a:t>
            </a:r>
            <a:r>
              <a:rPr lang="en-US" sz="950" i="1" dirty="0">
                <a:solidFill>
                  <a:srgbClr val="2B2F36"/>
                </a:solidFill>
                <a:latin typeface="Calibri" pitchFamily="34" charset="0"/>
                <a:ea typeface="Calibri" pitchFamily="34" charset="-122"/>
                <a:cs typeface="Calibri" pitchFamily="34" charset="-120"/>
              </a:rPr>
              <a:t>Fast algorithms for mining association rules. </a:t>
            </a:r>
            <a:r>
              <a:rPr lang="en-US" sz="950" dirty="0">
                <a:solidFill>
                  <a:srgbClr val="2B2F36"/>
                </a:solidFill>
                <a:latin typeface="Calibri" pitchFamily="34" charset="0"/>
                <a:ea typeface="Calibri" pitchFamily="34" charset="-122"/>
                <a:cs typeface="Calibri" pitchFamily="34" charset="-120"/>
              </a:rPr>
              <a:t>In: VLDB, 20., 1994. p. 487-499.</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ADOMAVICIUS, G.; TUZHILIN, A. </a:t>
            </a:r>
            <a:r>
              <a:rPr lang="en-US" sz="950" i="1" dirty="0">
                <a:solidFill>
                  <a:srgbClr val="2B2F36"/>
                </a:solidFill>
                <a:latin typeface="Calibri" pitchFamily="34" charset="0"/>
                <a:ea typeface="Calibri" pitchFamily="34" charset="-122"/>
                <a:cs typeface="Calibri" pitchFamily="34" charset="-120"/>
              </a:rPr>
              <a:t>Toward the next generation of recommender systems. </a:t>
            </a:r>
            <a:r>
              <a:rPr lang="en-US" sz="950" dirty="0">
                <a:solidFill>
                  <a:srgbClr val="2B2F36"/>
                </a:solidFill>
                <a:latin typeface="Calibri" pitchFamily="34" charset="0"/>
                <a:ea typeface="Calibri" pitchFamily="34" charset="-122"/>
                <a:cs typeface="Calibri" pitchFamily="34" charset="-120"/>
              </a:rPr>
              <a:t>IEEE TKDE, v. 17, n. 6, p. 734-749, 2005.</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AGGARWAL, C. C. </a:t>
            </a:r>
            <a:r>
              <a:rPr lang="en-US" sz="950" i="1" dirty="0">
                <a:solidFill>
                  <a:srgbClr val="2B2F36"/>
                </a:solidFill>
                <a:latin typeface="Calibri" pitchFamily="34" charset="0"/>
                <a:ea typeface="Calibri" pitchFamily="34" charset="-122"/>
                <a:cs typeface="Calibri" pitchFamily="34" charset="-120"/>
              </a:rPr>
              <a:t>Recommender systems: the textbook. </a:t>
            </a:r>
            <a:r>
              <a:rPr lang="en-US" sz="950" dirty="0">
                <a:solidFill>
                  <a:srgbClr val="2B2F36"/>
                </a:solidFill>
                <a:latin typeface="Calibri" pitchFamily="34" charset="0"/>
                <a:ea typeface="Calibri" pitchFamily="34" charset="-122"/>
                <a:cs typeface="Calibri" pitchFamily="34" charset="-120"/>
              </a:rPr>
              <a:t>Cham: Springer, 2016.</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HAN, J.; KAMBER, M.; PEI, J. </a:t>
            </a:r>
            <a:r>
              <a:rPr lang="en-US" sz="950" i="1" dirty="0">
                <a:solidFill>
                  <a:srgbClr val="2B2F36"/>
                </a:solidFill>
                <a:latin typeface="Calibri" pitchFamily="34" charset="0"/>
                <a:ea typeface="Calibri" pitchFamily="34" charset="-122"/>
                <a:cs typeface="Calibri" pitchFamily="34" charset="-120"/>
              </a:rPr>
              <a:t>Data mining: concepts and techniques. </a:t>
            </a:r>
            <a:r>
              <a:rPr lang="en-US" sz="950" dirty="0">
                <a:solidFill>
                  <a:srgbClr val="2B2F36"/>
                </a:solidFill>
                <a:latin typeface="Calibri" pitchFamily="34" charset="0"/>
                <a:ea typeface="Calibri" pitchFamily="34" charset="-122"/>
                <a:cs typeface="Calibri" pitchFamily="34" charset="-120"/>
              </a:rPr>
              <a:t>3. ed. Waltham: Morgan Kaufmann, 2011.</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HAN, J.; PEI, J.; YIN, Y. </a:t>
            </a:r>
            <a:r>
              <a:rPr lang="en-US" sz="950" i="1" dirty="0">
                <a:solidFill>
                  <a:srgbClr val="2B2F36"/>
                </a:solidFill>
                <a:latin typeface="Calibri" pitchFamily="34" charset="0"/>
                <a:ea typeface="Calibri" pitchFamily="34" charset="-122"/>
                <a:cs typeface="Calibri" pitchFamily="34" charset="-120"/>
              </a:rPr>
              <a:t>Mining frequent patterns without candidate generation. </a:t>
            </a:r>
            <a:r>
              <a:rPr lang="en-US" sz="950" dirty="0">
                <a:solidFill>
                  <a:srgbClr val="2B2F36"/>
                </a:solidFill>
                <a:latin typeface="Calibri" pitchFamily="34" charset="0"/>
                <a:ea typeface="Calibri" pitchFamily="34" charset="-122"/>
                <a:cs typeface="Calibri" pitchFamily="34" charset="-120"/>
              </a:rPr>
              <a:t>In: ACM SIGMOD, 2000. p. 1-12.</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HEVNER, A. R. et al. </a:t>
            </a:r>
            <a:r>
              <a:rPr lang="en-US" sz="950" i="1" dirty="0">
                <a:solidFill>
                  <a:srgbClr val="2B2F36"/>
                </a:solidFill>
                <a:latin typeface="Calibri" pitchFamily="34" charset="0"/>
                <a:ea typeface="Calibri" pitchFamily="34" charset="-122"/>
                <a:cs typeface="Calibri" pitchFamily="34" charset="-120"/>
              </a:rPr>
              <a:t>Design science in information systems research. </a:t>
            </a:r>
            <a:r>
              <a:rPr lang="en-US" sz="950" dirty="0">
                <a:solidFill>
                  <a:srgbClr val="2B2F36"/>
                </a:solidFill>
                <a:latin typeface="Calibri" pitchFamily="34" charset="0"/>
                <a:ea typeface="Calibri" pitchFamily="34" charset="-122"/>
                <a:cs typeface="Calibri" pitchFamily="34" charset="-120"/>
              </a:rPr>
              <a:t>MIS Quarterly, v. 28, n. 1, p. 75-105, 2004.</a:t>
            </a:r>
            <a:endParaRPr lang="en-US" sz="950" dirty="0"/>
          </a:p>
        </p:txBody>
      </p:sp>
      <p:sp>
        <p:nvSpPr>
          <p:cNvPr id="6" name="Text 4"/>
          <p:cNvSpPr/>
          <p:nvPr/>
        </p:nvSpPr>
        <p:spPr>
          <a:xfrm>
            <a:off x="4663440" y="1417320"/>
            <a:ext cx="3977640" cy="3154680"/>
          </a:xfrm>
          <a:prstGeom prst="rect">
            <a:avLst/>
          </a:prstGeom>
          <a:noFill/>
          <a:ln/>
        </p:spPr>
        <p:txBody>
          <a:bodyPr wrap="square" lIns="0" tIns="0" rIns="0" bIns="0" rtlCol="0" anchor="t"/>
          <a:lstStyle/>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KOREN, Y.; BELL, R.; VOLINSKY, C. </a:t>
            </a:r>
            <a:r>
              <a:rPr lang="en-US" sz="950" i="1" dirty="0">
                <a:solidFill>
                  <a:srgbClr val="2B2F36"/>
                </a:solidFill>
                <a:latin typeface="Calibri" pitchFamily="34" charset="0"/>
                <a:ea typeface="Calibri" pitchFamily="34" charset="-122"/>
                <a:cs typeface="Calibri" pitchFamily="34" charset="-120"/>
              </a:rPr>
              <a:t>Matrix factorization techniques for recommender systems. </a:t>
            </a:r>
            <a:r>
              <a:rPr lang="en-US" sz="950" dirty="0">
                <a:solidFill>
                  <a:srgbClr val="2B2F36"/>
                </a:solidFill>
                <a:latin typeface="Calibri" pitchFamily="34" charset="0"/>
                <a:ea typeface="Calibri" pitchFamily="34" charset="-122"/>
                <a:cs typeface="Calibri" pitchFamily="34" charset="-120"/>
              </a:rPr>
              <a:t>Computer, v. 42, n. 8, p. 30-37, 2009.</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LINDEN, G.; SMITH, B.; YORK, J. </a:t>
            </a:r>
            <a:r>
              <a:rPr lang="en-US" sz="950" i="1" dirty="0">
                <a:solidFill>
                  <a:srgbClr val="2B2F36"/>
                </a:solidFill>
                <a:latin typeface="Calibri" pitchFamily="34" charset="0"/>
                <a:ea typeface="Calibri" pitchFamily="34" charset="-122"/>
                <a:cs typeface="Calibri" pitchFamily="34" charset="-120"/>
              </a:rPr>
              <a:t>Amazon.com recommendations: item-to-item collaborative filtering. </a:t>
            </a:r>
            <a:r>
              <a:rPr lang="en-US" sz="950" dirty="0">
                <a:solidFill>
                  <a:srgbClr val="2B2F36"/>
                </a:solidFill>
                <a:latin typeface="Calibri" pitchFamily="34" charset="0"/>
                <a:ea typeface="Calibri" pitchFamily="34" charset="-122"/>
                <a:cs typeface="Calibri" pitchFamily="34" charset="-120"/>
              </a:rPr>
              <a:t>IEEE Internet Computing, v. 7, n. 1, p. 76-80, 2003.</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PEFFERS, K. et al. </a:t>
            </a:r>
            <a:r>
              <a:rPr lang="en-US" sz="950" i="1" dirty="0">
                <a:solidFill>
                  <a:srgbClr val="2B2F36"/>
                </a:solidFill>
                <a:latin typeface="Calibri" pitchFamily="34" charset="0"/>
                <a:ea typeface="Calibri" pitchFamily="34" charset="-122"/>
                <a:cs typeface="Calibri" pitchFamily="34" charset="-120"/>
              </a:rPr>
              <a:t>A design science research methodology for information systems research. </a:t>
            </a:r>
            <a:r>
              <a:rPr lang="en-US" sz="950" dirty="0">
                <a:solidFill>
                  <a:srgbClr val="2B2F36"/>
                </a:solidFill>
                <a:latin typeface="Calibri" pitchFamily="34" charset="0"/>
                <a:ea typeface="Calibri" pitchFamily="34" charset="-122"/>
                <a:cs typeface="Calibri" pitchFamily="34" charset="-120"/>
              </a:rPr>
              <a:t>JMIS, v. 24, n. 3, p. 45-77, 2007.</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POWERS, D. M. W. </a:t>
            </a:r>
            <a:r>
              <a:rPr lang="en-US" sz="950" i="1" dirty="0">
                <a:solidFill>
                  <a:srgbClr val="2B2F36"/>
                </a:solidFill>
                <a:latin typeface="Calibri" pitchFamily="34" charset="0"/>
                <a:ea typeface="Calibri" pitchFamily="34" charset="-122"/>
                <a:cs typeface="Calibri" pitchFamily="34" charset="-120"/>
              </a:rPr>
              <a:t>Evaluation: from precision, recall and F-measure to ROC [...]. </a:t>
            </a:r>
            <a:r>
              <a:rPr lang="en-US" sz="950" dirty="0">
                <a:solidFill>
                  <a:srgbClr val="2B2F36"/>
                </a:solidFill>
                <a:latin typeface="Calibri" pitchFamily="34" charset="0"/>
                <a:ea typeface="Calibri" pitchFamily="34" charset="-122"/>
                <a:cs typeface="Calibri" pitchFamily="34" charset="-120"/>
              </a:rPr>
              <a:t>J. Mach. Learn. Technol., v. 2, n. 1, p. 37-63, 2011.</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SARWAR, B. et al. </a:t>
            </a:r>
            <a:r>
              <a:rPr lang="en-US" sz="950" i="1" dirty="0">
                <a:solidFill>
                  <a:srgbClr val="2B2F36"/>
                </a:solidFill>
                <a:latin typeface="Calibri" pitchFamily="34" charset="0"/>
                <a:ea typeface="Calibri" pitchFamily="34" charset="-122"/>
                <a:cs typeface="Calibri" pitchFamily="34" charset="-120"/>
              </a:rPr>
              <a:t>Item-based collaborative filtering recommendation algorithms. </a:t>
            </a:r>
            <a:r>
              <a:rPr lang="en-US" sz="950" dirty="0">
                <a:solidFill>
                  <a:srgbClr val="2B2F36"/>
                </a:solidFill>
                <a:latin typeface="Calibri" pitchFamily="34" charset="0"/>
                <a:ea typeface="Calibri" pitchFamily="34" charset="-122"/>
                <a:cs typeface="Calibri" pitchFamily="34" charset="-120"/>
              </a:rPr>
              <a:t>In: WWW, 10., 2001. p. 285-295.</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SCHAFER, J. B.; KONSTAN, J. A.; RIEDL, J. </a:t>
            </a:r>
            <a:r>
              <a:rPr lang="en-US" sz="950" i="1" dirty="0">
                <a:solidFill>
                  <a:srgbClr val="2B2F36"/>
                </a:solidFill>
                <a:latin typeface="Calibri" pitchFamily="34" charset="0"/>
                <a:ea typeface="Calibri" pitchFamily="34" charset="-122"/>
                <a:cs typeface="Calibri" pitchFamily="34" charset="-120"/>
              </a:rPr>
              <a:t>E-commerce recommendation applications. </a:t>
            </a:r>
            <a:r>
              <a:rPr lang="en-US" sz="950" dirty="0">
                <a:solidFill>
                  <a:srgbClr val="2B2F36"/>
                </a:solidFill>
                <a:latin typeface="Calibri" pitchFamily="34" charset="0"/>
                <a:ea typeface="Calibri" pitchFamily="34" charset="-122"/>
                <a:cs typeface="Calibri" pitchFamily="34" charset="-120"/>
              </a:rPr>
              <a:t>Data Min. Knowl. Discov., v. 5, n. 1-2, p. 115-153, 2001.</a:t>
            </a:r>
            <a:endParaRPr lang="en-US" sz="950" dirty="0"/>
          </a:p>
          <a:p>
            <a:pPr marL="0" indent="0">
              <a:spcAft>
                <a:spcPts val="800"/>
              </a:spcAft>
              <a:buNone/>
            </a:pPr>
            <a:r>
              <a:rPr lang="en-US" sz="950" b="1" dirty="0">
                <a:solidFill>
                  <a:srgbClr val="2B2F36"/>
                </a:solidFill>
                <a:latin typeface="Calibri" pitchFamily="34" charset="0"/>
                <a:ea typeface="Calibri" pitchFamily="34" charset="-122"/>
                <a:cs typeface="Calibri" pitchFamily="34" charset="-120"/>
              </a:rPr>
              <a:t>YIN, R. K. </a:t>
            </a:r>
            <a:r>
              <a:rPr lang="en-US" sz="950" i="1" dirty="0">
                <a:solidFill>
                  <a:srgbClr val="2B2F36"/>
                </a:solidFill>
                <a:latin typeface="Calibri" pitchFamily="34" charset="0"/>
                <a:ea typeface="Calibri" pitchFamily="34" charset="-122"/>
                <a:cs typeface="Calibri" pitchFamily="34" charset="-120"/>
              </a:rPr>
              <a:t>Estudo de caso: planejamento e métodos. </a:t>
            </a:r>
            <a:r>
              <a:rPr lang="en-US" sz="950" dirty="0">
                <a:solidFill>
                  <a:srgbClr val="2B2F36"/>
                </a:solidFill>
                <a:latin typeface="Calibri" pitchFamily="34" charset="0"/>
                <a:ea typeface="Calibri" pitchFamily="34" charset="-122"/>
                <a:cs typeface="Calibri" pitchFamily="34" charset="-120"/>
              </a:rPr>
              <a:t>5. ed. Porto Alegre: Bookman, 2015.</a:t>
            </a:r>
            <a:endParaRPr lang="en-US" sz="950" dirty="0"/>
          </a:p>
        </p:txBody>
      </p:sp>
      <p:sp>
        <p:nvSpPr>
          <p:cNvPr id="7" name="Text 5"/>
          <p:cNvSpPr/>
          <p:nvPr/>
        </p:nvSpPr>
        <p:spPr>
          <a:xfrm>
            <a:off x="502920" y="4475989"/>
            <a:ext cx="813816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Lista completa nas Referências da monografia (ABNT NBR 6023).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0182B"/>
        </a:solidFill>
        <a:effectLst/>
      </p:bgPr>
    </p:bg>
    <p:spTree>
      <p:nvGrpSpPr>
        <p:cNvPr id="1" name=""/>
        <p:cNvGrpSpPr/>
        <p:nvPr/>
      </p:nvGrpSpPr>
      <p:grpSpPr>
        <a:xfrm>
          <a:off x="0" y="0"/>
          <a:ext cx="0" cy="0"/>
          <a:chOff x="0" y="0"/>
          <a:chExt cx="0" cy="0"/>
        </a:xfrm>
      </p:grpSpPr>
      <p:sp>
        <p:nvSpPr>
          <p:cNvPr id="2" name="Text 0"/>
          <p:cNvSpPr/>
          <p:nvPr/>
        </p:nvSpPr>
        <p:spPr>
          <a:xfrm>
            <a:off x="640080" y="1554480"/>
            <a:ext cx="786384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Obrigado!</a:t>
            </a:r>
            <a:endParaRPr lang="en-US" sz="4400" dirty="0"/>
          </a:p>
        </p:txBody>
      </p:sp>
      <p:sp>
        <p:nvSpPr>
          <p:cNvPr id="3" name="Shape 1"/>
          <p:cNvSpPr/>
          <p:nvPr/>
        </p:nvSpPr>
        <p:spPr>
          <a:xfrm>
            <a:off x="3977640" y="2514600"/>
            <a:ext cx="1188720" cy="0"/>
          </a:xfrm>
          <a:prstGeom prst="line">
            <a:avLst/>
          </a:prstGeom>
          <a:noFill/>
          <a:ln w="19050">
            <a:solidFill>
              <a:srgbClr val="C9962E"/>
            </a:solidFill>
            <a:prstDash val="solid"/>
          </a:ln>
        </p:spPr>
      </p:sp>
      <p:sp>
        <p:nvSpPr>
          <p:cNvPr id="4" name="Text 2"/>
          <p:cNvSpPr/>
          <p:nvPr/>
        </p:nvSpPr>
        <p:spPr>
          <a:xfrm>
            <a:off x="640080" y="2743200"/>
            <a:ext cx="7863840" cy="685800"/>
          </a:xfrm>
          <a:prstGeom prst="rect">
            <a:avLst/>
          </a:prstGeom>
          <a:noFill/>
          <a:ln/>
        </p:spPr>
        <p:txBody>
          <a:bodyPr wrap="square" lIns="0" tIns="0" rIns="0" bIns="0" rtlCol="0" anchor="ctr"/>
          <a:lstStyle/>
          <a:p>
            <a:pPr marL="0" indent="0" algn="ctr">
              <a:buNone/>
            </a:pPr>
            <a:r>
              <a:rPr lang="en-US" sz="1400" i="1" dirty="0">
                <a:solidFill>
                  <a:srgbClr val="D8DEEC"/>
                </a:solidFill>
                <a:latin typeface="Calibri" pitchFamily="34" charset="0"/>
                <a:ea typeface="Calibri" pitchFamily="34" charset="-122"/>
                <a:cs typeface="Calibri" pitchFamily="34" charset="-120"/>
              </a:rPr>
              <a:t>Sistema de Recomendação de Produtos para Distribuição B2B</a:t>
            </a:r>
            <a:endParaRPr lang="en-US" sz="1400" dirty="0"/>
          </a:p>
          <a:p>
            <a:pPr marL="0" indent="0" algn="ctr">
              <a:buNone/>
            </a:pPr>
            <a:r>
              <a:rPr lang="en-US" sz="1400" i="1" dirty="0">
                <a:solidFill>
                  <a:srgbClr val="D8DEEC"/>
                </a:solidFill>
                <a:latin typeface="Calibri" pitchFamily="34" charset="0"/>
                <a:ea typeface="Calibri" pitchFamily="34" charset="-122"/>
                <a:cs typeface="Calibri" pitchFamily="34" charset="-120"/>
              </a:rPr>
              <a:t>utilizando Regras de Associação — Estudo de caso na Quasar Barber</a:t>
            </a:r>
            <a:endParaRPr lang="en-US" sz="1400" dirty="0"/>
          </a:p>
        </p:txBody>
      </p:sp>
      <p:sp>
        <p:nvSpPr>
          <p:cNvPr id="5" name="Text 3"/>
          <p:cNvSpPr/>
          <p:nvPr/>
        </p:nvSpPr>
        <p:spPr>
          <a:xfrm>
            <a:off x="640080" y="3657600"/>
            <a:ext cx="7863840" cy="914400"/>
          </a:xfrm>
          <a:prstGeom prst="rect">
            <a:avLst/>
          </a:prstGeom>
          <a:noFill/>
          <a:ln/>
        </p:spPr>
        <p:txBody>
          <a:bodyPr wrap="square" lIns="0" tIns="0" rIns="0" bIns="0" rtlCol="0" anchor="ctr"/>
          <a:lstStyle/>
          <a:p>
            <a:pPr marL="0" indent="0" algn="ctr">
              <a:buNone/>
            </a:pPr>
            <a:r>
              <a:rPr lang="en-US" sz="1200" b="1" dirty="0">
                <a:solidFill>
                  <a:srgbClr val="9AA7C4"/>
                </a:solidFill>
                <a:latin typeface="Calibri" pitchFamily="34" charset="0"/>
                <a:ea typeface="Calibri" pitchFamily="34" charset="-122"/>
                <a:cs typeface="Calibri" pitchFamily="34" charset="-120"/>
              </a:rPr>
              <a:t>Felipe Pereira Ferreira</a:t>
            </a:r>
          </a:p>
          <a:p>
            <a:pPr algn="ctr"/>
            <a:r>
              <a:rPr lang="en-US" sz="1200" dirty="0" err="1">
                <a:solidFill>
                  <a:srgbClr val="D8DEEC"/>
                </a:solidFill>
                <a:ea typeface="Calibri" pitchFamily="34" charset="-122"/>
                <a:cs typeface="Calibri" pitchFamily="34" charset="-120"/>
              </a:rPr>
              <a:t>Trabalho</a:t>
            </a:r>
            <a:r>
              <a:rPr lang="en-US" sz="1200" dirty="0">
                <a:solidFill>
                  <a:srgbClr val="D8DEEC"/>
                </a:solidFill>
                <a:ea typeface="Calibri" pitchFamily="34" charset="-122"/>
                <a:cs typeface="Calibri" pitchFamily="34" charset="-120"/>
              </a:rPr>
              <a:t> de </a:t>
            </a:r>
            <a:r>
              <a:rPr lang="en-US" sz="1200" dirty="0" err="1">
                <a:solidFill>
                  <a:srgbClr val="D8DEEC"/>
                </a:solidFill>
                <a:ea typeface="Calibri" pitchFamily="34" charset="-122"/>
                <a:cs typeface="Calibri" pitchFamily="34" charset="-120"/>
              </a:rPr>
              <a:t>Conclusão</a:t>
            </a:r>
            <a:r>
              <a:rPr lang="en-US" sz="1200" dirty="0">
                <a:solidFill>
                  <a:srgbClr val="D8DEEC"/>
                </a:solidFill>
                <a:ea typeface="Calibri" pitchFamily="34" charset="-122"/>
                <a:cs typeface="Calibri" pitchFamily="34" charset="-120"/>
              </a:rPr>
              <a:t> de </a:t>
            </a:r>
            <a:r>
              <a:rPr lang="en-US" sz="1200" dirty="0" err="1">
                <a:solidFill>
                  <a:srgbClr val="D8DEEC"/>
                </a:solidFill>
                <a:ea typeface="Calibri" pitchFamily="34" charset="-122"/>
                <a:cs typeface="Calibri" pitchFamily="34" charset="-120"/>
              </a:rPr>
              <a:t>Curso</a:t>
            </a:r>
            <a:r>
              <a:rPr lang="en-US" sz="1200" dirty="0">
                <a:solidFill>
                  <a:srgbClr val="D8DEEC"/>
                </a:solidFill>
                <a:ea typeface="Calibri" pitchFamily="34" charset="-122"/>
                <a:cs typeface="Calibri" pitchFamily="34" charset="-120"/>
              </a:rPr>
              <a:t> – </a:t>
            </a:r>
            <a:r>
              <a:rPr lang="en-US" sz="1200" dirty="0" err="1">
                <a:solidFill>
                  <a:srgbClr val="D8DEEC"/>
                </a:solidFill>
                <a:ea typeface="Calibri" pitchFamily="34" charset="-122"/>
                <a:cs typeface="Calibri" pitchFamily="34" charset="-120"/>
              </a:rPr>
              <a:t>Ciência</a:t>
            </a:r>
            <a:r>
              <a:rPr lang="en-US" sz="1200" dirty="0">
                <a:solidFill>
                  <a:srgbClr val="D8DEEC"/>
                </a:solidFill>
                <a:ea typeface="Calibri" pitchFamily="34" charset="-122"/>
                <a:cs typeface="Calibri" pitchFamily="34" charset="-120"/>
              </a:rPr>
              <a:t> da </a:t>
            </a:r>
            <a:r>
              <a:rPr lang="en-US" sz="1200" dirty="0" err="1">
                <a:solidFill>
                  <a:srgbClr val="D8DEEC"/>
                </a:solidFill>
                <a:ea typeface="Calibri" pitchFamily="34" charset="-122"/>
                <a:cs typeface="Calibri" pitchFamily="34" charset="-120"/>
              </a:rPr>
              <a:t>Computação</a:t>
            </a:r>
            <a:endParaRPr lang="en-US" sz="1200" dirty="0"/>
          </a:p>
          <a:p>
            <a:pPr marL="0" indent="0" algn="ctr">
              <a:buNone/>
            </a:pPr>
            <a:r>
              <a:rPr lang="en-US" sz="1200" dirty="0" err="1">
                <a:solidFill>
                  <a:srgbClr val="9AA7C4"/>
                </a:solidFill>
                <a:latin typeface="Calibri" pitchFamily="34" charset="0"/>
                <a:ea typeface="Calibri" pitchFamily="34" charset="-122"/>
                <a:cs typeface="Calibri" pitchFamily="34" charset="-120"/>
              </a:rPr>
              <a:t>Orientador</a:t>
            </a:r>
            <a:r>
              <a:rPr lang="en-US" sz="1200" dirty="0">
                <a:solidFill>
                  <a:srgbClr val="9AA7C4"/>
                </a:solidFill>
                <a:latin typeface="Calibri" pitchFamily="34" charset="0"/>
                <a:ea typeface="Calibri" pitchFamily="34" charset="-122"/>
                <a:cs typeface="Calibri" pitchFamily="34" charset="-120"/>
              </a:rPr>
              <a:t>: Prof. François Fernandes Ribeiro Barbosa</a:t>
            </a:r>
            <a:endParaRPr lang="en-US" sz="1200" dirty="0"/>
          </a:p>
          <a:p>
            <a:pPr marL="0" indent="0" algn="ctr">
              <a:buNone/>
            </a:pPr>
            <a:r>
              <a:rPr lang="en-US" sz="1200" dirty="0">
                <a:solidFill>
                  <a:srgbClr val="9AA7C4"/>
                </a:solidFill>
                <a:latin typeface="Calibri" pitchFamily="34" charset="0"/>
                <a:ea typeface="Calibri" pitchFamily="34" charset="-122"/>
                <a:cs typeface="Calibri" pitchFamily="34" charset="-120"/>
              </a:rPr>
              <a:t>IFMA Campus Caxias  •  2026</a:t>
            </a:r>
            <a:endParaRPr lang="en-US" sz="1200" dirty="0"/>
          </a:p>
        </p:txBody>
      </p:sp>
      <p:pic>
        <p:nvPicPr>
          <p:cNvPr id="6" name="Imagem 5">
            <a:extLst>
              <a:ext uri="{FF2B5EF4-FFF2-40B4-BE49-F238E27FC236}">
                <a16:creationId xmlns:a16="http://schemas.microsoft.com/office/drawing/2014/main" id="{968C5725-60BF-4327-9E01-7C4C8BD1F040}"/>
              </a:ext>
            </a:extLst>
          </p:cNvPr>
          <p:cNvPicPr>
            <a:picLocks noChangeAspect="1"/>
          </p:cNvPicPr>
          <p:nvPr/>
        </p:nvPicPr>
        <p:blipFill>
          <a:blip r:embed="rId3"/>
          <a:stretch>
            <a:fillRect/>
          </a:stretch>
        </p:blipFill>
        <p:spPr>
          <a:xfrm>
            <a:off x="194513" y="160020"/>
            <a:ext cx="1472578" cy="3429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5142</Words>
  <Application>Microsoft Office PowerPoint</Application>
  <PresentationFormat>Apresentação na tela (16:9)</PresentationFormat>
  <Paragraphs>258</Paragraphs>
  <Slides>16</Slides>
  <Notes>16</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16</vt:i4>
      </vt:variant>
    </vt:vector>
  </HeadingPairs>
  <TitlesOfParts>
    <vt:vector size="20" baseType="lpstr">
      <vt:lpstr>Arial</vt:lpstr>
      <vt:lpstr>Calibri</vt:lpstr>
      <vt:lpstr>Cambria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Recomendação de Produtos para Distribuição B2B</dc:title>
  <dc:subject>PptxGenJS Presentation</dc:subject>
  <dc:creator>Felipe Pereira Ferreira</dc:creator>
  <cp:lastModifiedBy>Felipe Ferreira</cp:lastModifiedBy>
  <cp:revision>13</cp:revision>
  <dcterms:created xsi:type="dcterms:W3CDTF">2026-07-08T12:10:40Z</dcterms:created>
  <dcterms:modified xsi:type="dcterms:W3CDTF">2026-07-08T18:26:03Z</dcterms:modified>
</cp:coreProperties>
</file>